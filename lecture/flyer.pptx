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0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BE5C5-9813-1159-F816-C77ABA58907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32463" y="63500"/>
            <a:ext cx="763587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GUEST LECTURE   ·   A REAL-WORLD AI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Talk to Your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1554480" cy="64008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9FB3C8"/>
                </a:solidFill>
                <a:latin typeface="Segoe UI"/>
              </a:rPr>
              <a:t>Building an AI assistant that answers from your PDFs — the journey from a naive bot to one you can actually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87168"/>
            <a:ext cx="1951878" cy="2487168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2706624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19856"/>
            <a:ext cx="15495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Upload a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968496"/>
            <a:ext cx="1549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FB3C8"/>
                </a:solidFill>
                <a:latin typeface="Segoe UI"/>
              </a:rPr>
              <a:t>The easy way: drop it in ChatGPT.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480560"/>
            <a:ext cx="15495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1">
                <a:solidFill>
                  <a:srgbClr val="F5B342"/>
                </a:solidFill>
                <a:latin typeface="Segoe UI"/>
              </a:rPr>
              <a:t>But — needs a paid seat, and won't scale to 1000s of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7950" y="331012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2DD4BF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7134" y="2487168"/>
            <a:ext cx="1951878" cy="2487168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58302" y="2706624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8302" y="3419856"/>
            <a:ext cx="15495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Teach it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8302" y="3968496"/>
            <a:ext cx="1549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FB3C8"/>
                </a:solidFill>
                <a:latin typeface="Segoe UI"/>
              </a:rPr>
              <a:t>Turn words into numbers (embeddings).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8302" y="4480560"/>
            <a:ext cx="15495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1">
                <a:solidFill>
                  <a:srgbClr val="F5B342"/>
                </a:solidFill>
                <a:latin typeface="Segoe UI"/>
              </a:rPr>
              <a:t>queen − female + male ≈ 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0724" y="331012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2DD4BF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9908" y="2487168"/>
            <a:ext cx="1951878" cy="2487168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21076" y="2706624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076" y="3419856"/>
            <a:ext cx="15495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Find the right passage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076" y="3968496"/>
            <a:ext cx="1549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FB3C8"/>
                </a:solidFill>
                <a:latin typeface="Segoe UI"/>
              </a:rPr>
              <a:t>Search by meaning, not keywords (RAG).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076" y="4480560"/>
            <a:ext cx="15495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1">
                <a:solidFill>
                  <a:srgbClr val="F5B342"/>
                </a:solidFill>
                <a:latin typeface="Segoe UI"/>
              </a:rPr>
              <a:t>But — it grabbed the wrong rule and answered confidently.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3498" y="331012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2DD4BF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2682" y="2487168"/>
            <a:ext cx="1951878" cy="2487168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83850" y="2706624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3850" y="3419856"/>
            <a:ext cx="15495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Know what it knows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3850" y="3968496"/>
            <a:ext cx="1549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FB3C8"/>
                </a:solidFill>
                <a:latin typeface="Segoe UI"/>
              </a:rPr>
              <a:t>Track every topic it actually covers.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3850" y="4480560"/>
            <a:ext cx="15495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1">
                <a:solidFill>
                  <a:srgbClr val="F5B342"/>
                </a:solidFill>
                <a:latin typeface="Segoe UI"/>
              </a:rPr>
              <a:t>But — it refused a question it clearly had the answer 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6272" y="331012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2DD4BF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5456" y="2487168"/>
            <a:ext cx="1951878" cy="2487168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46624" y="2706624"/>
            <a:ext cx="566928" cy="5669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6624" y="3419856"/>
            <a:ext cx="154954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Never make it 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6624" y="3968496"/>
            <a:ext cx="15495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FB3C8"/>
                </a:solidFill>
                <a:latin typeface="Segoe UI"/>
              </a:rPr>
              <a:t>Check the answer against the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6624" y="4480560"/>
            <a:ext cx="15495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1">
                <a:solidFill>
                  <a:srgbClr val="F5B342"/>
                </a:solidFill>
                <a:latin typeface="Segoe UI"/>
              </a:rPr>
              <a:t>The goal: confident only when it's genuinely right.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4572000" y="521208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9FB3C8"/>
                </a:solidFill>
                <a:latin typeface="Segoe UI"/>
              </a:rPr>
              <a:t>YOU'LL MEET: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743" y="5230368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142847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Embeddings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1519" y="5230368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142847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Retrieval (RAG)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1295" y="5230368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142847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Hallucination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1071" y="5230368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142847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Reliability</a:t>
            </a:r>
          </a:p>
        </p:txBody>
      </p:sp>
      <p:pic>
        <p:nvPicPr>
          <p:cNvPr id="42" name="Picture 41" descr="logo-wimmer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902" y="384048"/>
            <a:ext cx="1498153" cy="109728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016752"/>
            <a:ext cx="12191695" cy="841248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6016752"/>
            <a:ext cx="12191695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6291182"/>
            <a:ext cx="64008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DD4BF"/>
                </a:solidFill>
                <a:latin typeface="Segoe UI"/>
              </a:rPr>
              <a:t>ICT108</a:t>
            </a:r>
            <a:r>
              <a:rPr sz="1300" b="0" dirty="0">
                <a:solidFill>
                  <a:srgbClr val="9FB3C8"/>
                </a:solidFill>
                <a:latin typeface="Segoe UI"/>
              </a:rPr>
              <a:t>    ·    </a:t>
            </a:r>
            <a:r>
              <a:rPr sz="1300" b="0" dirty="0">
                <a:solidFill>
                  <a:srgbClr val="FFFFFF"/>
                </a:solidFill>
                <a:latin typeface="Segoe UI"/>
              </a:rPr>
              <a:t>Tuesday 14 July 2026, 2–3 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016752"/>
            <a:ext cx="519379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>
                <a:solidFill>
                  <a:srgbClr val="2DD4BF"/>
                </a:solidFill>
                <a:latin typeface="Segoe UI"/>
              </a:rPr>
              <a:t>Dr Mohammad Arifur Rahman</a:t>
            </a:r>
          </a:p>
          <a:p>
            <a:pPr algn="r"/>
            <a:r>
              <a:rPr sz="1050" b="0">
                <a:solidFill>
                  <a:srgbClr val="9FB3C8"/>
                </a:solidFill>
                <a:latin typeface="Segoe UI"/>
              </a:rPr>
              <a:t>Analyst Programmer  ·  Wimmera CMA, Victoria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Arif Rahman</cp:lastModifiedBy>
  <cp:revision>2</cp:revision>
  <dcterms:created xsi:type="dcterms:W3CDTF">2013-01-27T09:14:16Z</dcterms:created>
  <dcterms:modified xsi:type="dcterms:W3CDTF">2026-07-06T23:52:54Z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a1b368-7309-4b30-bce0-f7926ba87c5f_Enabled">
    <vt:lpwstr>true</vt:lpwstr>
  </property>
  <property fmtid="{D5CDD505-2E9C-101B-9397-08002B2CF9AE}" pid="3" name="MSIP_Label_71a1b368-7309-4b30-bce0-f7926ba87c5f_SetDate">
    <vt:lpwstr>2026-07-06T23:52:54Z</vt:lpwstr>
  </property>
  <property fmtid="{D5CDD505-2E9C-101B-9397-08002B2CF9AE}" pid="4" name="MSIP_Label_71a1b368-7309-4b30-bce0-f7926ba87c5f_Method">
    <vt:lpwstr>Standard</vt:lpwstr>
  </property>
  <property fmtid="{D5CDD505-2E9C-101B-9397-08002B2CF9AE}" pid="5" name="MSIP_Label_71a1b368-7309-4b30-bce0-f7926ba87c5f_Name">
    <vt:lpwstr>Official</vt:lpwstr>
  </property>
  <property fmtid="{D5CDD505-2E9C-101B-9397-08002B2CF9AE}" pid="6" name="MSIP_Label_71a1b368-7309-4b30-bce0-f7926ba87c5f_SiteId">
    <vt:lpwstr>6a5d8a00-9eed-4f0f-af9b-6be165add301</vt:lpwstr>
  </property>
  <property fmtid="{D5CDD505-2E9C-101B-9397-08002B2CF9AE}" pid="7" name="MSIP_Label_71a1b368-7309-4b30-bce0-f7926ba87c5f_ActionId">
    <vt:lpwstr>fc7d7534-42bd-48d3-97e6-47c988306d00</vt:lpwstr>
  </property>
  <property fmtid="{D5CDD505-2E9C-101B-9397-08002B2CF9AE}" pid="8" name="MSIP_Label_71a1b368-7309-4b30-bce0-f7926ba87c5f_ContentBits">
    <vt:lpwstr>1</vt:lpwstr>
  </property>
  <property fmtid="{D5CDD505-2E9C-101B-9397-08002B2CF9AE}" pid="9" name="MSIP_Label_71a1b368-7309-4b30-bce0-f7926ba87c5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OFFICIAL</vt:lpwstr>
  </property>
</Properties>
</file>