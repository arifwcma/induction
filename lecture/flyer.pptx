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120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63A656-7D67-9E57-CA17-759F69832DC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32463" y="63500"/>
            <a:ext cx="763587" cy="2133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4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GUEST LECTURE   ·   A REAL-WORLD AI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Talk to Your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1554480" cy="64008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17373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9FB3C8"/>
                </a:solidFill>
                <a:latin typeface="Segoe UI"/>
              </a:rPr>
              <a:t>Building an AI assistant that answers from your PDFs — the journey from a naive bot to one you can actually trust.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487168"/>
            <a:ext cx="1951878" cy="248716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95528" y="2706624"/>
            <a:ext cx="566928" cy="56692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B1B33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3419856"/>
            <a:ext cx="154954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Upload a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968496"/>
            <a:ext cx="15495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FB3C8"/>
                </a:solidFill>
                <a:latin typeface="Segoe UI"/>
              </a:rPr>
              <a:t>The easy way: drop it in ChatGPT.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480560"/>
            <a:ext cx="154954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1">
                <a:solidFill>
                  <a:srgbClr val="F5B342"/>
                </a:solidFill>
                <a:latin typeface="Segoe UI"/>
              </a:rPr>
              <a:t>But — needs a paid seat, and won't scale to 1000s of docs.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7950" y="3310128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2DD4BF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7134" y="2487168"/>
            <a:ext cx="1951878" cy="248716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58302" y="2706624"/>
            <a:ext cx="566928" cy="56692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B1B33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8302" y="3419856"/>
            <a:ext cx="154954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Teach it meaning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8302" y="3968496"/>
            <a:ext cx="15495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FB3C8"/>
                </a:solidFill>
                <a:latin typeface="Segoe UI"/>
              </a:rPr>
              <a:t>Turn words into numbers (embeddings).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8302" y="4480560"/>
            <a:ext cx="154954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1">
                <a:solidFill>
                  <a:srgbClr val="F5B342"/>
                </a:solidFill>
                <a:latin typeface="Segoe UI"/>
              </a:rPr>
              <a:t>queen − female + male ≈ 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0724" y="3310128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2DD4BF"/>
                </a:solidFill>
                <a:latin typeface="Segoe U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9908" y="2487168"/>
            <a:ext cx="1951878" cy="248716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321076" y="2706624"/>
            <a:ext cx="566928" cy="56692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B1B33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076" y="3419856"/>
            <a:ext cx="154954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Find the right passage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076" y="3968496"/>
            <a:ext cx="15495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FB3C8"/>
                </a:solidFill>
                <a:latin typeface="Segoe UI"/>
              </a:rPr>
              <a:t>Search by meaning, not keywords (RAG).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076" y="4480560"/>
            <a:ext cx="154954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1">
                <a:solidFill>
                  <a:srgbClr val="F5B342"/>
                </a:solidFill>
                <a:latin typeface="Segoe UI"/>
              </a:rPr>
              <a:t>But — it grabbed the wrong rule and answered confidently.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3498" y="3310128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2DD4BF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2682" y="2487168"/>
            <a:ext cx="1951878" cy="248716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583850" y="2706624"/>
            <a:ext cx="566928" cy="56692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B1B33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3850" y="3419856"/>
            <a:ext cx="154954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Know what it knows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3850" y="3968496"/>
            <a:ext cx="15495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FB3C8"/>
                </a:solidFill>
                <a:latin typeface="Segoe UI"/>
              </a:rPr>
              <a:t>Track every topic it actually covers.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3850" y="4480560"/>
            <a:ext cx="154954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1">
                <a:solidFill>
                  <a:srgbClr val="F5B342"/>
                </a:solidFill>
                <a:latin typeface="Segoe UI"/>
              </a:rPr>
              <a:t>But — it refused a question it clearly had the answer to.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6272" y="3310128"/>
            <a:ext cx="347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2DD4BF"/>
                </a:solidFill>
                <a:latin typeface="Segoe U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45456" y="2487168"/>
            <a:ext cx="1951878" cy="248716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9846624" y="2706624"/>
            <a:ext cx="566928" cy="56692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0B1B33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46624" y="3419856"/>
            <a:ext cx="154954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Never make it 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46624" y="3968496"/>
            <a:ext cx="154954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FB3C8"/>
                </a:solidFill>
                <a:latin typeface="Segoe UI"/>
              </a:rPr>
              <a:t>Check the answer against the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6624" y="4480560"/>
            <a:ext cx="154954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0" i="1">
                <a:solidFill>
                  <a:srgbClr val="F5B342"/>
                </a:solidFill>
                <a:latin typeface="Segoe UI"/>
              </a:rPr>
              <a:t>The goal: confident only when it's genuinely right.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-4572000" y="5212080"/>
            <a:ext cx="23774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YOU'LL MEET: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1743" y="5230368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142847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Embeddings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71519" y="5230368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142847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Retrieval (RAG)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1295" y="5230368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142847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Hallucination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31071" y="5230368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142847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Reliability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108192"/>
            <a:ext cx="12191695" cy="749808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6108192"/>
            <a:ext cx="12191695" cy="457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4360" y="6336902"/>
            <a:ext cx="1097280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endParaRPr sz="1300" b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265494" y="6336902"/>
            <a:ext cx="2333331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lang="en-AU" sz="1300" b="1" dirty="0">
                <a:solidFill>
                  <a:srgbClr val="2DD4BF"/>
                </a:solidFill>
                <a:latin typeface="Segoe UI"/>
              </a:rPr>
              <a:t>Mohammad Arifur Rahman</a:t>
            </a:r>
            <a:endParaRPr sz="1300" b="1" dirty="0">
              <a:solidFill>
                <a:srgbClr val="2DD4BF"/>
              </a:solidFill>
              <a:latin typeface="Segoe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Segoe UI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Arif Rahman</cp:lastModifiedBy>
  <cp:revision>2</cp:revision>
  <dcterms:created xsi:type="dcterms:W3CDTF">2013-01-27T09:14:16Z</dcterms:created>
  <dcterms:modified xsi:type="dcterms:W3CDTF">2026-07-06T06:49:59Z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a1b368-7309-4b30-bce0-f7926ba87c5f_Enabled">
    <vt:lpwstr>true</vt:lpwstr>
  </property>
  <property fmtid="{D5CDD505-2E9C-101B-9397-08002B2CF9AE}" pid="3" name="MSIP_Label_71a1b368-7309-4b30-bce0-f7926ba87c5f_SetDate">
    <vt:lpwstr>2026-07-06T06:49:47Z</vt:lpwstr>
  </property>
  <property fmtid="{D5CDD505-2E9C-101B-9397-08002B2CF9AE}" pid="4" name="MSIP_Label_71a1b368-7309-4b30-bce0-f7926ba87c5f_Method">
    <vt:lpwstr>Standard</vt:lpwstr>
  </property>
  <property fmtid="{D5CDD505-2E9C-101B-9397-08002B2CF9AE}" pid="5" name="MSIP_Label_71a1b368-7309-4b30-bce0-f7926ba87c5f_Name">
    <vt:lpwstr>Official</vt:lpwstr>
  </property>
  <property fmtid="{D5CDD505-2E9C-101B-9397-08002B2CF9AE}" pid="6" name="MSIP_Label_71a1b368-7309-4b30-bce0-f7926ba87c5f_SiteId">
    <vt:lpwstr>6a5d8a00-9eed-4f0f-af9b-6be165add301</vt:lpwstr>
  </property>
  <property fmtid="{D5CDD505-2E9C-101B-9397-08002B2CF9AE}" pid="7" name="MSIP_Label_71a1b368-7309-4b30-bce0-f7926ba87c5f_ActionId">
    <vt:lpwstr>9fbf78d3-088e-4a1c-ad5e-6f43549c5645</vt:lpwstr>
  </property>
  <property fmtid="{D5CDD505-2E9C-101B-9397-08002B2CF9AE}" pid="8" name="MSIP_Label_71a1b368-7309-4b30-bce0-f7926ba87c5f_ContentBits">
    <vt:lpwstr>1</vt:lpwstr>
  </property>
  <property fmtid="{D5CDD505-2E9C-101B-9397-08002B2CF9AE}" pid="9" name="MSIP_Label_71a1b368-7309-4b30-bce0-f7926ba87c5f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OFFICIAL</vt:lpwstr>
  </property>
</Properties>
</file>