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007" autoAdjust="0"/>
  </p:normalViewPr>
  <p:slideViewPr>
    <p:cSldViewPr snapToGrid="0" snapToObjects="1">
      <p:cViewPr varScale="1">
        <p:scale>
          <a:sx n="135" d="100"/>
          <a:sy n="135" d="100"/>
        </p:scale>
        <p:origin x="1244" y="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39629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Good afternoon everyone, thank you for having me. I'm Arif — Analyst Programmer at Wimmera CMA in regional Victoria. My day job is building software and mapping systems, and over the last year I have built several AI tools for my organisation. One of them is a chatbot that answers questions from official documents, and it is in real daily use. Today I will show you how such a chatbot really works — by building one from zero, in five phases. Each phase will hit a real problem, and the problem will force the next idea. I can't show my workplace's internal system, so we will use a stand-in: MetMate, an invented chatbot for Sydney Met itself, answering student questions about enrolment, the library, and exams. Same ideas, public-friendly example. One promise before we start: concepts over terminology. Every technical term will arrive only when the story needs it, and I will define it in plain English when it does. Nothing to memorise up front — and everything can be looked up later.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Phase one. The simplest possible way to talk to your documents — and it needs no code at all. Open ChatGPT, attach the student handbook PDF, type your question. Done. What happens under the hood? For text, you can imagine it very simply: the full text of the document and your question are glued together into ONE long piece of text, and the model reads all of it and writes an answer. That's the picture — one big string of text. Keep it in your head, because the whole lecture is about improving this one picture. Two small notes. First, today we care about text only — what happens with images or complex files is a story for another day. Second, and honestly: this works. If you are one person with one document, this is genuinely the right solution, and my honest advice is: just do this. The rest of this lecture exists because a university is not one person.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 So why can't Sydney Met just tell 30,000 students 'go upload the handbook to ChatGPT'? Three problems. One — ChatGPT is somebody else's product. We can't put ChatGPT itself on the university website; to offer that experience ourselves we would have to build our own ChatGPT-like product, which is a huge job. Two — the alternative is that every student needs their own paid subscription. Thousands of seats, just to ask about the handbook. Three — and this is the quiet killer — a real answer often needs several documents at once: the handbook, the library rules, the exam procedures. And these documents evolve; they change through the year. Expecting every student to re-upload the right, current pile of PDFs into every private chat, every time — that will simply never happen. Now our first technical term of the day. That pile of official documents the bot must answer from has a name: the Knowledge Base — the KB. And notice the teal box on the slide — every time you see a box like that today, it means a new term just entered our story, defined in plain English, ready to be looked up later. So here is what we actually want: ONE bot, OUR OWN, sitting on the university website, always reading the CURRENT documents. That means we build. Phase two.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 Phase two: our own bot, the smallest one possible. Three pieces. A web page with a chat box — ordinary web development, many of you can build this already. A server behind it — ordinary backend code. And the model? We don't have our own model — but the maker of ChatGPT sells access to the machine behind it. That is the OpenAI API. A quick word on names, because it confuses everyone: ChatGPT is the product, the website you chat with. OpenAI is the company, and the API is how our program talks to their model directly. API — a doorway for programs: our server sends text over the internet, the model's reply comes back as text. No chat window involved. I should also say: you don't have to use a paid API at all. You can run a free model on your own machine — a popular tool for that is called Ollama — and everything in this lecture would work the same way. For a concrete picture, for the rest of the talk, let's say we use the OpenAI API. And what does our server actually send? Exactly the phase-one trick, just through pipes: one big string — every document in the KB, plus the student's question.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 Let's make that string concrete, because this exact shape carries the rest of the lecture. You can imagine the model receives a text like this: the word 'Context', then the documents pasted in; the word 'Question', then the student's question; then one instruction — 'answer using only the context above'. Two terms arrive here. This whole message, everything we send, is called the PROMPT. And the reference material we paste in for the model to answer from is called the CONTEXT. Now the important realisation: this is ALL the model sees. It has no memory of Sydney Met, no hidden database, no idea our university exists. If the right fact is not somewhere in that prompt, the model can only guess. So the whole craft of a document chatbot comes down to one question: WHAT goes into this text? Hold that — it is the rest of the lecture.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 Before we go further, pause and look at what we have — because there is an important observation here. Any 'AI system' you meet is not fully AI. The web page — ordinary code. The server — ordinary code. Gluing strings together — ordinary code. Exactly ONE box in this picture is AI: the model. There is a clean way to tell the two worlds apart — not by definition, but by behaviour. Ordinary code is DETERMINISTIC: same input, same output, every single time. You can test it, trust it, debug it — the skills you already have from software engineering apply directly. The model is NON-DETERMINISTIC: ask the exact same question twice and the wording of the answer may differ. So when you hear 'AI system', picture this slide: one non-deterministic box, surrounded by ordinary, deterministic software. And here is the part I want you to remember as future developers: most of the work — and most of the value you add — lives in the deterministic part. That is where we spend the rest of today.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 Now phase two breaks. A university KB is not one handbook — it's hundreds of PDFs. Say 300 PDFs, roughly two million words. And our design sends ALL of it, for EVERY question — even for 'what are the library hours?'. I can tell you from experience what happens, because my first real bot was built exactly this way: it took about a MINUTE to answer. Nobody sits in a chat window waiting a minute. And think about what we are doing — almost everything we send is completely irrelevant to the question being asked. One honest disclaimer before we fix it: we will NOT open up how the model itself works today. That is a deep field of its own, and for this lecture the model stays a very capable magic box. Our job — the chatbot developer's job — is to feed that box well: fast, and accurate. So the direction is obvious: send LESS. But which part? That question is phase three.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 Here's the idea. For any single question, only a few paragraphs out of the whole KB actually matter. So — ahead of time — we cut every document into small pieces. New term: a CHUNK. A chunk is a small passage cut from a document, a few paragraphs, ideally about one topic. Then, when a question arrives, we pick the top five or ten chunks that look most relevant, and we build exactly the same prompt as before — same Context-Question shape — just with those few chunks as the context instead of everything. Two hundred pages become two pages, per question. And one framing I really want you to keep. How the model answers from the text we give it — that is not our department; we take it as given. But choosing WHAT it reads — that is precisely where you, the chatbot developer, show your skill. Answering like ChatGPT does is a giant AI problem; picking the right text is an engineering problem, and it is YOUR problem. Almost everything that made my real bot better over time happened in this choosing step.</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min] So how do we pick the right chunks? First question to ask: do we need AI for this? And the honest answer is NO — and I want you to see that concretely. Here is the KB as it is actually stored: a plain table of chunks. Nothing exotic. The question comes in: 'What are the library opening hours?' Now just count shared words. Chunk A — the library hours rule — shares three: library, opening, hours. Chunk B, about enrolment — zero. Chunk C, the exam appendix — one: library. Chunk A wins, and chunk A is genuinely the right passage. Add one refinement — rare words count extra, because 'library' says more than 'the' — and you have essentially rebuilt BM25, the scoring recipe search engines ran on for decades. This is how search worked before AI — and notice, it is still ordinary deterministic code: a word table and counting. Build this, wire it into our pipeline, and something surprising happens: the bot suddenly feels GOOD. Fast, cheap, and usually right. My real bot at this stage was already impressing people. Usually right. Remember that word — usually.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min] Here is the failure that ends phase three — and it is a real one; my bot did exactly this, and this example is its public stand-in. Week three of term. A student asks: 'Can I access the library 24/7?' Count the words. The Exam Period Appendix contains 'library', 'access', AND '24/7' — score three, top result. The general rule — the one that actually governs an ordinary week — says 'library opening hours 8am to 10pm on term days'. It shares one word. Score one. Left behind. So MetMate answers, fluently and confidently: 'Yes — the library is open 24/7.' Wrong. And notice the scary part: every single word of that answer came from a real official document. Word counting rewards the chunk that ECHOES the question — not the rule that APPLIES. There's a quieter failure hiding underneath too: a question about 'enrolment' scores ZERO against a chunk that says 'registration'. Synonyms are invisible to word counting. Both failures point the same way. Matching exact words — the technical name is LEXICAL matching — is not enough. We need to match MEANING — SEMANTIC matching. How on earth does a computer compute with meaning? That is phase four, and it is the heart of this lecture.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 To match meaning, we need to be able to do MATH with words. Take three words from our university world: enrolment, registration, withdrawal. You and I know enrolment and registration are nearly the same thing, and withdrawal is roughly the opposite. The question is: how can a computer measure that? Here is the simple, almost silly idea: give every word a NUMBER. Enrolment: 5. Registration: 6. Withdrawal: minus 5. Now 'how similar?' becomes 'how close?' — plain subtraction. Five and six are one apart: close, similar. Five and minus five are ten apart: far, opposite. This idea — writing words as numbers so that close numbers mean similar meaning — is called an EMBEDDING. And I will say this directly: if you take only ONE thing home from this lecture, I would be very glad if it is this concept. Understand embeddings and half of the modern LLM world becomes accessible to you. But there's a problem with one number per word. Along comes the word 'pass'. Where does it go on this line? It's not similar to enrolment. It's not the opposite either. It's just… about something else. One number is not enough.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dirty="0"/>
              <a:t>Pass, fail, course</a:t>
            </a:r>
          </a:p>
          <a:p>
            <a:r>
              <a:rPr lang="en-AU" dirty="0"/>
              <a:t>Dimension</a:t>
            </a:r>
          </a:p>
          <a:p>
            <a:r>
              <a:rPr lang="en-AU" dirty="0"/>
              <a:t>300-3000</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dirty="0"/>
              <a:t>Representation learning</a:t>
            </a:r>
          </a:p>
          <a:p>
            <a:r>
              <a:rPr lang="en-AU" dirty="0"/>
              <a:t>Internet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min] Now plug embeddings into MetMate. In the build-once lane, when we cut the KB into chunks, we now also compute each chunk's vector and store both — you can see the stored KB is still just a table: chunk text, plus its vector. In the live lane, the question becomes a vector too, and 'search' now means: find the chunks whose vectors sit CLOSEST to the question's vector. The closeness score between two vectors has an official name — cosine similarity — one more look-up-able term; it is nothing more than 'how close are these two lists of numbers'. Watch it work. 'How do I fix a mistake in my registration?' The right chunk says 'enrolment corrections' — ZERO shared words with the question; keyword search scores it zero and never finds it. But its vector sits right next to the question's vector — found by meaning. Search with 'registration', and texts about 'enrolment' now come to you. And our library trap? Ask about 24/7 access and the bot now retrieves BOTH library chunks — the general rule and the appendix — because both are ABOUT library access times. The model sees the full picture and answers with the condition: 8 to 10 normally, 24/7 only during exams. Same skeleton, one box upgraded — the bot just learned meaning.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 Zoom out and look at the whole machine — colour-coded by the phase that forced each box into existence. Grey: the phase-two skeleton — page, server, prompt, model, answer. Teal: phase three — cut into chunks, pick the best ones. Amber: phase four — vectors on both lanes. Nothing in this picture was designed up front; every box exists because a failure demanded it. Now the payoff. This exact recipe — SEARCH a knowledge base, PASTE the winners into the prompt, let the model WRITE — has a name in the industry: RAG. Retrieval-Augmented Generation. Retrieval — find it. Augmented — add it to the prompt. Generation — the model writes. You did not memorise RAG today; you BUILT it, and now you own it. Two honest footnotes. This diagram is ONE way to build a document chatbot — the field is young, there is no standard blueprint; this is the shape my real bot uses. And notice again: exactly one box in this whole picture is generative AI. Even the embedding step, once trained, is deterministic — same text in, same numbers out, every time. Mostly ordinary software, remember, around one remarkable box.</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Phase five, and I'll keep it to one line per idea — these are the refinements that separate today's teaching bot from a production bot, and every one of them is look-up-able. Hierarchical chunking: store small chunks AND whole sections, so detail questions and overview questions both work. Context-aware chunking: cut at natural boundaries — headings, clauses — not blindly every five hundred words. Hybrid search: run keyword search and meaning search together; each catches what the other misses. Reranking: a second, more careful pass re-orders the top chunks before they enter the prompt. Conversation memory: 'what about postgrads?' only makes sense given the chat so far — rewrite it into a full standalone question first. And verification: before showing an answer, check every claim against the source documents — and if the support is not there, say honestly, 'I don't know'. Each of these earned its place in my real bot the same way everything today did: a real failure demanded it.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Three things to take home. One: an AI product is mostly ordinary software. One AI box — and your code, your engineering, decides what it reads. The skills you are already building apply directly. Two: embeddings. Words as numbers, meaning as distance. That is the one concept I asked you to keep — it unlocks half of what you will read about LLMs from here. Three: RAG — retrieve, augment, generate. You built it today, phase by phase, failure by failure — so it is yours now. The recipe is public; anyone can follow it. Making it work for a real domain — your future workplace's documents, rules, quirks — that part is not in any tutorial. That part is yours. Thank you — I'm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
        <p:nvSpPr>
          <p:cNvPr id="8" name="TextBox 7">
            <a:extLst>
              <a:ext uri="{FF2B5EF4-FFF2-40B4-BE49-F238E27FC236}">
                <a16:creationId xmlns:a16="http://schemas.microsoft.com/office/drawing/2014/main" id="{0611BD3A-479B-8677-E6BF-8A54C15F95E4}"/>
              </a:ext>
            </a:extLst>
          </p:cNvPr>
          <p:cNvSpPr txBox="1"/>
          <p:nvPr userDrawn="1">
            <p:extLst>
              <p:ext uri="{1162E1C5-73C7-4A58-AE30-91384D911F3F}">
                <p184:classification xmlns:p184="http://schemas.microsoft.com/office/powerpoint/2018/4/main" val="hdr"/>
              </p:ext>
            </p:extLst>
          </p:nvPr>
        </p:nvSpPr>
        <p:spPr>
          <a:xfrm>
            <a:off x="5732463" y="63500"/>
            <a:ext cx="763587" cy="213360"/>
          </a:xfrm>
          <a:prstGeom prst="rect">
            <a:avLst/>
          </a:prstGeom>
        </p:spPr>
        <p:txBody>
          <a:bodyPr horzOverflow="overflow" lIns="0" tIns="0" rIns="0" bIns="0">
            <a:spAutoFit/>
          </a:bodyPr>
          <a:lstStyle/>
          <a:p>
            <a:pPr algn="l"/>
            <a:r>
              <a:rPr lang="en-US" sz="1400">
                <a:solidFill>
                  <a:srgbClr val="000000">
                    <a:alpha val="50000"/>
                  </a:srgbClr>
                </a:solidFill>
                <a:latin typeface="Aptos" panose="020B0004020202020204" pitchFamily="34" charset="0"/>
              </a:rPr>
              <a:t>OFFICIAL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554480"/>
            <a:ext cx="10972800" cy="1188720"/>
          </a:xfrm>
          <a:prstGeom prst="rect">
            <a:avLst/>
          </a:prstGeom>
          <a:noFill/>
        </p:spPr>
        <p:txBody>
          <a:bodyPr wrap="square" lIns="0" tIns="0" rIns="0" bIns="0" anchor="t">
            <a:spAutoFit/>
          </a:bodyPr>
          <a:lstStyle/>
          <a:p>
            <a:pPr algn="l">
              <a:lnSpc>
                <a:spcPct val="100000"/>
              </a:lnSpc>
            </a:pPr>
            <a:r>
              <a:rPr sz="4600" b="1" i="0" dirty="0">
                <a:solidFill>
                  <a:srgbClr val="FFFFFF"/>
                </a:solidFill>
                <a:latin typeface="Segoe UI"/>
              </a:rPr>
              <a:t>Talk to Your Documents</a:t>
            </a:r>
          </a:p>
        </p:txBody>
      </p:sp>
      <p:sp>
        <p:nvSpPr>
          <p:cNvPr id="6" name="Rounded Rectangle 5"/>
          <p:cNvSpPr/>
          <p:nvPr/>
        </p:nvSpPr>
        <p:spPr>
          <a:xfrm>
            <a:off x="621792" y="2487168"/>
            <a:ext cx="1737360" cy="73152"/>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743200"/>
            <a:ext cx="10789920" cy="548640"/>
          </a:xfrm>
          <a:prstGeom prst="rect">
            <a:avLst/>
          </a:prstGeom>
          <a:noFill/>
        </p:spPr>
        <p:txBody>
          <a:bodyPr wrap="square" lIns="0" tIns="0" rIns="0" bIns="0" anchor="t">
            <a:spAutoFit/>
          </a:bodyPr>
          <a:lstStyle/>
          <a:p>
            <a:pPr algn="l">
              <a:lnSpc>
                <a:spcPct val="110000"/>
              </a:lnSpc>
            </a:pPr>
            <a:r>
              <a:rPr sz="1700" b="0" i="0">
                <a:solidFill>
                  <a:srgbClr val="9FB3C8"/>
                </a:solidFill>
                <a:latin typeface="Segoe UI"/>
              </a:rPr>
              <a:t>How a chatbot that answers from documents really works — built from zero, phase by phase.</a:t>
            </a:r>
          </a:p>
        </p:txBody>
      </p:sp>
      <p:sp>
        <p:nvSpPr>
          <p:cNvPr id="8" name="TextBox 7"/>
          <p:cNvSpPr txBox="1"/>
          <p:nvPr/>
        </p:nvSpPr>
        <p:spPr>
          <a:xfrm>
            <a:off x="566928" y="3283396"/>
            <a:ext cx="10515600" cy="492443"/>
          </a:xfrm>
          <a:prstGeom prst="rect">
            <a:avLst/>
          </a:prstGeom>
          <a:noFill/>
        </p:spPr>
        <p:txBody>
          <a:bodyPr wrap="square" lIns="0" tIns="0" rIns="0" bIns="0" anchor="t">
            <a:spAutoFit/>
          </a:bodyPr>
          <a:lstStyle/>
          <a:p>
            <a:pPr algn="l"/>
            <a:r>
              <a:rPr sz="3200" b="1" i="0" dirty="0">
                <a:solidFill>
                  <a:srgbClr val="2DD4BF"/>
                </a:solidFill>
                <a:latin typeface="Segoe UI"/>
              </a:rPr>
              <a:t>Case study: </a:t>
            </a:r>
            <a:r>
              <a:rPr sz="3200" b="1" i="0" dirty="0" err="1">
                <a:solidFill>
                  <a:srgbClr val="2DD4BF"/>
                </a:solidFill>
                <a:latin typeface="Segoe UI"/>
              </a:rPr>
              <a:t>MetMate</a:t>
            </a:r>
            <a:endParaRPr sz="3200" b="1" i="0" dirty="0">
              <a:solidFill>
                <a:srgbClr val="2DD4BF"/>
              </a:solidFill>
              <a:latin typeface="Segoe UI"/>
            </a:endParaRPr>
          </a:p>
        </p:txBody>
      </p:sp>
      <p:pic>
        <p:nvPicPr>
          <p:cNvPr id="13" name="Picture 12" descr="logo-wimmera-white.png"/>
          <p:cNvPicPr>
            <a:picLocks noChangeAspect="1"/>
          </p:cNvPicPr>
          <p:nvPr/>
        </p:nvPicPr>
        <p:blipFill>
          <a:blip r:embed="rId3"/>
          <a:stretch>
            <a:fillRect/>
          </a:stretch>
        </p:blipFill>
        <p:spPr>
          <a:xfrm>
            <a:off x="10531754" y="411480"/>
            <a:ext cx="1248461" cy="914400"/>
          </a:xfrm>
          <a:prstGeom prst="rect">
            <a:avLst/>
          </a:prstGeom>
        </p:spPr>
      </p:pic>
      <p:sp>
        <p:nvSpPr>
          <p:cNvPr id="14" name="Rectangle 13"/>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9" name="Rounded Rectangle 17">
            <a:extLst>
              <a:ext uri="{FF2B5EF4-FFF2-40B4-BE49-F238E27FC236}">
                <a16:creationId xmlns:a16="http://schemas.microsoft.com/office/drawing/2014/main" id="{61910CB8-D5BA-7CDA-00F2-FD5737F91B76}"/>
              </a:ext>
            </a:extLst>
          </p:cNvPr>
          <p:cNvSpPr/>
          <p:nvPr/>
        </p:nvSpPr>
        <p:spPr>
          <a:xfrm>
            <a:off x="3120705" y="4377795"/>
            <a:ext cx="4353886" cy="731520"/>
          </a:xfrm>
          <a:prstGeom prst="roundRect">
            <a:avLst>
              <a:gd name="adj" fmla="val 25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336FF880-C597-AAB4-5321-97F3D5F4326E}"/>
              </a:ext>
            </a:extLst>
          </p:cNvPr>
          <p:cNvSpPr txBox="1"/>
          <p:nvPr/>
        </p:nvSpPr>
        <p:spPr>
          <a:xfrm>
            <a:off x="3552738" y="4654588"/>
            <a:ext cx="3028845" cy="177934"/>
          </a:xfrm>
          <a:prstGeom prst="rect">
            <a:avLst/>
          </a:prstGeom>
          <a:noFill/>
        </p:spPr>
        <p:txBody>
          <a:bodyPr wrap="square" lIns="0" tIns="0" rIns="0" bIns="0" anchor="ctr">
            <a:spAutoFit/>
          </a:bodyPr>
          <a:lstStyle/>
          <a:p>
            <a:pPr algn="l">
              <a:lnSpc>
                <a:spcPct val="115000"/>
              </a:lnSpc>
            </a:pPr>
            <a:r>
              <a:rPr lang="en-AU" sz="1100" b="0" i="1" dirty="0">
                <a:solidFill>
                  <a:srgbClr val="FFFFFF"/>
                </a:solidFill>
                <a:latin typeface="Segoe UI"/>
              </a:rPr>
              <a:t>Question: </a:t>
            </a:r>
            <a:r>
              <a:rPr sz="1100" b="0" i="1" dirty="0">
                <a:solidFill>
                  <a:srgbClr val="FFFFFF"/>
                </a:solidFill>
                <a:latin typeface="Segoe UI"/>
              </a:rPr>
              <a:t>What are the library opening hours?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1  ·  JUST ASK CHATGPT</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Upload a PDF, ask a question</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365760"/>
          </a:xfrm>
          <a:prstGeom prst="rect">
            <a:avLst/>
          </a:prstGeom>
          <a:noFill/>
        </p:spPr>
        <p:txBody>
          <a:bodyPr wrap="square" lIns="0" tIns="0" rIns="0" bIns="0" anchor="t">
            <a:spAutoFit/>
          </a:bodyPr>
          <a:lstStyle/>
          <a:p>
            <a:pPr algn="l"/>
            <a:r>
              <a:rPr sz="1350" b="0" i="1">
                <a:solidFill>
                  <a:srgbClr val="9FB3C8"/>
                </a:solidFill>
                <a:latin typeface="Segoe UI"/>
              </a:rPr>
              <a:t>The simplest possible start — no code at all.</a:t>
            </a:r>
          </a:p>
        </p:txBody>
      </p:sp>
      <p:sp>
        <p:nvSpPr>
          <p:cNvPr id="13" name="Rounded Rectangle 12"/>
          <p:cNvSpPr/>
          <p:nvPr/>
        </p:nvSpPr>
        <p:spPr>
          <a:xfrm>
            <a:off x="822960" y="2194560"/>
            <a:ext cx="3200400" cy="3200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822960" y="2194560"/>
            <a:ext cx="3200400" cy="411480"/>
          </a:xfrm>
          <a:prstGeom prst="roundRect">
            <a:avLst>
              <a:gd name="adj" fmla="val 6000"/>
            </a:avLst>
          </a:prstGeom>
          <a:solidFill>
            <a:srgbClr val="0F2240"/>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05840" y="2194560"/>
            <a:ext cx="2834640" cy="411480"/>
          </a:xfrm>
          <a:prstGeom prst="rect">
            <a:avLst/>
          </a:prstGeom>
          <a:noFill/>
        </p:spPr>
        <p:txBody>
          <a:bodyPr wrap="square" lIns="0" tIns="0" rIns="0" bIns="0" anchor="ctr">
            <a:spAutoFit/>
          </a:bodyPr>
          <a:lstStyle/>
          <a:p>
            <a:pPr algn="l"/>
            <a:r>
              <a:rPr sz="1250" b="1" i="0">
                <a:solidFill>
                  <a:srgbClr val="2DD4BF"/>
                </a:solidFill>
                <a:latin typeface="Segoe UI"/>
              </a:rPr>
              <a:t>ChatGPT</a:t>
            </a:r>
          </a:p>
        </p:txBody>
      </p:sp>
      <p:sp>
        <p:nvSpPr>
          <p:cNvPr id="16" name="Rounded Rectangle 15"/>
          <p:cNvSpPr/>
          <p:nvPr/>
        </p:nvSpPr>
        <p:spPr>
          <a:xfrm>
            <a:off x="1051560" y="2788920"/>
            <a:ext cx="1920240" cy="384048"/>
          </a:xfrm>
          <a:prstGeom prst="roundRect">
            <a:avLst>
              <a:gd name="adj" fmla="val 50000"/>
            </a:avLst>
          </a:prstGeom>
          <a:solidFill>
            <a:srgbClr val="0F2240"/>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34440" y="2788920"/>
            <a:ext cx="1645920" cy="384048"/>
          </a:xfrm>
          <a:prstGeom prst="rect">
            <a:avLst/>
          </a:prstGeom>
          <a:noFill/>
        </p:spPr>
        <p:txBody>
          <a:bodyPr wrap="square" lIns="0" tIns="0" rIns="0" bIns="0" anchor="ctr">
            <a:spAutoFit/>
          </a:bodyPr>
          <a:lstStyle/>
          <a:p>
            <a:pPr algn="l"/>
            <a:r>
              <a:rPr sz="1050" b="0" i="0">
                <a:solidFill>
                  <a:srgbClr val="FFFFFF"/>
                </a:solidFill>
                <a:latin typeface="Segoe UI"/>
              </a:rPr>
              <a:t>handbook.pdf</a:t>
            </a:r>
          </a:p>
        </p:txBody>
      </p:sp>
      <p:sp>
        <p:nvSpPr>
          <p:cNvPr id="18" name="Rounded Rectangle 17"/>
          <p:cNvSpPr/>
          <p:nvPr/>
        </p:nvSpPr>
        <p:spPr>
          <a:xfrm>
            <a:off x="1051560" y="3337560"/>
            <a:ext cx="2743200" cy="731520"/>
          </a:xfrm>
          <a:prstGeom prst="roundRect">
            <a:avLst>
              <a:gd name="adj" fmla="val 25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34440" y="3337560"/>
            <a:ext cx="2377440" cy="731520"/>
          </a:xfrm>
          <a:prstGeom prst="rect">
            <a:avLst/>
          </a:prstGeom>
          <a:noFill/>
        </p:spPr>
        <p:txBody>
          <a:bodyPr wrap="square" lIns="0" tIns="0" rIns="0" bIns="0" anchor="ctr">
            <a:spAutoFit/>
          </a:bodyPr>
          <a:lstStyle/>
          <a:p>
            <a:pPr algn="l">
              <a:lnSpc>
                <a:spcPct val="115000"/>
              </a:lnSpc>
            </a:pPr>
            <a:r>
              <a:rPr sz="1100" b="0" i="0" dirty="0">
                <a:solidFill>
                  <a:srgbClr val="FFFFFF"/>
                </a:solidFill>
                <a:latin typeface="Segoe UI"/>
              </a:rPr>
              <a:t>What are the library opening hours?</a:t>
            </a:r>
          </a:p>
        </p:txBody>
      </p:sp>
      <p:sp>
        <p:nvSpPr>
          <p:cNvPr id="20" name="Rounded Rectangle 19"/>
          <p:cNvSpPr/>
          <p:nvPr/>
        </p:nvSpPr>
        <p:spPr>
          <a:xfrm>
            <a:off x="1051560" y="4206240"/>
            <a:ext cx="2743200" cy="731520"/>
          </a:xfrm>
          <a:prstGeom prst="roundRect">
            <a:avLst>
              <a:gd name="adj" fmla="val 25000"/>
            </a:avLst>
          </a:prstGeom>
          <a:solidFill>
            <a:srgbClr val="0F2240"/>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234440" y="4206240"/>
            <a:ext cx="2377440" cy="731520"/>
          </a:xfrm>
          <a:prstGeom prst="rect">
            <a:avLst/>
          </a:prstGeom>
          <a:noFill/>
        </p:spPr>
        <p:txBody>
          <a:bodyPr wrap="square" lIns="0" tIns="0" rIns="0" bIns="0" anchor="ctr">
            <a:spAutoFit/>
          </a:bodyPr>
          <a:lstStyle/>
          <a:p>
            <a:pPr algn="l">
              <a:lnSpc>
                <a:spcPct val="115000"/>
              </a:lnSpc>
            </a:pPr>
            <a:r>
              <a:rPr sz="1100" b="0" i="0">
                <a:solidFill>
                  <a:srgbClr val="9FB3C8"/>
                </a:solidFill>
                <a:latin typeface="Segoe UI"/>
              </a:rPr>
              <a:t>8am–10pm on term days. ✓</a:t>
            </a:r>
          </a:p>
        </p:txBody>
      </p:sp>
      <p:sp>
        <p:nvSpPr>
          <p:cNvPr id="22" name="TextBox 21"/>
          <p:cNvSpPr txBox="1"/>
          <p:nvPr/>
        </p:nvSpPr>
        <p:spPr>
          <a:xfrm>
            <a:off x="822960" y="5486400"/>
            <a:ext cx="3200400" cy="365760"/>
          </a:xfrm>
          <a:prstGeom prst="rect">
            <a:avLst/>
          </a:prstGeom>
          <a:noFill/>
        </p:spPr>
        <p:txBody>
          <a:bodyPr wrap="square" lIns="0" tIns="0" rIns="0" bIns="0" anchor="t">
            <a:spAutoFit/>
          </a:bodyPr>
          <a:lstStyle/>
          <a:p>
            <a:pPr algn="ctr"/>
            <a:r>
              <a:rPr sz="1100" b="0" i="1">
                <a:solidFill>
                  <a:srgbClr val="2DD4BF"/>
                </a:solidFill>
                <a:latin typeface="Segoe UI"/>
              </a:rPr>
              <a:t>one person, one chat — it works</a:t>
            </a:r>
          </a:p>
        </p:txBody>
      </p:sp>
      <p:sp>
        <p:nvSpPr>
          <p:cNvPr id="23" name="TextBox 22"/>
          <p:cNvSpPr txBox="1"/>
          <p:nvPr/>
        </p:nvSpPr>
        <p:spPr>
          <a:xfrm>
            <a:off x="4160520" y="3291840"/>
            <a:ext cx="914400" cy="320040"/>
          </a:xfrm>
          <a:prstGeom prst="rect">
            <a:avLst/>
          </a:prstGeom>
          <a:noFill/>
        </p:spPr>
        <p:txBody>
          <a:bodyPr wrap="square" lIns="0" tIns="0" rIns="0" bIns="0" anchor="t">
            <a:spAutoFit/>
          </a:bodyPr>
          <a:lstStyle/>
          <a:p>
            <a:pPr algn="ctr"/>
            <a:r>
              <a:rPr sz="1000" b="0" i="1">
                <a:solidFill>
                  <a:srgbClr val="9FB3C8"/>
                </a:solidFill>
                <a:latin typeface="Segoe UI"/>
              </a:rPr>
              <a:t>under the</a:t>
            </a:r>
          </a:p>
        </p:txBody>
      </p:sp>
      <p:sp>
        <p:nvSpPr>
          <p:cNvPr id="24" name="TextBox 23"/>
          <p:cNvSpPr txBox="1"/>
          <p:nvPr/>
        </p:nvSpPr>
        <p:spPr>
          <a:xfrm>
            <a:off x="4160520" y="3520440"/>
            <a:ext cx="914400" cy="320040"/>
          </a:xfrm>
          <a:prstGeom prst="rect">
            <a:avLst/>
          </a:prstGeom>
          <a:noFill/>
        </p:spPr>
        <p:txBody>
          <a:bodyPr wrap="square" lIns="0" tIns="0" rIns="0" bIns="0" anchor="t">
            <a:spAutoFit/>
          </a:bodyPr>
          <a:lstStyle/>
          <a:p>
            <a:pPr algn="ctr"/>
            <a:r>
              <a:rPr sz="1000" b="0" i="1">
                <a:solidFill>
                  <a:srgbClr val="9FB3C8"/>
                </a:solidFill>
                <a:latin typeface="Segoe UI"/>
              </a:rPr>
              <a:t>hood</a:t>
            </a:r>
          </a:p>
        </p:txBody>
      </p:sp>
      <p:sp>
        <p:nvSpPr>
          <p:cNvPr id="25" name="Right Arrow 24"/>
          <p:cNvSpPr/>
          <p:nvPr/>
        </p:nvSpPr>
        <p:spPr>
          <a:xfrm>
            <a:off x="4160520" y="3931920"/>
            <a:ext cx="77724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5074920" y="2194560"/>
            <a:ext cx="3657600" cy="320040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303520" y="2331720"/>
            <a:ext cx="3200400" cy="365760"/>
          </a:xfrm>
          <a:prstGeom prst="rect">
            <a:avLst/>
          </a:prstGeom>
          <a:noFill/>
        </p:spPr>
        <p:txBody>
          <a:bodyPr wrap="square" lIns="0" tIns="0" rIns="0" bIns="0" anchor="t">
            <a:spAutoFit/>
          </a:bodyPr>
          <a:lstStyle/>
          <a:p>
            <a:pPr algn="l"/>
            <a:r>
              <a:rPr sz="1100" b="1" i="0">
                <a:solidFill>
                  <a:srgbClr val="F5B342"/>
                </a:solidFill>
                <a:latin typeface="Segoe UI"/>
              </a:rPr>
              <a:t>what the model actually receives</a:t>
            </a:r>
          </a:p>
        </p:txBody>
      </p:sp>
      <p:sp>
        <p:nvSpPr>
          <p:cNvPr id="28" name="TextBox 27"/>
          <p:cNvSpPr txBox="1"/>
          <p:nvPr/>
        </p:nvSpPr>
        <p:spPr>
          <a:xfrm>
            <a:off x="5303520" y="2788920"/>
            <a:ext cx="3200400" cy="2194560"/>
          </a:xfrm>
          <a:prstGeom prst="rect">
            <a:avLst/>
          </a:prstGeom>
          <a:noFill/>
        </p:spPr>
        <p:txBody>
          <a:bodyPr wrap="square" lIns="0" tIns="0" rIns="0" bIns="0" anchor="t">
            <a:spAutoFit/>
          </a:bodyPr>
          <a:lstStyle/>
          <a:p>
            <a:pPr algn="l">
              <a:lnSpc>
                <a:spcPct val="125000"/>
              </a:lnSpc>
            </a:pPr>
            <a:r>
              <a:rPr sz="1150" b="0" i="1">
                <a:solidFill>
                  <a:srgbClr val="9FB3C8"/>
                </a:solidFill>
                <a:latin typeface="Consolas"/>
              </a:rPr>
              <a:t>&lt;entire text of handbook.pdf&gt;</a:t>
            </a:r>
          </a:p>
          <a:p>
            <a:pPr algn="l">
              <a:lnSpc>
                <a:spcPct val="125000"/>
              </a:lnSpc>
            </a:pPr>
            <a:r>
              <a:rPr sz="1150" b="0" i="1">
                <a:solidFill>
                  <a:srgbClr val="9FB3C8"/>
                </a:solidFill>
                <a:latin typeface="Consolas"/>
              </a:rPr>
              <a:t>… 200 pages of it …</a:t>
            </a:r>
          </a:p>
          <a:p>
            <a:pPr algn="l">
              <a:lnSpc>
                <a:spcPct val="125000"/>
              </a:lnSpc>
            </a:pPr>
            <a:r>
              <a:rPr sz="1300" b="1" i="0">
                <a:solidFill>
                  <a:srgbClr val="FFFFFF"/>
                </a:solidFill>
                <a:latin typeface="Consolas"/>
              </a:rPr>
              <a:t>+</a:t>
            </a:r>
          </a:p>
          <a:p>
            <a:pPr algn="l">
              <a:lnSpc>
                <a:spcPct val="120000"/>
              </a:lnSpc>
            </a:pPr>
            <a:r>
              <a:rPr sz="1150" b="0" i="0">
                <a:solidFill>
                  <a:srgbClr val="FFFFFF"/>
                </a:solidFill>
                <a:latin typeface="Consolas"/>
              </a:rPr>
              <a:t>“What are the library</a:t>
            </a:r>
          </a:p>
          <a:p>
            <a:pPr algn="l"/>
            <a:r>
              <a:rPr sz="1150" b="0" i="0">
                <a:solidFill>
                  <a:srgbClr val="FFFFFF"/>
                </a:solidFill>
                <a:latin typeface="Consolas"/>
              </a:rPr>
              <a:t>opening hours?”</a:t>
            </a:r>
          </a:p>
        </p:txBody>
      </p:sp>
      <p:sp>
        <p:nvSpPr>
          <p:cNvPr id="29" name="TextBox 28"/>
          <p:cNvSpPr txBox="1"/>
          <p:nvPr/>
        </p:nvSpPr>
        <p:spPr>
          <a:xfrm>
            <a:off x="5303520" y="4983480"/>
            <a:ext cx="3200400" cy="365760"/>
          </a:xfrm>
          <a:prstGeom prst="rect">
            <a:avLst/>
          </a:prstGeom>
          <a:noFill/>
        </p:spPr>
        <p:txBody>
          <a:bodyPr wrap="square" lIns="0" tIns="0" rIns="0" bIns="0" anchor="t">
            <a:spAutoFit/>
          </a:bodyPr>
          <a:lstStyle/>
          <a:p>
            <a:pPr algn="l"/>
            <a:r>
              <a:rPr sz="1200" b="1" i="0">
                <a:solidFill>
                  <a:srgbClr val="2DD4BF"/>
                </a:solidFill>
                <a:latin typeface="Segoe UI"/>
              </a:rPr>
              <a:t>ONE long piece of text</a:t>
            </a:r>
          </a:p>
        </p:txBody>
      </p:sp>
      <p:sp>
        <p:nvSpPr>
          <p:cNvPr id="30" name="Right Arrow 29"/>
          <p:cNvSpPr/>
          <p:nvPr/>
        </p:nvSpPr>
        <p:spPr>
          <a:xfrm>
            <a:off x="8869680" y="3657600"/>
            <a:ext cx="6400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9646920" y="3017520"/>
            <a:ext cx="1965960" cy="15544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784080" y="3246120"/>
            <a:ext cx="1691640" cy="365760"/>
          </a:xfrm>
          <a:prstGeom prst="rect">
            <a:avLst/>
          </a:prstGeom>
          <a:noFill/>
        </p:spPr>
        <p:txBody>
          <a:bodyPr wrap="square" lIns="0" tIns="0" rIns="0" bIns="0" anchor="t">
            <a:spAutoFit/>
          </a:bodyPr>
          <a:lstStyle/>
          <a:p>
            <a:pPr algn="ctr"/>
            <a:r>
              <a:rPr sz="1300" b="1" i="0">
                <a:solidFill>
                  <a:srgbClr val="2DD4BF"/>
                </a:solidFill>
                <a:latin typeface="Segoe UI"/>
              </a:rPr>
              <a:t>the model</a:t>
            </a:r>
          </a:p>
        </p:txBody>
      </p:sp>
      <p:sp>
        <p:nvSpPr>
          <p:cNvPr id="33" name="TextBox 32"/>
          <p:cNvSpPr txBox="1"/>
          <p:nvPr/>
        </p:nvSpPr>
        <p:spPr>
          <a:xfrm>
            <a:off x="9784080" y="3657600"/>
            <a:ext cx="1691640" cy="822960"/>
          </a:xfrm>
          <a:prstGeom prst="rect">
            <a:avLst/>
          </a:prstGeom>
          <a:noFill/>
        </p:spPr>
        <p:txBody>
          <a:bodyPr wrap="square" lIns="0" tIns="0" rIns="0" bIns="0" anchor="t">
            <a:spAutoFit/>
          </a:bodyPr>
          <a:lstStyle/>
          <a:p>
            <a:pPr algn="ctr">
              <a:lnSpc>
                <a:spcPct val="120000"/>
              </a:lnSpc>
            </a:pPr>
            <a:r>
              <a:rPr sz="1100" b="0" i="0">
                <a:solidFill>
                  <a:srgbClr val="FFFFFF"/>
                </a:solidFill>
                <a:latin typeface="Segoe UI"/>
              </a:rPr>
              <a:t>reads it all, writes the answer</a:t>
            </a:r>
          </a:p>
        </p:txBody>
      </p:sp>
      <p:sp>
        <p:nvSpPr>
          <p:cNvPr id="34" name="Rounded Rectangle 33"/>
          <p:cNvSpPr/>
          <p:nvPr/>
        </p:nvSpPr>
        <p:spPr>
          <a:xfrm>
            <a:off x="4160520" y="5623560"/>
            <a:ext cx="7452360" cy="5486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389120" y="5623560"/>
            <a:ext cx="7040880" cy="548640"/>
          </a:xfrm>
          <a:prstGeom prst="rect">
            <a:avLst/>
          </a:prstGeom>
          <a:noFill/>
        </p:spPr>
        <p:txBody>
          <a:bodyPr wrap="square" lIns="0" tIns="0" rIns="0" bIns="0" anchor="ctr">
            <a:spAutoFit/>
          </a:bodyPr>
          <a:lstStyle/>
          <a:p>
            <a:pPr algn="l"/>
            <a:r>
              <a:rPr sz="1100" b="0" i="1">
                <a:solidFill>
                  <a:srgbClr val="9FB3C8"/>
                </a:solidFill>
                <a:latin typeface="Segoe UI"/>
              </a:rPr>
              <a:t>Today: TEXT only. Images, audio, complex layouts — a story for another day.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1  ·  IT DOESN'T SCALE</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Why this doesn't scale</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365760"/>
          </a:xfrm>
          <a:prstGeom prst="rect">
            <a:avLst/>
          </a:prstGeom>
          <a:noFill/>
        </p:spPr>
        <p:txBody>
          <a:bodyPr wrap="square" lIns="0" tIns="0" rIns="0" bIns="0" anchor="t">
            <a:spAutoFit/>
          </a:bodyPr>
          <a:lstStyle/>
          <a:p>
            <a:pPr algn="l"/>
            <a:r>
              <a:rPr sz="1350" b="0" i="1">
                <a:solidFill>
                  <a:srgbClr val="9FB3C8"/>
                </a:solidFill>
                <a:latin typeface="Segoe UI"/>
              </a:rPr>
              <a:t>It works for one person. Now give it to 30,000 students.</a:t>
            </a:r>
          </a:p>
        </p:txBody>
      </p:sp>
      <p:sp>
        <p:nvSpPr>
          <p:cNvPr id="13" name="Rounded Rectangle 12"/>
          <p:cNvSpPr/>
          <p:nvPr/>
        </p:nvSpPr>
        <p:spPr>
          <a:xfrm>
            <a:off x="822960" y="2194560"/>
            <a:ext cx="3362858" cy="22402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005840" y="2377439"/>
            <a:ext cx="402336" cy="402336"/>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0B1B33"/>
                </a:solidFill>
                <a:latin typeface="Segoe UI"/>
              </a:rPr>
              <a:t>1</a:t>
            </a:r>
          </a:p>
        </p:txBody>
      </p:sp>
      <p:sp>
        <p:nvSpPr>
          <p:cNvPr id="15" name="TextBox 14"/>
          <p:cNvSpPr txBox="1"/>
          <p:nvPr/>
        </p:nvSpPr>
        <p:spPr>
          <a:xfrm>
            <a:off x="1508760" y="2377440"/>
            <a:ext cx="2494178" cy="685800"/>
          </a:xfrm>
          <a:prstGeom prst="rect">
            <a:avLst/>
          </a:prstGeom>
          <a:noFill/>
        </p:spPr>
        <p:txBody>
          <a:bodyPr wrap="square" lIns="0" tIns="0" rIns="0" bIns="0" anchor="t">
            <a:spAutoFit/>
          </a:bodyPr>
          <a:lstStyle/>
          <a:p>
            <a:pPr algn="l">
              <a:lnSpc>
                <a:spcPct val="110000"/>
              </a:lnSpc>
            </a:pPr>
            <a:r>
              <a:rPr sz="1350" b="1" i="0">
                <a:solidFill>
                  <a:srgbClr val="FFFFFF"/>
                </a:solidFill>
                <a:latin typeface="Segoe UI"/>
              </a:rPr>
              <a:t>It's ChatGPT's product</a:t>
            </a:r>
          </a:p>
        </p:txBody>
      </p:sp>
      <p:sp>
        <p:nvSpPr>
          <p:cNvPr id="16" name="TextBox 15"/>
          <p:cNvSpPr txBox="1"/>
          <p:nvPr/>
        </p:nvSpPr>
        <p:spPr>
          <a:xfrm>
            <a:off x="1051560" y="3154680"/>
            <a:ext cx="2905658" cy="1188720"/>
          </a:xfrm>
          <a:prstGeom prst="rect">
            <a:avLst/>
          </a:prstGeom>
          <a:noFill/>
        </p:spPr>
        <p:txBody>
          <a:bodyPr wrap="square" lIns="0" tIns="0" rIns="0" bIns="0" anchor="t">
            <a:spAutoFit/>
          </a:bodyPr>
          <a:lstStyle/>
          <a:p>
            <a:pPr algn="l">
              <a:lnSpc>
                <a:spcPct val="125000"/>
              </a:lnSpc>
            </a:pPr>
            <a:r>
              <a:rPr sz="1100" b="0" i="0">
                <a:solidFill>
                  <a:srgbClr val="9FB3C8"/>
                </a:solidFill>
                <a:latin typeface="Segoe UI"/>
              </a:rPr>
              <a:t>We can't put ChatGPT itself on the university website. Building our own ChatGPT-like product from scratch is a huge job.</a:t>
            </a:r>
          </a:p>
        </p:txBody>
      </p:sp>
      <p:sp>
        <p:nvSpPr>
          <p:cNvPr id="17" name="Rounded Rectangle 16"/>
          <p:cNvSpPr/>
          <p:nvPr/>
        </p:nvSpPr>
        <p:spPr>
          <a:xfrm>
            <a:off x="4414418" y="2194560"/>
            <a:ext cx="3362858" cy="22402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4597298" y="2377439"/>
            <a:ext cx="402336" cy="402336"/>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0B1B33"/>
                </a:solidFill>
                <a:latin typeface="Segoe UI"/>
              </a:rPr>
              <a:t>2</a:t>
            </a:r>
          </a:p>
        </p:txBody>
      </p:sp>
      <p:sp>
        <p:nvSpPr>
          <p:cNvPr id="19" name="TextBox 18"/>
          <p:cNvSpPr txBox="1"/>
          <p:nvPr/>
        </p:nvSpPr>
        <p:spPr>
          <a:xfrm>
            <a:off x="5100218" y="2377440"/>
            <a:ext cx="2494178" cy="685800"/>
          </a:xfrm>
          <a:prstGeom prst="rect">
            <a:avLst/>
          </a:prstGeom>
          <a:noFill/>
        </p:spPr>
        <p:txBody>
          <a:bodyPr wrap="square" lIns="0" tIns="0" rIns="0" bIns="0" anchor="t">
            <a:spAutoFit/>
          </a:bodyPr>
          <a:lstStyle/>
          <a:p>
            <a:pPr algn="l">
              <a:lnSpc>
                <a:spcPct val="110000"/>
              </a:lnSpc>
            </a:pPr>
            <a:r>
              <a:rPr sz="1350" b="1" i="0">
                <a:solidFill>
                  <a:srgbClr val="FFFFFF"/>
                </a:solidFill>
                <a:latin typeface="Segoe UI"/>
              </a:rPr>
              <a:t>A paid seat per student</a:t>
            </a:r>
          </a:p>
        </p:txBody>
      </p:sp>
      <p:sp>
        <p:nvSpPr>
          <p:cNvPr id="20" name="TextBox 19"/>
          <p:cNvSpPr txBox="1"/>
          <p:nvPr/>
        </p:nvSpPr>
        <p:spPr>
          <a:xfrm>
            <a:off x="4643018" y="3154680"/>
            <a:ext cx="2905658" cy="1188720"/>
          </a:xfrm>
          <a:prstGeom prst="rect">
            <a:avLst/>
          </a:prstGeom>
          <a:noFill/>
        </p:spPr>
        <p:txBody>
          <a:bodyPr wrap="square" lIns="0" tIns="0" rIns="0" bIns="0" anchor="t">
            <a:spAutoFit/>
          </a:bodyPr>
          <a:lstStyle/>
          <a:p>
            <a:pPr algn="l">
              <a:lnSpc>
                <a:spcPct val="125000"/>
              </a:lnSpc>
            </a:pPr>
            <a:r>
              <a:rPr sz="1100" b="0" i="0">
                <a:solidFill>
                  <a:srgbClr val="9FB3C8"/>
                </a:solidFill>
                <a:latin typeface="Segoe UI"/>
              </a:rPr>
              <a:t>The alternative: every student buys their own subscription — thousands of seats, just to ask about the handbook.</a:t>
            </a:r>
          </a:p>
        </p:txBody>
      </p:sp>
      <p:sp>
        <p:nvSpPr>
          <p:cNvPr id="21" name="Rounded Rectangle 20"/>
          <p:cNvSpPr/>
          <p:nvPr/>
        </p:nvSpPr>
        <p:spPr>
          <a:xfrm>
            <a:off x="8005876" y="2194560"/>
            <a:ext cx="3362858" cy="22402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188756" y="2377439"/>
            <a:ext cx="402336" cy="402336"/>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0B1B33"/>
                </a:solidFill>
                <a:latin typeface="Segoe UI"/>
              </a:rPr>
              <a:t>3</a:t>
            </a:r>
          </a:p>
        </p:txBody>
      </p:sp>
      <p:sp>
        <p:nvSpPr>
          <p:cNvPr id="23" name="TextBox 22"/>
          <p:cNvSpPr txBox="1"/>
          <p:nvPr/>
        </p:nvSpPr>
        <p:spPr>
          <a:xfrm>
            <a:off x="8691676" y="2377440"/>
            <a:ext cx="2494178" cy="685800"/>
          </a:xfrm>
          <a:prstGeom prst="rect">
            <a:avLst/>
          </a:prstGeom>
          <a:noFill/>
        </p:spPr>
        <p:txBody>
          <a:bodyPr wrap="square" lIns="0" tIns="0" rIns="0" bIns="0" anchor="t">
            <a:spAutoFit/>
          </a:bodyPr>
          <a:lstStyle/>
          <a:p>
            <a:pPr algn="l">
              <a:lnSpc>
                <a:spcPct val="110000"/>
              </a:lnSpc>
            </a:pPr>
            <a:r>
              <a:rPr sz="1350" b="1" i="0">
                <a:solidFill>
                  <a:srgbClr val="FFFFFF"/>
                </a:solidFill>
                <a:latin typeface="Segoe UI"/>
              </a:rPr>
              <a:t>Many documents, always changing</a:t>
            </a:r>
          </a:p>
        </p:txBody>
      </p:sp>
      <p:sp>
        <p:nvSpPr>
          <p:cNvPr id="24" name="TextBox 23"/>
          <p:cNvSpPr txBox="1"/>
          <p:nvPr/>
        </p:nvSpPr>
        <p:spPr>
          <a:xfrm>
            <a:off x="8234476" y="3154680"/>
            <a:ext cx="2905658" cy="1188720"/>
          </a:xfrm>
          <a:prstGeom prst="rect">
            <a:avLst/>
          </a:prstGeom>
          <a:noFill/>
        </p:spPr>
        <p:txBody>
          <a:bodyPr wrap="square" lIns="0" tIns="0" rIns="0" bIns="0" anchor="t">
            <a:spAutoFit/>
          </a:bodyPr>
          <a:lstStyle/>
          <a:p>
            <a:pPr algn="l">
              <a:lnSpc>
                <a:spcPct val="125000"/>
              </a:lnSpc>
            </a:pPr>
            <a:r>
              <a:rPr sz="1100" b="0" i="0">
                <a:solidFill>
                  <a:srgbClr val="9FB3C8"/>
                </a:solidFill>
                <a:latin typeface="Segoe UI"/>
              </a:rPr>
              <a:t>One answer may need handbook + library rules + exam procedures. They change all year. Re-uploading the current pile into every chat? Nobody will.</a:t>
            </a:r>
          </a:p>
        </p:txBody>
      </p:sp>
      <p:sp>
        <p:nvSpPr>
          <p:cNvPr id="25" name="Rounded Rectangle 24"/>
          <p:cNvSpPr/>
          <p:nvPr/>
        </p:nvSpPr>
        <p:spPr>
          <a:xfrm>
            <a:off x="822960" y="4709160"/>
            <a:ext cx="10561320" cy="6858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05840" y="4953122"/>
            <a:ext cx="10195560" cy="197875"/>
          </a:xfrm>
          <a:prstGeom prst="rect">
            <a:avLst/>
          </a:prstGeom>
          <a:noFill/>
        </p:spPr>
        <p:txBody>
          <a:bodyPr wrap="square" lIns="0" tIns="0" rIns="0" bIns="0" anchor="ctr">
            <a:spAutoFit/>
          </a:bodyPr>
          <a:lstStyle/>
          <a:p>
            <a:pPr>
              <a:lnSpc>
                <a:spcPct val="112000"/>
              </a:lnSpc>
            </a:pPr>
            <a:r>
              <a:rPr sz="1250" b="1" dirty="0">
                <a:solidFill>
                  <a:srgbClr val="2DD4BF"/>
                </a:solidFill>
                <a:latin typeface="Segoe UI"/>
              </a:rPr>
              <a:t>Knowledge Base (KB)</a:t>
            </a:r>
            <a:r>
              <a:rPr sz="1050" dirty="0">
                <a:solidFill>
                  <a:srgbClr val="9FB3C8"/>
                </a:solidFill>
                <a:latin typeface="Segoe UI"/>
              </a:rPr>
              <a:t>  —  the pile of official documents the bot must answer from.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2  ·  OUR OWN BOT</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Our own bot — same trick, our pipes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2103120"/>
            <a:ext cx="3355848" cy="9601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96112" y="2103120"/>
            <a:ext cx="3209544" cy="960120"/>
          </a:xfrm>
          <a:prstGeom prst="rect">
            <a:avLst/>
          </a:prstGeom>
          <a:noFill/>
        </p:spPr>
        <p:txBody>
          <a:bodyPr wrap="square" lIns="0" tIns="0" rIns="0" bIns="0" anchor="ctr">
            <a:spAutoFit/>
          </a:bodyPr>
          <a:lstStyle/>
          <a:p>
            <a:pPr algn="ctr">
              <a:lnSpc>
                <a:spcPct val="108000"/>
              </a:lnSpc>
            </a:pPr>
            <a:r>
              <a:rPr sz="1250" b="1" i="0">
                <a:solidFill>
                  <a:srgbClr val="FFFFFF"/>
                </a:solidFill>
                <a:latin typeface="Segoe UI"/>
              </a:rPr>
              <a:t>Student's browser
chat page</a:t>
            </a:r>
          </a:p>
        </p:txBody>
      </p:sp>
      <p:sp>
        <p:nvSpPr>
          <p:cNvPr id="14" name="Right Arrow 13"/>
          <p:cNvSpPr/>
          <p:nvPr/>
        </p:nvSpPr>
        <p:spPr>
          <a:xfrm>
            <a:off x="4197096" y="25008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2103120"/>
            <a:ext cx="3355848" cy="9601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89704" y="2103120"/>
            <a:ext cx="3209544" cy="960120"/>
          </a:xfrm>
          <a:prstGeom prst="rect">
            <a:avLst/>
          </a:prstGeom>
          <a:noFill/>
        </p:spPr>
        <p:txBody>
          <a:bodyPr wrap="square" lIns="0" tIns="0" rIns="0" bIns="0" anchor="ctr">
            <a:spAutoFit/>
          </a:bodyPr>
          <a:lstStyle/>
          <a:p>
            <a:pPr algn="ctr">
              <a:lnSpc>
                <a:spcPct val="108000"/>
              </a:lnSpc>
            </a:pPr>
            <a:r>
              <a:rPr sz="1250" b="1" i="0">
                <a:solidFill>
                  <a:srgbClr val="FFFFFF"/>
                </a:solidFill>
                <a:latin typeface="Segoe UI"/>
              </a:rPr>
              <a:t>Our server</a:t>
            </a:r>
          </a:p>
        </p:txBody>
      </p:sp>
      <p:sp>
        <p:nvSpPr>
          <p:cNvPr id="17" name="Right Arrow 16"/>
          <p:cNvSpPr/>
          <p:nvPr/>
        </p:nvSpPr>
        <p:spPr>
          <a:xfrm>
            <a:off x="7790688" y="25008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8010144" y="2103120"/>
            <a:ext cx="3355848" cy="9601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083296" y="2487127"/>
            <a:ext cx="3209544" cy="192104"/>
          </a:xfrm>
          <a:prstGeom prst="rect">
            <a:avLst/>
          </a:prstGeom>
          <a:noFill/>
        </p:spPr>
        <p:txBody>
          <a:bodyPr wrap="square" lIns="0" tIns="0" rIns="0" bIns="0" anchor="ctr">
            <a:spAutoFit/>
          </a:bodyPr>
          <a:lstStyle/>
          <a:p>
            <a:pPr algn="ctr">
              <a:lnSpc>
                <a:spcPct val="108000"/>
              </a:lnSpc>
            </a:pPr>
            <a:r>
              <a:rPr sz="1250" b="1" i="0" dirty="0">
                <a:solidFill>
                  <a:srgbClr val="FFFFFF"/>
                </a:solidFill>
                <a:latin typeface="Segoe UI"/>
              </a:rPr>
              <a:t>OpenAI API</a:t>
            </a:r>
          </a:p>
        </p:txBody>
      </p:sp>
      <p:sp>
        <p:nvSpPr>
          <p:cNvPr id="20" name="TextBox 19"/>
          <p:cNvSpPr txBox="1"/>
          <p:nvPr/>
        </p:nvSpPr>
        <p:spPr>
          <a:xfrm>
            <a:off x="822960" y="3200400"/>
            <a:ext cx="3474720" cy="320040"/>
          </a:xfrm>
          <a:prstGeom prst="rect">
            <a:avLst/>
          </a:prstGeom>
          <a:noFill/>
        </p:spPr>
        <p:txBody>
          <a:bodyPr wrap="square" lIns="0" tIns="0" rIns="0" bIns="0" anchor="t">
            <a:spAutoFit/>
          </a:bodyPr>
          <a:lstStyle/>
          <a:p>
            <a:pPr algn="ctr"/>
            <a:r>
              <a:rPr sz="1000" b="0" i="1">
                <a:solidFill>
                  <a:srgbClr val="9FB3C8"/>
                </a:solidFill>
                <a:latin typeface="Segoe UI"/>
              </a:rPr>
              <a:t>ordinary web dev</a:t>
            </a:r>
          </a:p>
        </p:txBody>
      </p:sp>
      <p:sp>
        <p:nvSpPr>
          <p:cNvPr id="21" name="TextBox 20"/>
          <p:cNvSpPr txBox="1"/>
          <p:nvPr/>
        </p:nvSpPr>
        <p:spPr>
          <a:xfrm>
            <a:off x="4535424" y="3200400"/>
            <a:ext cx="3474720" cy="320040"/>
          </a:xfrm>
          <a:prstGeom prst="rect">
            <a:avLst/>
          </a:prstGeom>
          <a:noFill/>
        </p:spPr>
        <p:txBody>
          <a:bodyPr wrap="square" lIns="0" tIns="0" rIns="0" bIns="0" anchor="t">
            <a:spAutoFit/>
          </a:bodyPr>
          <a:lstStyle/>
          <a:p>
            <a:pPr algn="ctr"/>
            <a:r>
              <a:rPr sz="1000" b="0" i="1">
                <a:solidFill>
                  <a:srgbClr val="9FB3C8"/>
                </a:solidFill>
                <a:latin typeface="Segoe UI"/>
              </a:rPr>
              <a:t>ordinary backend</a:t>
            </a:r>
          </a:p>
        </p:txBody>
      </p:sp>
      <p:sp>
        <p:nvSpPr>
          <p:cNvPr id="22" name="TextBox 21"/>
          <p:cNvSpPr txBox="1"/>
          <p:nvPr/>
        </p:nvSpPr>
        <p:spPr>
          <a:xfrm>
            <a:off x="8247888" y="3200400"/>
            <a:ext cx="3200400" cy="320040"/>
          </a:xfrm>
          <a:prstGeom prst="rect">
            <a:avLst/>
          </a:prstGeom>
          <a:noFill/>
        </p:spPr>
        <p:txBody>
          <a:bodyPr wrap="square" lIns="0" tIns="0" rIns="0" bIns="0" anchor="t">
            <a:spAutoFit/>
          </a:bodyPr>
          <a:lstStyle/>
          <a:p>
            <a:pPr algn="ctr"/>
            <a:r>
              <a:rPr sz="1000" b="0" i="1">
                <a:solidFill>
                  <a:srgbClr val="9FB3C8"/>
                </a:solidFill>
                <a:latin typeface="Segoe UI"/>
              </a:rPr>
              <a:t>their computers, our text</a:t>
            </a:r>
          </a:p>
        </p:txBody>
      </p:sp>
      <p:sp>
        <p:nvSpPr>
          <p:cNvPr id="23" name="Rounded Rectangle 22"/>
          <p:cNvSpPr/>
          <p:nvPr/>
        </p:nvSpPr>
        <p:spPr>
          <a:xfrm>
            <a:off x="3017520" y="4315709"/>
            <a:ext cx="6126480" cy="105156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246120" y="4452869"/>
            <a:ext cx="5669280" cy="365760"/>
          </a:xfrm>
          <a:prstGeom prst="rect">
            <a:avLst/>
          </a:prstGeom>
          <a:noFill/>
        </p:spPr>
        <p:txBody>
          <a:bodyPr wrap="square" lIns="0" tIns="0" rIns="0" bIns="0" anchor="t">
            <a:spAutoFit/>
          </a:bodyPr>
          <a:lstStyle/>
          <a:p>
            <a:pPr algn="l"/>
            <a:r>
              <a:rPr sz="1100" b="1" i="0">
                <a:solidFill>
                  <a:srgbClr val="F5B342"/>
                </a:solidFill>
                <a:latin typeface="Segoe UI"/>
              </a:rPr>
              <a:t>what our server sends — the phase-1 trick, through pipes:</a:t>
            </a:r>
          </a:p>
        </p:txBody>
      </p:sp>
      <p:sp>
        <p:nvSpPr>
          <p:cNvPr id="25" name="TextBox 24"/>
          <p:cNvSpPr txBox="1"/>
          <p:nvPr/>
        </p:nvSpPr>
        <p:spPr>
          <a:xfrm>
            <a:off x="3246120" y="4818629"/>
            <a:ext cx="5669280" cy="502920"/>
          </a:xfrm>
          <a:prstGeom prst="rect">
            <a:avLst/>
          </a:prstGeom>
          <a:noFill/>
        </p:spPr>
        <p:txBody>
          <a:bodyPr wrap="square" lIns="0" tIns="0" rIns="0" bIns="0" anchor="t">
            <a:spAutoFit/>
          </a:bodyPr>
          <a:lstStyle/>
          <a:p>
            <a:pPr algn="l">
              <a:lnSpc>
                <a:spcPct val="120000"/>
              </a:lnSpc>
            </a:pPr>
            <a:r>
              <a:rPr sz="1200" b="0" i="0">
                <a:solidFill>
                  <a:srgbClr val="FFFFFF"/>
                </a:solidFill>
                <a:latin typeface="Consolas"/>
              </a:rPr>
              <a:t>every KB document  +  the student's question</a:t>
            </a:r>
          </a:p>
          <a:p>
            <a:pPr algn="l"/>
            <a:r>
              <a:rPr sz="1200" b="1" i="0">
                <a:solidFill>
                  <a:srgbClr val="2DD4BF"/>
                </a:solidFill>
                <a:latin typeface="Consolas"/>
              </a:rPr>
              <a:t>→  one big string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2  ·  OUR OWN BOT</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What the model actually receives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828800"/>
            <a:ext cx="6309360" cy="3886200"/>
          </a:xfrm>
          <a:prstGeom prst="roundRect">
            <a:avLst>
              <a:gd name="adj" fmla="val 6000"/>
            </a:avLst>
          </a:prstGeom>
          <a:solidFill>
            <a:srgbClr val="0F2240"/>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234440" y="1828800"/>
            <a:ext cx="5486400" cy="3886200"/>
          </a:xfrm>
          <a:prstGeom prst="rect">
            <a:avLst/>
          </a:prstGeom>
          <a:noFill/>
        </p:spPr>
        <p:txBody>
          <a:bodyPr wrap="square" lIns="0" tIns="0" rIns="0" bIns="0" anchor="ctr">
            <a:spAutoFit/>
          </a:bodyPr>
          <a:lstStyle/>
          <a:p>
            <a:pPr algn="l">
              <a:lnSpc>
                <a:spcPct val="145000"/>
              </a:lnSpc>
            </a:pPr>
            <a:r>
              <a:rPr sz="1700" b="1" i="0">
                <a:solidFill>
                  <a:srgbClr val="2DD4BF"/>
                </a:solidFill>
                <a:latin typeface="Consolas"/>
              </a:rPr>
              <a:t>Context:</a:t>
            </a:r>
          </a:p>
          <a:p>
            <a:pPr algn="l">
              <a:lnSpc>
                <a:spcPct val="145000"/>
              </a:lnSpc>
            </a:pPr>
            <a:r>
              <a:rPr sz="1500" b="0" i="1">
                <a:solidFill>
                  <a:srgbClr val="9FB3C8"/>
                </a:solidFill>
                <a:latin typeface="Consolas"/>
              </a:rPr>
              <a:t>    &lt;every document in the KB&gt;</a:t>
            </a:r>
          </a:p>
          <a:p>
            <a:pPr algn="l">
              <a:lnSpc>
                <a:spcPct val="100000"/>
              </a:lnSpc>
            </a:pPr>
            <a:endParaRPr sz="1500" b="0" i="1">
              <a:solidFill>
                <a:srgbClr val="9FB3C8"/>
              </a:solidFill>
              <a:latin typeface="Consolas"/>
            </a:endParaRPr>
          </a:p>
          <a:p>
            <a:pPr algn="l">
              <a:lnSpc>
                <a:spcPct val="145000"/>
              </a:lnSpc>
            </a:pPr>
            <a:r>
              <a:rPr sz="1700" b="1" i="0">
                <a:solidFill>
                  <a:srgbClr val="2DD4BF"/>
                </a:solidFill>
                <a:latin typeface="Consolas"/>
              </a:rPr>
              <a:t>Question:</a:t>
            </a:r>
          </a:p>
          <a:p>
            <a:pPr algn="l">
              <a:lnSpc>
                <a:spcPct val="145000"/>
              </a:lnSpc>
            </a:pPr>
            <a:r>
              <a:rPr sz="1500" b="0" i="1">
                <a:solidFill>
                  <a:srgbClr val="9FB3C8"/>
                </a:solidFill>
                <a:latin typeface="Consolas"/>
              </a:rPr>
              <a:t>    &lt;the student's question&gt;</a:t>
            </a:r>
          </a:p>
          <a:p>
            <a:pPr algn="l">
              <a:lnSpc>
                <a:spcPct val="100000"/>
              </a:lnSpc>
            </a:pPr>
            <a:endParaRPr sz="1500" b="0" i="1">
              <a:solidFill>
                <a:srgbClr val="9FB3C8"/>
              </a:solidFill>
              <a:latin typeface="Consolas"/>
            </a:endParaRPr>
          </a:p>
          <a:p>
            <a:pPr algn="l">
              <a:lnSpc>
                <a:spcPct val="145000"/>
              </a:lnSpc>
            </a:pPr>
            <a:r>
              <a:rPr sz="1700" b="0" i="0">
                <a:solidFill>
                  <a:srgbClr val="FFFFFF"/>
                </a:solidFill>
                <a:latin typeface="Consolas"/>
              </a:rPr>
              <a:t>Answer using only the</a:t>
            </a:r>
          </a:p>
          <a:p>
            <a:pPr algn="l"/>
            <a:r>
              <a:rPr sz="1700" b="0" i="0">
                <a:solidFill>
                  <a:srgbClr val="FFFFFF"/>
                </a:solidFill>
                <a:latin typeface="Consolas"/>
              </a:rPr>
              <a:t>context above.</a:t>
            </a:r>
          </a:p>
        </p:txBody>
      </p:sp>
      <p:sp>
        <p:nvSpPr>
          <p:cNvPr id="14" name="Rounded Rectangle 13"/>
          <p:cNvSpPr/>
          <p:nvPr/>
        </p:nvSpPr>
        <p:spPr>
          <a:xfrm>
            <a:off x="7406640" y="1828800"/>
            <a:ext cx="3977639"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589519" y="1828800"/>
            <a:ext cx="3611879" cy="91440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Prompt</a:t>
            </a:r>
            <a:r>
              <a:rPr sz="1050">
                <a:solidFill>
                  <a:srgbClr val="9FB3C8"/>
                </a:solidFill>
                <a:latin typeface="Segoe UI"/>
              </a:rPr>
              <a:t>  —  the full text we send to the model. This is literally everything it sees.</a:t>
            </a:r>
          </a:p>
        </p:txBody>
      </p:sp>
      <p:sp>
        <p:nvSpPr>
          <p:cNvPr id="16" name="Rounded Rectangle 15"/>
          <p:cNvSpPr/>
          <p:nvPr/>
        </p:nvSpPr>
        <p:spPr>
          <a:xfrm>
            <a:off x="7406640" y="2926080"/>
            <a:ext cx="3977639"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589519" y="2926080"/>
            <a:ext cx="3611879" cy="91440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Context</a:t>
            </a:r>
            <a:r>
              <a:rPr sz="1050">
                <a:solidFill>
                  <a:srgbClr val="9FB3C8"/>
                </a:solidFill>
                <a:latin typeface="Segoe UI"/>
              </a:rPr>
              <a:t>  —  the reference text we paste into the prompt, for the model to answer from.</a:t>
            </a:r>
          </a:p>
        </p:txBody>
      </p:sp>
      <p:sp>
        <p:nvSpPr>
          <p:cNvPr id="20" name="TextBox 19"/>
          <p:cNvSpPr txBox="1"/>
          <p:nvPr/>
        </p:nvSpPr>
        <p:spPr>
          <a:xfrm>
            <a:off x="822960" y="5943600"/>
            <a:ext cx="10607040" cy="411480"/>
          </a:xfrm>
          <a:prstGeom prst="rect">
            <a:avLst/>
          </a:prstGeom>
          <a:noFill/>
        </p:spPr>
        <p:txBody>
          <a:bodyPr wrap="square" lIns="0" tIns="0" rIns="0" bIns="0" anchor="t">
            <a:spAutoFit/>
          </a:bodyPr>
          <a:lstStyle/>
          <a:p>
            <a:pPr algn="l"/>
            <a:r>
              <a:rPr sz="1350" b="0" i="1">
                <a:solidFill>
                  <a:srgbClr val="F5B342"/>
                </a:solidFill>
                <a:latin typeface="Segoe UI"/>
              </a:rPr>
              <a:t>The whole craft of a document chatbot: deciding WHAT goes into this text.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2  ·  AI VS NOT-AI</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How much of this is actually AI?</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1051560" y="2331720"/>
            <a:ext cx="2011680"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24712" y="2331720"/>
            <a:ext cx="1865376" cy="914400"/>
          </a:xfrm>
          <a:prstGeom prst="rect">
            <a:avLst/>
          </a:prstGeom>
          <a:noFill/>
        </p:spPr>
        <p:txBody>
          <a:bodyPr wrap="square" lIns="0" tIns="0" rIns="0" bIns="0" anchor="ctr">
            <a:spAutoFit/>
          </a:bodyPr>
          <a:lstStyle/>
          <a:p>
            <a:pPr algn="ctr">
              <a:lnSpc>
                <a:spcPct val="108000"/>
              </a:lnSpc>
            </a:pPr>
            <a:r>
              <a:rPr sz="1150" b="1" i="0">
                <a:solidFill>
                  <a:srgbClr val="FFFFFF"/>
                </a:solidFill>
                <a:latin typeface="Segoe UI"/>
              </a:rPr>
              <a:t>Student's browser</a:t>
            </a:r>
          </a:p>
        </p:txBody>
      </p:sp>
      <p:sp>
        <p:nvSpPr>
          <p:cNvPr id="14" name="Right Arrow 13"/>
          <p:cNvSpPr/>
          <p:nvPr/>
        </p:nvSpPr>
        <p:spPr>
          <a:xfrm>
            <a:off x="3127248" y="2706624"/>
            <a:ext cx="310896"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502152" y="2331720"/>
            <a:ext cx="2011680"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75304" y="2331720"/>
            <a:ext cx="1865376" cy="914400"/>
          </a:xfrm>
          <a:prstGeom prst="rect">
            <a:avLst/>
          </a:prstGeom>
          <a:noFill/>
        </p:spPr>
        <p:txBody>
          <a:bodyPr wrap="square" lIns="0" tIns="0" rIns="0" bIns="0" anchor="ctr">
            <a:spAutoFit/>
          </a:bodyPr>
          <a:lstStyle/>
          <a:p>
            <a:pPr algn="ctr">
              <a:lnSpc>
                <a:spcPct val="108000"/>
              </a:lnSpc>
            </a:pPr>
            <a:r>
              <a:rPr sz="1150" b="1" i="0">
                <a:solidFill>
                  <a:srgbClr val="FFFFFF"/>
                </a:solidFill>
                <a:latin typeface="Segoe UI"/>
              </a:rPr>
              <a:t>Our server</a:t>
            </a:r>
          </a:p>
        </p:txBody>
      </p:sp>
      <p:sp>
        <p:nvSpPr>
          <p:cNvPr id="17" name="Right Arrow 16"/>
          <p:cNvSpPr/>
          <p:nvPr/>
        </p:nvSpPr>
        <p:spPr>
          <a:xfrm>
            <a:off x="5577840" y="2706624"/>
            <a:ext cx="310896"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952744" y="2331720"/>
            <a:ext cx="2011680"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025896" y="2331720"/>
            <a:ext cx="1865376" cy="914400"/>
          </a:xfrm>
          <a:prstGeom prst="rect">
            <a:avLst/>
          </a:prstGeom>
          <a:noFill/>
        </p:spPr>
        <p:txBody>
          <a:bodyPr wrap="square" lIns="0" tIns="0" rIns="0" bIns="0" anchor="ctr">
            <a:spAutoFit/>
          </a:bodyPr>
          <a:lstStyle/>
          <a:p>
            <a:pPr algn="ctr">
              <a:lnSpc>
                <a:spcPct val="108000"/>
              </a:lnSpc>
            </a:pPr>
            <a:r>
              <a:rPr sz="1150" b="1" i="0">
                <a:solidFill>
                  <a:srgbClr val="FFFFFF"/>
                </a:solidFill>
                <a:latin typeface="Segoe UI"/>
              </a:rPr>
              <a:t>Glue the big string</a:t>
            </a:r>
          </a:p>
        </p:txBody>
      </p:sp>
      <p:sp>
        <p:nvSpPr>
          <p:cNvPr id="20" name="Right Arrow 19"/>
          <p:cNvSpPr/>
          <p:nvPr/>
        </p:nvSpPr>
        <p:spPr>
          <a:xfrm>
            <a:off x="8028431" y="2706624"/>
            <a:ext cx="310896"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8823960" y="2331720"/>
            <a:ext cx="2331720" cy="91440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897112" y="2692868"/>
            <a:ext cx="2185415" cy="192104"/>
          </a:xfrm>
          <a:prstGeom prst="rect">
            <a:avLst/>
          </a:prstGeom>
          <a:noFill/>
        </p:spPr>
        <p:txBody>
          <a:bodyPr wrap="square" lIns="0" tIns="0" rIns="0" bIns="0" anchor="ctr">
            <a:spAutoFit/>
          </a:bodyPr>
          <a:lstStyle/>
          <a:p>
            <a:pPr algn="ctr">
              <a:lnSpc>
                <a:spcPct val="108000"/>
              </a:lnSpc>
            </a:pPr>
            <a:r>
              <a:rPr lang="en-AU" sz="1250" b="1" i="0" dirty="0">
                <a:solidFill>
                  <a:srgbClr val="FFFFFF"/>
                </a:solidFill>
                <a:latin typeface="Segoe UI"/>
              </a:rPr>
              <a:t>OpenAI API</a:t>
            </a:r>
            <a:endParaRPr sz="1250" b="1" i="0" dirty="0">
              <a:solidFill>
                <a:srgbClr val="FFFFFF"/>
              </a:solidFill>
              <a:latin typeface="Segoe UI"/>
            </a:endParaRPr>
          </a:p>
        </p:txBody>
      </p:sp>
      <p:sp>
        <p:nvSpPr>
          <p:cNvPr id="23" name="Rounded Rectangle 22"/>
          <p:cNvSpPr/>
          <p:nvPr/>
        </p:nvSpPr>
        <p:spPr>
          <a:xfrm>
            <a:off x="868680" y="2057400"/>
            <a:ext cx="7269480" cy="1463040"/>
          </a:xfrm>
          <a:prstGeom prst="roundRect">
            <a:avLst>
              <a:gd name="adj" fmla="val 8000"/>
            </a:avLst>
          </a:prstGeom>
          <a:noFill/>
          <a:ln w="22225">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8680" y="3611880"/>
            <a:ext cx="7269480" cy="365760"/>
          </a:xfrm>
          <a:prstGeom prst="rect">
            <a:avLst/>
          </a:prstGeom>
          <a:noFill/>
        </p:spPr>
        <p:txBody>
          <a:bodyPr wrap="square" lIns="0" tIns="0" rIns="0" bIns="0" anchor="t">
            <a:spAutoFit/>
          </a:bodyPr>
          <a:lstStyle/>
          <a:p>
            <a:pPr algn="ctr"/>
            <a:r>
              <a:rPr sz="1200" b="1" i="0">
                <a:solidFill>
                  <a:srgbClr val="2DD4BF"/>
                </a:solidFill>
                <a:latin typeface="Segoe UI"/>
              </a:rPr>
              <a:t>ORDINARY CODE — deterministic</a:t>
            </a:r>
          </a:p>
        </p:txBody>
      </p:sp>
      <p:sp>
        <p:nvSpPr>
          <p:cNvPr id="25" name="Rounded Rectangle 24"/>
          <p:cNvSpPr/>
          <p:nvPr/>
        </p:nvSpPr>
        <p:spPr>
          <a:xfrm>
            <a:off x="8641080" y="2057400"/>
            <a:ext cx="2697480" cy="1463040"/>
          </a:xfrm>
          <a:prstGeom prst="roundRect">
            <a:avLst>
              <a:gd name="adj" fmla="val 8000"/>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641080" y="3611880"/>
            <a:ext cx="2697480" cy="365760"/>
          </a:xfrm>
          <a:prstGeom prst="rect">
            <a:avLst/>
          </a:prstGeom>
          <a:noFill/>
        </p:spPr>
        <p:txBody>
          <a:bodyPr wrap="square" lIns="0" tIns="0" rIns="0" bIns="0" anchor="t">
            <a:spAutoFit/>
          </a:bodyPr>
          <a:lstStyle/>
          <a:p>
            <a:pPr algn="ctr"/>
            <a:r>
              <a:rPr sz="1200" b="1" i="0">
                <a:solidFill>
                  <a:srgbClr val="F5B342"/>
                </a:solidFill>
                <a:latin typeface="Segoe UI"/>
              </a:rPr>
              <a:t>AI — non-deterministic</a:t>
            </a:r>
          </a:p>
        </p:txBody>
      </p:sp>
      <p:sp>
        <p:nvSpPr>
          <p:cNvPr id="31" name="TextBox 30"/>
          <p:cNvSpPr txBox="1"/>
          <p:nvPr/>
        </p:nvSpPr>
        <p:spPr>
          <a:xfrm>
            <a:off x="822960" y="5394960"/>
            <a:ext cx="10607040" cy="457200"/>
          </a:xfrm>
          <a:prstGeom prst="rect">
            <a:avLst/>
          </a:prstGeom>
          <a:noFill/>
        </p:spPr>
        <p:txBody>
          <a:bodyPr wrap="square" lIns="0" tIns="0" rIns="0" bIns="0" anchor="t">
            <a:spAutoFit/>
          </a:bodyPr>
          <a:lstStyle/>
          <a:p>
            <a:pPr algn="l"/>
            <a:r>
              <a:rPr sz="1500" b="1" i="0">
                <a:solidFill>
                  <a:srgbClr val="F5B342"/>
                </a:solidFill>
                <a:latin typeface="Segoe UI"/>
              </a:rPr>
              <a:t>An “AI system” is mostly NOT AI — one AI box, surrounded by ordinary software.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2  ·  IT BREAKS</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One question, two million words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691640"/>
            <a:ext cx="2926080" cy="475488"/>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87552" y="1691640"/>
            <a:ext cx="2596896" cy="475488"/>
          </a:xfrm>
          <a:prstGeom prst="rect">
            <a:avLst/>
          </a:prstGeom>
          <a:noFill/>
        </p:spPr>
        <p:txBody>
          <a:bodyPr wrap="square" lIns="0" tIns="0" rIns="0" bIns="0" anchor="ctr">
            <a:spAutoFit/>
          </a:bodyPr>
          <a:lstStyle/>
          <a:p>
            <a:pPr algn="l"/>
            <a:r>
              <a:rPr sz="1150" b="1" i="1">
                <a:solidFill>
                  <a:srgbClr val="E06C6C"/>
                </a:solidFill>
                <a:latin typeface="Segoe UI"/>
              </a:rPr>
              <a:t>✗ too slow to be usable</a:t>
            </a:r>
          </a:p>
        </p:txBody>
      </p:sp>
      <p:sp>
        <p:nvSpPr>
          <p:cNvPr id="14" name="Rounded Rectangle 13"/>
          <p:cNvSpPr/>
          <p:nvPr/>
        </p:nvSpPr>
        <p:spPr>
          <a:xfrm>
            <a:off x="822960" y="2423160"/>
            <a:ext cx="3108960" cy="2011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51560" y="2606040"/>
            <a:ext cx="2651760" cy="365760"/>
          </a:xfrm>
          <a:prstGeom prst="rect">
            <a:avLst/>
          </a:prstGeom>
          <a:noFill/>
        </p:spPr>
        <p:txBody>
          <a:bodyPr wrap="square" lIns="0" tIns="0" rIns="0" bIns="0" anchor="t">
            <a:spAutoFit/>
          </a:bodyPr>
          <a:lstStyle/>
          <a:p>
            <a:pPr algn="l"/>
            <a:r>
              <a:rPr sz="1200" b="1" i="0">
                <a:solidFill>
                  <a:srgbClr val="9FB3C8"/>
                </a:solidFill>
                <a:latin typeface="Segoe UI"/>
              </a:rPr>
              <a:t>the KB</a:t>
            </a:r>
          </a:p>
        </p:txBody>
      </p:sp>
      <p:sp>
        <p:nvSpPr>
          <p:cNvPr id="16" name="TextBox 15"/>
          <p:cNvSpPr txBox="1"/>
          <p:nvPr/>
        </p:nvSpPr>
        <p:spPr>
          <a:xfrm>
            <a:off x="1051560" y="2971800"/>
            <a:ext cx="2651760" cy="548640"/>
          </a:xfrm>
          <a:prstGeom prst="rect">
            <a:avLst/>
          </a:prstGeom>
          <a:noFill/>
        </p:spPr>
        <p:txBody>
          <a:bodyPr wrap="square" lIns="0" tIns="0" rIns="0" bIns="0" anchor="t">
            <a:spAutoFit/>
          </a:bodyPr>
          <a:lstStyle/>
          <a:p>
            <a:pPr algn="l"/>
            <a:r>
              <a:rPr sz="2000" b="1" i="0">
                <a:solidFill>
                  <a:srgbClr val="FFFFFF"/>
                </a:solidFill>
                <a:latin typeface="Segoe UI"/>
              </a:rPr>
              <a:t>300 PDFs</a:t>
            </a:r>
          </a:p>
        </p:txBody>
      </p:sp>
      <p:sp>
        <p:nvSpPr>
          <p:cNvPr id="17" name="TextBox 16"/>
          <p:cNvSpPr txBox="1"/>
          <p:nvPr/>
        </p:nvSpPr>
        <p:spPr>
          <a:xfrm>
            <a:off x="1051560" y="3566160"/>
            <a:ext cx="2651760" cy="548640"/>
          </a:xfrm>
          <a:prstGeom prst="rect">
            <a:avLst/>
          </a:prstGeom>
          <a:noFill/>
        </p:spPr>
        <p:txBody>
          <a:bodyPr wrap="square" lIns="0" tIns="0" rIns="0" bIns="0" anchor="t">
            <a:spAutoFit/>
          </a:bodyPr>
          <a:lstStyle/>
          <a:p>
            <a:pPr algn="l"/>
            <a:r>
              <a:rPr sz="1500" b="1" i="0">
                <a:solidFill>
                  <a:srgbClr val="F5B342"/>
                </a:solidFill>
                <a:latin typeface="Segoe UI"/>
              </a:rPr>
              <a:t>≈ 2,000,000 words</a:t>
            </a:r>
          </a:p>
        </p:txBody>
      </p:sp>
      <p:sp>
        <p:nvSpPr>
          <p:cNvPr id="18" name="Right Arrow 17"/>
          <p:cNvSpPr/>
          <p:nvPr/>
        </p:nvSpPr>
        <p:spPr>
          <a:xfrm>
            <a:off x="4069080" y="3291840"/>
            <a:ext cx="6400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4846320" y="2423160"/>
            <a:ext cx="3108960" cy="201168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74920" y="2606040"/>
            <a:ext cx="2651760" cy="365760"/>
          </a:xfrm>
          <a:prstGeom prst="rect">
            <a:avLst/>
          </a:prstGeom>
          <a:noFill/>
        </p:spPr>
        <p:txBody>
          <a:bodyPr wrap="square" lIns="0" tIns="0" rIns="0" bIns="0" anchor="t">
            <a:spAutoFit/>
          </a:bodyPr>
          <a:lstStyle/>
          <a:p>
            <a:pPr algn="l"/>
            <a:r>
              <a:rPr sz="1200" b="1" i="0">
                <a:solidFill>
                  <a:srgbClr val="F5B342"/>
                </a:solidFill>
                <a:latin typeface="Segoe UI"/>
              </a:rPr>
              <a:t>the prompt</a:t>
            </a:r>
          </a:p>
        </p:txBody>
      </p:sp>
      <p:sp>
        <p:nvSpPr>
          <p:cNvPr id="21" name="TextBox 20"/>
          <p:cNvSpPr txBox="1"/>
          <p:nvPr/>
        </p:nvSpPr>
        <p:spPr>
          <a:xfrm>
            <a:off x="5074920" y="2971800"/>
            <a:ext cx="2651760" cy="1280160"/>
          </a:xfrm>
          <a:prstGeom prst="rect">
            <a:avLst/>
          </a:prstGeom>
          <a:noFill/>
        </p:spPr>
        <p:txBody>
          <a:bodyPr wrap="square" lIns="0" tIns="0" rIns="0" bIns="0" anchor="t">
            <a:spAutoFit/>
          </a:bodyPr>
          <a:lstStyle/>
          <a:p>
            <a:pPr algn="l">
              <a:lnSpc>
                <a:spcPct val="130000"/>
              </a:lnSpc>
            </a:pPr>
            <a:r>
              <a:rPr sz="1350" b="1" i="0">
                <a:solidFill>
                  <a:srgbClr val="FFFFFF"/>
                </a:solidFill>
                <a:latin typeface="Segoe UI"/>
              </a:rPr>
              <a:t>ALL of it, for EVERY question</a:t>
            </a:r>
          </a:p>
          <a:p>
            <a:pPr algn="l"/>
            <a:r>
              <a:rPr sz="1100" b="0" i="1">
                <a:solidFill>
                  <a:srgbClr val="9FB3C8"/>
                </a:solidFill>
                <a:latin typeface="Segoe UI"/>
              </a:rPr>
              <a:t>even “what are the library hours?”</a:t>
            </a:r>
          </a:p>
        </p:txBody>
      </p:sp>
      <p:sp>
        <p:nvSpPr>
          <p:cNvPr id="22" name="Right Arrow 21"/>
          <p:cNvSpPr/>
          <p:nvPr/>
        </p:nvSpPr>
        <p:spPr>
          <a:xfrm>
            <a:off x="8092440" y="3291840"/>
            <a:ext cx="6400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869680" y="2423160"/>
            <a:ext cx="2697480" cy="201168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098280" y="2606040"/>
            <a:ext cx="2240280" cy="365760"/>
          </a:xfrm>
          <a:prstGeom prst="rect">
            <a:avLst/>
          </a:prstGeom>
          <a:noFill/>
        </p:spPr>
        <p:txBody>
          <a:bodyPr wrap="square" lIns="0" tIns="0" rIns="0" bIns="0" anchor="t">
            <a:spAutoFit/>
          </a:bodyPr>
          <a:lstStyle/>
          <a:p>
            <a:pPr algn="l"/>
            <a:r>
              <a:rPr sz="1200" b="1" i="0">
                <a:solidFill>
                  <a:srgbClr val="E06C6C"/>
                </a:solidFill>
                <a:latin typeface="Segoe UI"/>
              </a:rPr>
              <a:t>the result</a:t>
            </a:r>
          </a:p>
        </p:txBody>
      </p:sp>
      <p:sp>
        <p:nvSpPr>
          <p:cNvPr id="25" name="TextBox 24"/>
          <p:cNvSpPr txBox="1"/>
          <p:nvPr/>
        </p:nvSpPr>
        <p:spPr>
          <a:xfrm>
            <a:off x="9098280" y="2971800"/>
            <a:ext cx="2240280" cy="548640"/>
          </a:xfrm>
          <a:prstGeom prst="rect">
            <a:avLst/>
          </a:prstGeom>
          <a:noFill/>
        </p:spPr>
        <p:txBody>
          <a:bodyPr wrap="square" lIns="0" tIns="0" rIns="0" bIns="0" anchor="t">
            <a:spAutoFit/>
          </a:bodyPr>
          <a:lstStyle/>
          <a:p>
            <a:pPr algn="l"/>
            <a:r>
              <a:rPr sz="2000" b="1" i="0">
                <a:solidFill>
                  <a:srgbClr val="E06C6C"/>
                </a:solidFill>
                <a:latin typeface="Segoe UI"/>
              </a:rPr>
              <a:t>~1 minute</a:t>
            </a:r>
          </a:p>
        </p:txBody>
      </p:sp>
      <p:sp>
        <p:nvSpPr>
          <p:cNvPr id="26" name="TextBox 25"/>
          <p:cNvSpPr txBox="1"/>
          <p:nvPr/>
        </p:nvSpPr>
        <p:spPr>
          <a:xfrm>
            <a:off x="9098280" y="3566160"/>
            <a:ext cx="2240280" cy="777240"/>
          </a:xfrm>
          <a:prstGeom prst="rect">
            <a:avLst/>
          </a:prstGeom>
          <a:noFill/>
        </p:spPr>
        <p:txBody>
          <a:bodyPr wrap="square" lIns="0" tIns="0" rIns="0" bIns="0" anchor="t">
            <a:spAutoFit/>
          </a:bodyPr>
          <a:lstStyle/>
          <a:p>
            <a:pPr algn="l">
              <a:lnSpc>
                <a:spcPct val="120000"/>
              </a:lnSpc>
            </a:pPr>
            <a:r>
              <a:rPr sz="1050" b="0" i="1">
                <a:solidFill>
                  <a:srgbClr val="9FB3C8"/>
                </a:solidFill>
                <a:latin typeface="Segoe UI"/>
              </a:rPr>
              <a:t>per answer — my first real bot worked exactly like this</a:t>
            </a:r>
          </a:p>
        </p:txBody>
      </p:sp>
      <p:sp>
        <p:nvSpPr>
          <p:cNvPr id="27" name="TextBox 26"/>
          <p:cNvSpPr txBox="1"/>
          <p:nvPr/>
        </p:nvSpPr>
        <p:spPr>
          <a:xfrm>
            <a:off x="822960" y="4663440"/>
            <a:ext cx="10607040" cy="365760"/>
          </a:xfrm>
          <a:prstGeom prst="rect">
            <a:avLst/>
          </a:prstGeom>
          <a:noFill/>
        </p:spPr>
        <p:txBody>
          <a:bodyPr wrap="square" lIns="0" tIns="0" rIns="0" bIns="0" anchor="t">
            <a:spAutoFit/>
          </a:bodyPr>
          <a:lstStyle/>
          <a:p>
            <a:pPr algn="l"/>
            <a:r>
              <a:rPr sz="1250" b="0" i="1">
                <a:solidFill>
                  <a:srgbClr val="9FB3C8"/>
                </a:solidFill>
                <a:latin typeface="Segoe UI"/>
              </a:rPr>
              <a:t>Almost everything we send is irrelevant to the question being asked.</a:t>
            </a:r>
          </a:p>
        </p:txBody>
      </p:sp>
      <p:sp>
        <p:nvSpPr>
          <p:cNvPr id="28" name="Rounded Rectangle 27"/>
          <p:cNvSpPr/>
          <p:nvPr/>
        </p:nvSpPr>
        <p:spPr>
          <a:xfrm>
            <a:off x="822960" y="5166360"/>
            <a:ext cx="6720840" cy="9601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51560" y="5546745"/>
            <a:ext cx="6263640" cy="199350"/>
          </a:xfrm>
          <a:prstGeom prst="rect">
            <a:avLst/>
          </a:prstGeom>
          <a:noFill/>
        </p:spPr>
        <p:txBody>
          <a:bodyPr wrap="square" lIns="0" tIns="0" rIns="0" bIns="0" anchor="ctr">
            <a:spAutoFit/>
          </a:bodyPr>
          <a:lstStyle/>
          <a:p>
            <a:pPr algn="l">
              <a:lnSpc>
                <a:spcPct val="125000"/>
              </a:lnSpc>
            </a:pPr>
            <a:r>
              <a:rPr sz="1150" b="0" i="0" dirty="0">
                <a:solidFill>
                  <a:srgbClr val="FFFFFF"/>
                </a:solidFill>
                <a:latin typeface="Segoe UI"/>
              </a:rPr>
              <a:t>The model stays a MAGIC BOX today — how it works inside is a field of its own.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3  ·  SEARCH FIRST</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Send less: pick the right pieces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365760"/>
          </a:xfrm>
          <a:prstGeom prst="rect">
            <a:avLst/>
          </a:prstGeom>
          <a:noFill/>
        </p:spPr>
        <p:txBody>
          <a:bodyPr wrap="square" lIns="0" tIns="0" rIns="0" bIns="0" anchor="t">
            <a:spAutoFit/>
          </a:bodyPr>
          <a:lstStyle/>
          <a:p>
            <a:pPr algn="l"/>
            <a:r>
              <a:rPr sz="1350" b="0" i="1">
                <a:solidFill>
                  <a:srgbClr val="9FB3C8"/>
                </a:solidFill>
                <a:latin typeface="Segoe UI"/>
              </a:rPr>
              <a:t>For any one question, only a few paragraphs of the whole KB matter. Send those.</a:t>
            </a:r>
          </a:p>
        </p:txBody>
      </p:sp>
      <p:sp>
        <p:nvSpPr>
          <p:cNvPr id="13" name="Rounded Rectangle 12"/>
          <p:cNvSpPr/>
          <p:nvPr/>
        </p:nvSpPr>
        <p:spPr>
          <a:xfrm>
            <a:off x="822960" y="2240280"/>
            <a:ext cx="1559051"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96112" y="2240280"/>
            <a:ext cx="1412748" cy="914400"/>
          </a:xfrm>
          <a:prstGeom prst="rect">
            <a:avLst/>
          </a:prstGeom>
          <a:noFill/>
        </p:spPr>
        <p:txBody>
          <a:bodyPr wrap="square" lIns="0" tIns="0" rIns="0" bIns="0" anchor="ctr">
            <a:spAutoFit/>
          </a:bodyPr>
          <a:lstStyle/>
          <a:p>
            <a:pPr algn="ctr">
              <a:lnSpc>
                <a:spcPct val="108000"/>
              </a:lnSpc>
            </a:pPr>
            <a:r>
              <a:rPr sz="1050" b="1" i="0">
                <a:solidFill>
                  <a:srgbClr val="FFFFFF"/>
                </a:solidFill>
                <a:latin typeface="Segoe UI"/>
              </a:rPr>
              <a:t>KB
documents</a:t>
            </a:r>
          </a:p>
        </p:txBody>
      </p:sp>
      <p:sp>
        <p:nvSpPr>
          <p:cNvPr id="15" name="Right Arrow 14"/>
          <p:cNvSpPr/>
          <p:nvPr/>
        </p:nvSpPr>
        <p:spPr>
          <a:xfrm>
            <a:off x="2400300"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2619756" y="2240280"/>
            <a:ext cx="1559051"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692908" y="2240280"/>
            <a:ext cx="1412748" cy="914400"/>
          </a:xfrm>
          <a:prstGeom prst="rect">
            <a:avLst/>
          </a:prstGeom>
          <a:noFill/>
        </p:spPr>
        <p:txBody>
          <a:bodyPr wrap="square" lIns="0" tIns="0" rIns="0" bIns="0" anchor="ctr">
            <a:spAutoFit/>
          </a:bodyPr>
          <a:lstStyle/>
          <a:p>
            <a:pPr algn="ctr">
              <a:lnSpc>
                <a:spcPct val="108000"/>
              </a:lnSpc>
            </a:pPr>
            <a:r>
              <a:rPr sz="1050" b="1" i="0" dirty="0">
                <a:solidFill>
                  <a:srgbClr val="FFFFFF"/>
                </a:solidFill>
                <a:latin typeface="Segoe UI"/>
              </a:rPr>
              <a:t>split into
chunks</a:t>
            </a:r>
          </a:p>
        </p:txBody>
      </p:sp>
      <p:sp>
        <p:nvSpPr>
          <p:cNvPr id="18" name="Right Arrow 17"/>
          <p:cNvSpPr/>
          <p:nvPr/>
        </p:nvSpPr>
        <p:spPr>
          <a:xfrm>
            <a:off x="4197095"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4416552" y="2240280"/>
            <a:ext cx="1559051"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89704" y="2240280"/>
            <a:ext cx="1412748" cy="914400"/>
          </a:xfrm>
          <a:prstGeom prst="rect">
            <a:avLst/>
          </a:prstGeom>
          <a:noFill/>
        </p:spPr>
        <p:txBody>
          <a:bodyPr wrap="square" lIns="0" tIns="0" rIns="0" bIns="0" anchor="ctr">
            <a:spAutoFit/>
          </a:bodyPr>
          <a:lstStyle/>
          <a:p>
            <a:pPr algn="ctr">
              <a:lnSpc>
                <a:spcPct val="108000"/>
              </a:lnSpc>
            </a:pPr>
            <a:r>
              <a:rPr sz="1050" b="1" i="0">
                <a:solidFill>
                  <a:srgbClr val="FFFFFF"/>
                </a:solidFill>
                <a:latin typeface="Segoe UI"/>
              </a:rPr>
              <a:t>pick the top 5
for this question</a:t>
            </a:r>
          </a:p>
        </p:txBody>
      </p:sp>
      <p:sp>
        <p:nvSpPr>
          <p:cNvPr id="21" name="Right Arrow 20"/>
          <p:cNvSpPr/>
          <p:nvPr/>
        </p:nvSpPr>
        <p:spPr>
          <a:xfrm>
            <a:off x="5993892"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213348" y="2240280"/>
            <a:ext cx="1559051"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286500" y="2240280"/>
            <a:ext cx="1412748" cy="914400"/>
          </a:xfrm>
          <a:prstGeom prst="rect">
            <a:avLst/>
          </a:prstGeom>
          <a:noFill/>
        </p:spPr>
        <p:txBody>
          <a:bodyPr wrap="square" lIns="0" tIns="0" rIns="0" bIns="0" anchor="ctr">
            <a:spAutoFit/>
          </a:bodyPr>
          <a:lstStyle/>
          <a:p>
            <a:pPr algn="ctr">
              <a:lnSpc>
                <a:spcPct val="108000"/>
              </a:lnSpc>
            </a:pPr>
            <a:r>
              <a:rPr sz="1050" b="1" i="0">
                <a:solidFill>
                  <a:srgbClr val="FFFFFF"/>
                </a:solidFill>
                <a:latin typeface="Segoe UI"/>
              </a:rPr>
              <a:t>prompt:
5 chunks + question</a:t>
            </a:r>
          </a:p>
        </p:txBody>
      </p:sp>
      <p:sp>
        <p:nvSpPr>
          <p:cNvPr id="24" name="Right Arrow 23"/>
          <p:cNvSpPr/>
          <p:nvPr/>
        </p:nvSpPr>
        <p:spPr>
          <a:xfrm>
            <a:off x="7790688"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8010144" y="2240280"/>
            <a:ext cx="1559051"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083296" y="2616784"/>
            <a:ext cx="1412748" cy="161391"/>
          </a:xfrm>
          <a:prstGeom prst="rect">
            <a:avLst/>
          </a:prstGeom>
          <a:noFill/>
        </p:spPr>
        <p:txBody>
          <a:bodyPr wrap="square" lIns="0" tIns="0" rIns="0" bIns="0" anchor="ctr">
            <a:spAutoFit/>
          </a:bodyPr>
          <a:lstStyle/>
          <a:p>
            <a:pPr algn="ctr">
              <a:lnSpc>
                <a:spcPct val="108000"/>
              </a:lnSpc>
            </a:pPr>
            <a:r>
              <a:rPr lang="en-AU" sz="1050" b="1" i="0" dirty="0">
                <a:solidFill>
                  <a:srgbClr val="FFFFFF"/>
                </a:solidFill>
                <a:latin typeface="Segoe UI"/>
              </a:rPr>
              <a:t>OpenAI API</a:t>
            </a:r>
            <a:endParaRPr sz="1050" b="1" i="0" dirty="0">
              <a:solidFill>
                <a:srgbClr val="FFFFFF"/>
              </a:solidFill>
              <a:latin typeface="Segoe UI"/>
            </a:endParaRPr>
          </a:p>
        </p:txBody>
      </p:sp>
      <p:sp>
        <p:nvSpPr>
          <p:cNvPr id="27" name="Right Arrow 26"/>
          <p:cNvSpPr/>
          <p:nvPr/>
        </p:nvSpPr>
        <p:spPr>
          <a:xfrm>
            <a:off x="9587484"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806940" y="2240280"/>
            <a:ext cx="1559051"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880092" y="2240280"/>
            <a:ext cx="1412748" cy="914400"/>
          </a:xfrm>
          <a:prstGeom prst="rect">
            <a:avLst/>
          </a:prstGeom>
          <a:noFill/>
        </p:spPr>
        <p:txBody>
          <a:bodyPr wrap="square" lIns="0" tIns="0" rIns="0" bIns="0" anchor="ctr">
            <a:spAutoFit/>
          </a:bodyPr>
          <a:lstStyle/>
          <a:p>
            <a:pPr algn="ctr">
              <a:lnSpc>
                <a:spcPct val="108000"/>
              </a:lnSpc>
            </a:pPr>
            <a:r>
              <a:rPr sz="1050" b="1" i="0">
                <a:solidFill>
                  <a:srgbClr val="FFFFFF"/>
                </a:solidFill>
                <a:latin typeface="Segoe UI"/>
              </a:rPr>
              <a:t>answer</a:t>
            </a:r>
          </a:p>
        </p:txBody>
      </p:sp>
      <p:sp>
        <p:nvSpPr>
          <p:cNvPr id="30" name="Rounded Rectangle 29"/>
          <p:cNvSpPr/>
          <p:nvPr/>
        </p:nvSpPr>
        <p:spPr>
          <a:xfrm>
            <a:off x="822960" y="4807724"/>
            <a:ext cx="6492240" cy="7315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05840" y="4807724"/>
            <a:ext cx="6126479" cy="73152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Chunk</a:t>
            </a:r>
            <a:r>
              <a:rPr sz="1050">
                <a:solidFill>
                  <a:srgbClr val="9FB3C8"/>
                </a:solidFill>
                <a:latin typeface="Segoe UI"/>
              </a:rPr>
              <a:t>  —  a small passage cut from a document — a few paragraphs, ideally one topic.</a:t>
            </a:r>
          </a:p>
        </p:txBody>
      </p:sp>
      <p:sp>
        <p:nvSpPr>
          <p:cNvPr id="32" name="Rounded Rectangle 31"/>
          <p:cNvSpPr/>
          <p:nvPr/>
        </p:nvSpPr>
        <p:spPr>
          <a:xfrm>
            <a:off x="7543800" y="4807724"/>
            <a:ext cx="3840480" cy="731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772400" y="4807724"/>
            <a:ext cx="3383280" cy="731520"/>
          </a:xfrm>
          <a:prstGeom prst="rect">
            <a:avLst/>
          </a:prstGeom>
          <a:noFill/>
        </p:spPr>
        <p:txBody>
          <a:bodyPr wrap="square" lIns="0" tIns="0" rIns="0" bIns="0" anchor="ctr">
            <a:spAutoFit/>
          </a:bodyPr>
          <a:lstStyle/>
          <a:p>
            <a:pPr algn="l"/>
            <a:r>
              <a:rPr sz="1250" b="1" i="0">
                <a:solidFill>
                  <a:srgbClr val="2DD4BF"/>
                </a:solidFill>
                <a:latin typeface="Segoe UI"/>
              </a:rPr>
              <a:t>200 pages  →  2 pages per question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3  ·  SEARCH FIRST</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Finding the pieces — no AI needed</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737360"/>
            <a:ext cx="6949440" cy="548640"/>
          </a:xfrm>
          <a:prstGeom prst="roundRect">
            <a:avLst>
              <a:gd name="adj" fmla="val 30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97280" y="1737360"/>
            <a:ext cx="6400800" cy="548640"/>
          </a:xfrm>
          <a:prstGeom prst="rect">
            <a:avLst/>
          </a:prstGeom>
          <a:noFill/>
        </p:spPr>
        <p:txBody>
          <a:bodyPr wrap="square" lIns="0" tIns="0" rIns="0" bIns="0" anchor="ctr">
            <a:spAutoFit/>
          </a:bodyPr>
          <a:lstStyle/>
          <a:p>
            <a:pPr algn="l"/>
            <a:r>
              <a:rPr sz="1350" b="1" i="1">
                <a:solidFill>
                  <a:srgbClr val="FFFFFF"/>
                </a:solidFill>
                <a:latin typeface="Segoe UI"/>
              </a:rPr>
              <a:t>“What are the library opening hours?”</a:t>
            </a:r>
          </a:p>
        </p:txBody>
      </p:sp>
      <p:sp>
        <p:nvSpPr>
          <p:cNvPr id="14" name="TextBox 13"/>
          <p:cNvSpPr txBox="1"/>
          <p:nvPr/>
        </p:nvSpPr>
        <p:spPr>
          <a:xfrm>
            <a:off x="822960" y="2468880"/>
            <a:ext cx="4572000" cy="320040"/>
          </a:xfrm>
          <a:prstGeom prst="rect">
            <a:avLst/>
          </a:prstGeom>
          <a:noFill/>
        </p:spPr>
        <p:txBody>
          <a:bodyPr wrap="square" lIns="0" tIns="0" rIns="0" bIns="0" anchor="t">
            <a:spAutoFit/>
          </a:bodyPr>
          <a:lstStyle/>
          <a:p>
            <a:pPr algn="l"/>
            <a:r>
              <a:rPr sz="1000" b="1" i="0">
                <a:solidFill>
                  <a:srgbClr val="9FB3C8"/>
                </a:solidFill>
                <a:latin typeface="Segoe UI"/>
              </a:rPr>
              <a:t>THE KB, AS ACTUALLY STORED — A TABLE OF CHUNKS</a:t>
            </a:r>
          </a:p>
        </p:txBody>
      </p:sp>
      <p:sp>
        <p:nvSpPr>
          <p:cNvPr id="15" name="Rounded Rectangle 14"/>
          <p:cNvSpPr/>
          <p:nvPr/>
        </p:nvSpPr>
        <p:spPr>
          <a:xfrm>
            <a:off x="822960" y="2834640"/>
            <a:ext cx="7955279" cy="603504"/>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024128" y="2953512"/>
            <a:ext cx="365760" cy="36576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0B1B33"/>
                </a:solidFill>
                <a:latin typeface="Segoe UI"/>
              </a:rPr>
              <a:t>A</a:t>
            </a:r>
          </a:p>
        </p:txBody>
      </p:sp>
      <p:sp>
        <p:nvSpPr>
          <p:cNvPr id="17" name="TextBox 16"/>
          <p:cNvSpPr txBox="1"/>
          <p:nvPr/>
        </p:nvSpPr>
        <p:spPr>
          <a:xfrm>
            <a:off x="1508760" y="2834640"/>
            <a:ext cx="4160520" cy="603504"/>
          </a:xfrm>
          <a:prstGeom prst="rect">
            <a:avLst/>
          </a:prstGeom>
          <a:noFill/>
        </p:spPr>
        <p:txBody>
          <a:bodyPr wrap="square" lIns="0" tIns="0" rIns="0" bIns="0" anchor="ctr">
            <a:spAutoFit/>
          </a:bodyPr>
          <a:lstStyle/>
          <a:p>
            <a:pPr algn="l">
              <a:lnSpc>
                <a:spcPct val="110000"/>
              </a:lnSpc>
            </a:pPr>
            <a:r>
              <a:rPr sz="1050" b="0" i="0">
                <a:solidFill>
                  <a:srgbClr val="FFFFFF"/>
                </a:solidFill>
                <a:latin typeface="Segoe UI"/>
              </a:rPr>
              <a:t>“Library opening hours: 8am–10pm on term days.”</a:t>
            </a:r>
          </a:p>
        </p:txBody>
      </p:sp>
      <p:sp>
        <p:nvSpPr>
          <p:cNvPr id="18" name="TextBox 17"/>
          <p:cNvSpPr txBox="1"/>
          <p:nvPr/>
        </p:nvSpPr>
        <p:spPr>
          <a:xfrm>
            <a:off x="5760720" y="2834640"/>
            <a:ext cx="1783080" cy="603504"/>
          </a:xfrm>
          <a:prstGeom prst="rect">
            <a:avLst/>
          </a:prstGeom>
          <a:noFill/>
        </p:spPr>
        <p:txBody>
          <a:bodyPr wrap="square" lIns="0" tIns="0" rIns="0" bIns="0" anchor="ctr">
            <a:spAutoFit/>
          </a:bodyPr>
          <a:lstStyle/>
          <a:p>
            <a:pPr algn="l">
              <a:lnSpc>
                <a:spcPct val="110000"/>
              </a:lnSpc>
            </a:pPr>
            <a:r>
              <a:rPr sz="950" b="0" i="1">
                <a:solidFill>
                  <a:srgbClr val="9FB3C8"/>
                </a:solidFill>
                <a:latin typeface="Segoe UI"/>
              </a:rPr>
              <a:t>library · opening · hours</a:t>
            </a:r>
          </a:p>
        </p:txBody>
      </p:sp>
      <p:sp>
        <p:nvSpPr>
          <p:cNvPr id="19" name="TextBox 18"/>
          <p:cNvSpPr txBox="1"/>
          <p:nvPr/>
        </p:nvSpPr>
        <p:spPr>
          <a:xfrm>
            <a:off x="7635240" y="2834640"/>
            <a:ext cx="1005840" cy="603504"/>
          </a:xfrm>
          <a:prstGeom prst="rect">
            <a:avLst/>
          </a:prstGeom>
          <a:noFill/>
        </p:spPr>
        <p:txBody>
          <a:bodyPr wrap="square" lIns="0" tIns="0" rIns="0" bIns="0" anchor="ctr">
            <a:spAutoFit/>
          </a:bodyPr>
          <a:lstStyle/>
          <a:p>
            <a:pPr algn="l"/>
            <a:r>
              <a:rPr sz="1100" b="1" i="0">
                <a:solidFill>
                  <a:srgbClr val="2DD4BF"/>
                </a:solidFill>
                <a:latin typeface="Segoe UI"/>
              </a:rPr>
              <a:t>score 3 ✓</a:t>
            </a:r>
          </a:p>
        </p:txBody>
      </p:sp>
      <p:sp>
        <p:nvSpPr>
          <p:cNvPr id="20" name="Rounded Rectangle 19"/>
          <p:cNvSpPr/>
          <p:nvPr/>
        </p:nvSpPr>
        <p:spPr>
          <a:xfrm>
            <a:off x="822960" y="3547872"/>
            <a:ext cx="7955279" cy="603504"/>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024128" y="3666744"/>
            <a:ext cx="365760" cy="365760"/>
          </a:xfrm>
          <a:prstGeom prst="ellipse">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9FB3C8"/>
                </a:solidFill>
                <a:latin typeface="Segoe UI"/>
              </a:rPr>
              <a:t>B</a:t>
            </a:r>
          </a:p>
        </p:txBody>
      </p:sp>
      <p:sp>
        <p:nvSpPr>
          <p:cNvPr id="22" name="TextBox 21"/>
          <p:cNvSpPr txBox="1"/>
          <p:nvPr/>
        </p:nvSpPr>
        <p:spPr>
          <a:xfrm>
            <a:off x="1508760" y="3547872"/>
            <a:ext cx="4160520" cy="603504"/>
          </a:xfrm>
          <a:prstGeom prst="rect">
            <a:avLst/>
          </a:prstGeom>
          <a:noFill/>
        </p:spPr>
        <p:txBody>
          <a:bodyPr wrap="square" lIns="0" tIns="0" rIns="0" bIns="0" anchor="ctr">
            <a:spAutoFit/>
          </a:bodyPr>
          <a:lstStyle/>
          <a:p>
            <a:pPr algn="l">
              <a:lnSpc>
                <a:spcPct val="110000"/>
              </a:lnSpc>
            </a:pPr>
            <a:r>
              <a:rPr sz="1050" b="0" i="0">
                <a:solidFill>
                  <a:srgbClr val="FFFFFF"/>
                </a:solidFill>
                <a:latin typeface="Segoe UI"/>
              </a:rPr>
              <a:t>“Enrolment closes at the census date.”</a:t>
            </a:r>
          </a:p>
        </p:txBody>
      </p:sp>
      <p:sp>
        <p:nvSpPr>
          <p:cNvPr id="23" name="TextBox 22"/>
          <p:cNvSpPr txBox="1"/>
          <p:nvPr/>
        </p:nvSpPr>
        <p:spPr>
          <a:xfrm>
            <a:off x="5760720" y="3547872"/>
            <a:ext cx="1783080" cy="603504"/>
          </a:xfrm>
          <a:prstGeom prst="rect">
            <a:avLst/>
          </a:prstGeom>
          <a:noFill/>
        </p:spPr>
        <p:txBody>
          <a:bodyPr wrap="square" lIns="0" tIns="0" rIns="0" bIns="0" anchor="ctr">
            <a:spAutoFit/>
          </a:bodyPr>
          <a:lstStyle/>
          <a:p>
            <a:pPr algn="l">
              <a:lnSpc>
                <a:spcPct val="110000"/>
              </a:lnSpc>
            </a:pPr>
            <a:r>
              <a:rPr sz="950" b="0" i="1">
                <a:solidFill>
                  <a:srgbClr val="9FB3C8"/>
                </a:solidFill>
                <a:latin typeface="Segoe UI"/>
              </a:rPr>
              <a:t>—</a:t>
            </a:r>
          </a:p>
        </p:txBody>
      </p:sp>
      <p:sp>
        <p:nvSpPr>
          <p:cNvPr id="24" name="TextBox 23"/>
          <p:cNvSpPr txBox="1"/>
          <p:nvPr/>
        </p:nvSpPr>
        <p:spPr>
          <a:xfrm>
            <a:off x="7635240" y="3547872"/>
            <a:ext cx="1005840" cy="603504"/>
          </a:xfrm>
          <a:prstGeom prst="rect">
            <a:avLst/>
          </a:prstGeom>
          <a:noFill/>
        </p:spPr>
        <p:txBody>
          <a:bodyPr wrap="square" lIns="0" tIns="0" rIns="0" bIns="0" anchor="ctr">
            <a:spAutoFit/>
          </a:bodyPr>
          <a:lstStyle/>
          <a:p>
            <a:pPr algn="l"/>
            <a:r>
              <a:rPr sz="1100" b="1" i="0">
                <a:solidFill>
                  <a:srgbClr val="9FB3C8"/>
                </a:solidFill>
                <a:latin typeface="Segoe UI"/>
              </a:rPr>
              <a:t>score 0</a:t>
            </a:r>
          </a:p>
        </p:txBody>
      </p:sp>
      <p:sp>
        <p:nvSpPr>
          <p:cNvPr id="25" name="Rounded Rectangle 24"/>
          <p:cNvSpPr/>
          <p:nvPr/>
        </p:nvSpPr>
        <p:spPr>
          <a:xfrm>
            <a:off x="822960" y="4261104"/>
            <a:ext cx="7955279" cy="603504"/>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024128" y="4379976"/>
            <a:ext cx="365760" cy="365760"/>
          </a:xfrm>
          <a:prstGeom prst="ellipse">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9FB3C8"/>
                </a:solidFill>
                <a:latin typeface="Segoe UI"/>
              </a:rPr>
              <a:t>C</a:t>
            </a:r>
          </a:p>
        </p:txBody>
      </p:sp>
      <p:sp>
        <p:nvSpPr>
          <p:cNvPr id="27" name="TextBox 26"/>
          <p:cNvSpPr txBox="1"/>
          <p:nvPr/>
        </p:nvSpPr>
        <p:spPr>
          <a:xfrm>
            <a:off x="1508760" y="4261104"/>
            <a:ext cx="4160520" cy="603504"/>
          </a:xfrm>
          <a:prstGeom prst="rect">
            <a:avLst/>
          </a:prstGeom>
          <a:noFill/>
        </p:spPr>
        <p:txBody>
          <a:bodyPr wrap="square" lIns="0" tIns="0" rIns="0" bIns="0" anchor="ctr">
            <a:spAutoFit/>
          </a:bodyPr>
          <a:lstStyle/>
          <a:p>
            <a:pPr algn="l">
              <a:lnSpc>
                <a:spcPct val="110000"/>
              </a:lnSpc>
            </a:pPr>
            <a:r>
              <a:rPr sz="1050" b="0" i="0">
                <a:solidFill>
                  <a:srgbClr val="FFFFFF"/>
                </a:solidFill>
                <a:latin typeface="Segoe UI"/>
              </a:rPr>
              <a:t>“Exam Period Appendix: library access 24/7 during exam period.”</a:t>
            </a:r>
          </a:p>
        </p:txBody>
      </p:sp>
      <p:sp>
        <p:nvSpPr>
          <p:cNvPr id="28" name="TextBox 27"/>
          <p:cNvSpPr txBox="1"/>
          <p:nvPr/>
        </p:nvSpPr>
        <p:spPr>
          <a:xfrm>
            <a:off x="5760720" y="4261104"/>
            <a:ext cx="1783080" cy="603504"/>
          </a:xfrm>
          <a:prstGeom prst="rect">
            <a:avLst/>
          </a:prstGeom>
          <a:noFill/>
        </p:spPr>
        <p:txBody>
          <a:bodyPr wrap="square" lIns="0" tIns="0" rIns="0" bIns="0" anchor="ctr">
            <a:spAutoFit/>
          </a:bodyPr>
          <a:lstStyle/>
          <a:p>
            <a:pPr algn="l">
              <a:lnSpc>
                <a:spcPct val="110000"/>
              </a:lnSpc>
            </a:pPr>
            <a:r>
              <a:rPr sz="950" b="0" i="1">
                <a:solidFill>
                  <a:srgbClr val="9FB3C8"/>
                </a:solidFill>
                <a:latin typeface="Segoe UI"/>
              </a:rPr>
              <a:t>library</a:t>
            </a:r>
          </a:p>
        </p:txBody>
      </p:sp>
      <p:sp>
        <p:nvSpPr>
          <p:cNvPr id="29" name="TextBox 28"/>
          <p:cNvSpPr txBox="1"/>
          <p:nvPr/>
        </p:nvSpPr>
        <p:spPr>
          <a:xfrm>
            <a:off x="7635240" y="4261104"/>
            <a:ext cx="1005840" cy="603504"/>
          </a:xfrm>
          <a:prstGeom prst="rect">
            <a:avLst/>
          </a:prstGeom>
          <a:noFill/>
        </p:spPr>
        <p:txBody>
          <a:bodyPr wrap="square" lIns="0" tIns="0" rIns="0" bIns="0" anchor="ctr">
            <a:spAutoFit/>
          </a:bodyPr>
          <a:lstStyle/>
          <a:p>
            <a:pPr algn="l"/>
            <a:r>
              <a:rPr sz="1100" b="1" i="0">
                <a:solidFill>
                  <a:srgbClr val="9FB3C8"/>
                </a:solidFill>
                <a:latin typeface="Segoe UI"/>
              </a:rPr>
              <a:t>score 1</a:t>
            </a:r>
          </a:p>
        </p:txBody>
      </p:sp>
      <p:sp>
        <p:nvSpPr>
          <p:cNvPr id="32" name="Rounded Rectangle 31"/>
          <p:cNvSpPr/>
          <p:nvPr/>
        </p:nvSpPr>
        <p:spPr>
          <a:xfrm>
            <a:off x="822960" y="5074920"/>
            <a:ext cx="7955279" cy="6858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05840" y="5074920"/>
            <a:ext cx="7589519" cy="68580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Keyword search (BM25)</a:t>
            </a:r>
            <a:r>
              <a:rPr sz="1050">
                <a:solidFill>
                  <a:srgbClr val="9FB3C8"/>
                </a:solidFill>
                <a:latin typeface="Segoe UI"/>
              </a:rPr>
              <a:t>  —  score each chunk by word overlap with the question, rare words counting extra.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3  ·  IT BREAKS</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Right words, wrong rule</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691640"/>
            <a:ext cx="2651760" cy="475488"/>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87552" y="1691640"/>
            <a:ext cx="2322576" cy="475488"/>
          </a:xfrm>
          <a:prstGeom prst="rect">
            <a:avLst/>
          </a:prstGeom>
          <a:noFill/>
        </p:spPr>
        <p:txBody>
          <a:bodyPr wrap="square" lIns="0" tIns="0" rIns="0" bIns="0" anchor="ctr">
            <a:spAutoFit/>
          </a:bodyPr>
          <a:lstStyle/>
          <a:p>
            <a:pPr algn="l"/>
            <a:r>
              <a:rPr sz="1150" b="1" i="1">
                <a:solidFill>
                  <a:srgbClr val="E06C6C"/>
                </a:solidFill>
                <a:latin typeface="Segoe UI"/>
              </a:rPr>
              <a:t>✗ confidently wrong</a:t>
            </a:r>
          </a:p>
        </p:txBody>
      </p:sp>
      <p:sp>
        <p:nvSpPr>
          <p:cNvPr id="14" name="Rounded Rectangle 13"/>
          <p:cNvSpPr/>
          <p:nvPr/>
        </p:nvSpPr>
        <p:spPr>
          <a:xfrm>
            <a:off x="3749039" y="1691640"/>
            <a:ext cx="7635240" cy="475488"/>
          </a:xfrm>
          <a:prstGeom prst="roundRect">
            <a:avLst>
              <a:gd name="adj" fmla="val 30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023360" y="1691640"/>
            <a:ext cx="7178040" cy="475488"/>
          </a:xfrm>
          <a:prstGeom prst="rect">
            <a:avLst/>
          </a:prstGeom>
          <a:noFill/>
        </p:spPr>
        <p:txBody>
          <a:bodyPr wrap="square" lIns="0" tIns="0" rIns="0" bIns="0" anchor="ctr">
            <a:spAutoFit/>
          </a:bodyPr>
          <a:lstStyle/>
          <a:p>
            <a:pPr algn="l"/>
            <a:r>
              <a:rPr sz="1250" b="1" i="1">
                <a:solidFill>
                  <a:srgbClr val="FFFFFF"/>
                </a:solidFill>
                <a:latin typeface="Segoe UI"/>
              </a:rPr>
              <a:t>Week 3 of term. Student asks: “Can I access the library 24/7?”</a:t>
            </a:r>
          </a:p>
        </p:txBody>
      </p:sp>
      <p:sp>
        <p:nvSpPr>
          <p:cNvPr id="16" name="Rounded Rectangle 15"/>
          <p:cNvSpPr/>
          <p:nvPr/>
        </p:nvSpPr>
        <p:spPr>
          <a:xfrm>
            <a:off x="822960" y="2468880"/>
            <a:ext cx="5166360" cy="182880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51560" y="2606040"/>
            <a:ext cx="4709160" cy="365760"/>
          </a:xfrm>
          <a:prstGeom prst="rect">
            <a:avLst/>
          </a:prstGeom>
          <a:noFill/>
        </p:spPr>
        <p:txBody>
          <a:bodyPr wrap="square" lIns="0" tIns="0" rIns="0" bIns="0" anchor="t">
            <a:spAutoFit/>
          </a:bodyPr>
          <a:lstStyle/>
          <a:p>
            <a:pPr algn="l"/>
            <a:r>
              <a:rPr sz="1300" b="1" i="0">
                <a:solidFill>
                  <a:srgbClr val="E06C6C"/>
                </a:solidFill>
                <a:latin typeface="Segoe UI"/>
              </a:rPr>
              <a:t>Exam Period Appendix</a:t>
            </a:r>
          </a:p>
        </p:txBody>
      </p:sp>
      <p:sp>
        <p:nvSpPr>
          <p:cNvPr id="18" name="TextBox 17"/>
          <p:cNvSpPr txBox="1"/>
          <p:nvPr/>
        </p:nvSpPr>
        <p:spPr>
          <a:xfrm>
            <a:off x="1051560" y="3017520"/>
            <a:ext cx="4709160" cy="548640"/>
          </a:xfrm>
          <a:prstGeom prst="rect">
            <a:avLst/>
          </a:prstGeom>
          <a:noFill/>
        </p:spPr>
        <p:txBody>
          <a:bodyPr wrap="square" lIns="0" tIns="0" rIns="0" bIns="0" anchor="t">
            <a:spAutoFit/>
          </a:bodyPr>
          <a:lstStyle/>
          <a:p>
            <a:pPr algn="l">
              <a:lnSpc>
                <a:spcPct val="120000"/>
              </a:lnSpc>
            </a:pPr>
            <a:r>
              <a:rPr sz="1200" b="0" i="1">
                <a:solidFill>
                  <a:srgbClr val="FFFFFF"/>
                </a:solidFill>
                <a:latin typeface="Segoe UI"/>
              </a:rPr>
              <a:t>“…library access 24/7 during the exam period…”</a:t>
            </a:r>
          </a:p>
        </p:txBody>
      </p:sp>
      <p:sp>
        <p:nvSpPr>
          <p:cNvPr id="19" name="TextBox 18"/>
          <p:cNvSpPr txBox="1"/>
          <p:nvPr/>
        </p:nvSpPr>
        <p:spPr>
          <a:xfrm>
            <a:off x="1051560" y="3749039"/>
            <a:ext cx="4709160" cy="411480"/>
          </a:xfrm>
          <a:prstGeom prst="rect">
            <a:avLst/>
          </a:prstGeom>
          <a:noFill/>
        </p:spPr>
        <p:txBody>
          <a:bodyPr wrap="square" lIns="0" tIns="0" rIns="0" bIns="0" anchor="t">
            <a:spAutoFit/>
          </a:bodyPr>
          <a:lstStyle/>
          <a:p>
            <a:pPr algn="l"/>
            <a:r>
              <a:rPr sz="1100" b="1" i="0">
                <a:solidFill>
                  <a:srgbClr val="E06C6C"/>
                </a:solidFill>
                <a:latin typeface="Segoe UI"/>
              </a:rPr>
              <a:t>shares: library · access · 24/7  →  score 3  →  wins ✗</a:t>
            </a:r>
          </a:p>
        </p:txBody>
      </p:sp>
      <p:sp>
        <p:nvSpPr>
          <p:cNvPr id="20" name="Rounded Rectangle 19"/>
          <p:cNvSpPr/>
          <p:nvPr/>
        </p:nvSpPr>
        <p:spPr>
          <a:xfrm>
            <a:off x="6217920" y="2468880"/>
            <a:ext cx="5166360" cy="18288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46520" y="2606040"/>
            <a:ext cx="4709160" cy="365760"/>
          </a:xfrm>
          <a:prstGeom prst="rect">
            <a:avLst/>
          </a:prstGeom>
          <a:noFill/>
        </p:spPr>
        <p:txBody>
          <a:bodyPr wrap="square" lIns="0" tIns="0" rIns="0" bIns="0" anchor="t">
            <a:spAutoFit/>
          </a:bodyPr>
          <a:lstStyle/>
          <a:p>
            <a:pPr algn="l"/>
            <a:r>
              <a:rPr sz="1300" b="1" i="0">
                <a:solidFill>
                  <a:srgbClr val="2DD4BF"/>
                </a:solidFill>
                <a:latin typeface="Segoe UI"/>
              </a:rPr>
              <a:t>General rule — governs this week</a:t>
            </a:r>
          </a:p>
        </p:txBody>
      </p:sp>
      <p:sp>
        <p:nvSpPr>
          <p:cNvPr id="22" name="TextBox 21"/>
          <p:cNvSpPr txBox="1"/>
          <p:nvPr/>
        </p:nvSpPr>
        <p:spPr>
          <a:xfrm>
            <a:off x="6446520" y="3017520"/>
            <a:ext cx="4709160" cy="548640"/>
          </a:xfrm>
          <a:prstGeom prst="rect">
            <a:avLst/>
          </a:prstGeom>
          <a:noFill/>
        </p:spPr>
        <p:txBody>
          <a:bodyPr wrap="square" lIns="0" tIns="0" rIns="0" bIns="0" anchor="t">
            <a:spAutoFit/>
          </a:bodyPr>
          <a:lstStyle/>
          <a:p>
            <a:pPr algn="l">
              <a:lnSpc>
                <a:spcPct val="120000"/>
              </a:lnSpc>
            </a:pPr>
            <a:r>
              <a:rPr sz="1200" b="0" i="1">
                <a:solidFill>
                  <a:srgbClr val="FFFFFF"/>
                </a:solidFill>
                <a:latin typeface="Segoe UI"/>
              </a:rPr>
              <a:t>“Library opening hours: 8am–10pm on term days.”</a:t>
            </a:r>
          </a:p>
        </p:txBody>
      </p:sp>
      <p:sp>
        <p:nvSpPr>
          <p:cNvPr id="23" name="TextBox 22"/>
          <p:cNvSpPr txBox="1"/>
          <p:nvPr/>
        </p:nvSpPr>
        <p:spPr>
          <a:xfrm>
            <a:off x="6446520" y="3749039"/>
            <a:ext cx="4709160" cy="411480"/>
          </a:xfrm>
          <a:prstGeom prst="rect">
            <a:avLst/>
          </a:prstGeom>
          <a:noFill/>
        </p:spPr>
        <p:txBody>
          <a:bodyPr wrap="square" lIns="0" tIns="0" rIns="0" bIns="0" anchor="t">
            <a:spAutoFit/>
          </a:bodyPr>
          <a:lstStyle/>
          <a:p>
            <a:pPr algn="l"/>
            <a:r>
              <a:rPr sz="1100" b="1" i="0">
                <a:solidFill>
                  <a:srgbClr val="9FB3C8"/>
                </a:solidFill>
                <a:latin typeface="Segoe UI"/>
              </a:rPr>
              <a:t>shares: library  →  score 1  →  left behind</a:t>
            </a:r>
          </a:p>
        </p:txBody>
      </p:sp>
      <p:sp>
        <p:nvSpPr>
          <p:cNvPr id="24" name="Rounded Rectangle 23"/>
          <p:cNvSpPr/>
          <p:nvPr/>
        </p:nvSpPr>
        <p:spPr>
          <a:xfrm>
            <a:off x="822960" y="4572000"/>
            <a:ext cx="5166360" cy="77724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51560" y="4572000"/>
            <a:ext cx="4709160" cy="777240"/>
          </a:xfrm>
          <a:prstGeom prst="rect">
            <a:avLst/>
          </a:prstGeom>
          <a:noFill/>
        </p:spPr>
        <p:txBody>
          <a:bodyPr wrap="square" lIns="0" tIns="0" rIns="0" bIns="0" anchor="ctr">
            <a:spAutoFit/>
          </a:bodyPr>
          <a:lstStyle/>
          <a:p>
            <a:pPr algn="l">
              <a:lnSpc>
                <a:spcPct val="125000"/>
              </a:lnSpc>
            </a:pPr>
            <a:r>
              <a:rPr sz="1250" b="1" i="0">
                <a:solidFill>
                  <a:srgbClr val="FFFFFF"/>
                </a:solidFill>
                <a:latin typeface="Segoe UI"/>
              </a:rPr>
              <a:t>MetMate: “Yes — the library is open 24/7.”</a:t>
            </a:r>
          </a:p>
          <a:p>
            <a:pPr algn="l"/>
            <a:r>
              <a:rPr sz="1050" b="0" i="1">
                <a:solidFill>
                  <a:srgbClr val="E06C6C"/>
                </a:solidFill>
                <a:latin typeface="Segoe UI"/>
              </a:rPr>
              <a:t>Confident. Wrong. Every word from a real document.</a:t>
            </a:r>
          </a:p>
        </p:txBody>
      </p:sp>
      <p:sp>
        <p:nvSpPr>
          <p:cNvPr id="26" name="Rounded Rectangle 25"/>
          <p:cNvSpPr/>
          <p:nvPr/>
        </p:nvSpPr>
        <p:spPr>
          <a:xfrm>
            <a:off x="6217920" y="4572000"/>
            <a:ext cx="5166360" cy="7772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46520" y="4572000"/>
            <a:ext cx="4709160" cy="777240"/>
          </a:xfrm>
          <a:prstGeom prst="rect">
            <a:avLst/>
          </a:prstGeom>
          <a:noFill/>
        </p:spPr>
        <p:txBody>
          <a:bodyPr wrap="square" lIns="0" tIns="0" rIns="0" bIns="0" anchor="ctr">
            <a:spAutoFit/>
          </a:bodyPr>
          <a:lstStyle/>
          <a:p>
            <a:pPr algn="l">
              <a:lnSpc>
                <a:spcPct val="125000"/>
              </a:lnSpc>
            </a:pPr>
            <a:r>
              <a:rPr sz="1100" b="0" i="0">
                <a:solidFill>
                  <a:srgbClr val="FFFFFF"/>
                </a:solidFill>
                <a:latin typeface="Segoe UI"/>
              </a:rPr>
              <a:t>The quieter failure: “enrolment” scores ZERO against a chunk</a:t>
            </a:r>
          </a:p>
          <a:p>
            <a:pPr algn="l"/>
            <a:r>
              <a:rPr sz="1100" b="0" i="0">
                <a:solidFill>
                  <a:srgbClr val="FFFFFF"/>
                </a:solidFill>
                <a:latin typeface="Segoe UI"/>
              </a:rPr>
              <a:t>that says “registration”. Synonyms are invisible.</a:t>
            </a:r>
          </a:p>
        </p:txBody>
      </p:sp>
      <p:sp>
        <p:nvSpPr>
          <p:cNvPr id="28" name="TextBox 27"/>
          <p:cNvSpPr txBox="1"/>
          <p:nvPr/>
        </p:nvSpPr>
        <p:spPr>
          <a:xfrm>
            <a:off x="822960" y="5669280"/>
            <a:ext cx="10607040" cy="492892"/>
          </a:xfrm>
          <a:prstGeom prst="rect">
            <a:avLst/>
          </a:prstGeom>
          <a:noFill/>
        </p:spPr>
        <p:txBody>
          <a:bodyPr wrap="square" lIns="0" tIns="0" rIns="0" bIns="0" anchor="t">
            <a:spAutoFit/>
          </a:bodyPr>
          <a:lstStyle/>
          <a:p>
            <a:pPr algn="l">
              <a:lnSpc>
                <a:spcPct val="130000"/>
              </a:lnSpc>
            </a:pPr>
            <a:r>
              <a:rPr sz="1300" b="0" i="1" dirty="0">
                <a:solidFill>
                  <a:srgbClr val="F5B342"/>
                </a:solidFill>
                <a:latin typeface="Segoe UI"/>
              </a:rPr>
              <a:t>LEXICAL matching</a:t>
            </a:r>
            <a:r>
              <a:rPr lang="en-AU" sz="1300" b="0" i="1" dirty="0">
                <a:solidFill>
                  <a:srgbClr val="F5B342"/>
                </a:solidFill>
                <a:latin typeface="Segoe UI"/>
              </a:rPr>
              <a:t> fails</a:t>
            </a:r>
          </a:p>
          <a:p>
            <a:pPr algn="l">
              <a:lnSpc>
                <a:spcPct val="130000"/>
              </a:lnSpc>
            </a:pPr>
            <a:r>
              <a:rPr sz="1300" b="0" i="1" dirty="0">
                <a:solidFill>
                  <a:srgbClr val="F5B342"/>
                </a:solidFill>
                <a:latin typeface="Segoe UI"/>
              </a:rPr>
              <a:t>SEMANTIC matching</a:t>
            </a:r>
            <a:r>
              <a:rPr lang="en-AU" sz="1300" b="0" i="1" dirty="0">
                <a:solidFill>
                  <a:srgbClr val="F5B342"/>
                </a:solidFill>
                <a:latin typeface="Segoe UI"/>
              </a:rPr>
              <a:t> - solution</a:t>
            </a:r>
            <a:endParaRPr sz="1300" b="0" i="1" dirty="0">
              <a:solidFill>
                <a:srgbClr val="F5B342"/>
              </a:solidFill>
              <a:latin typeface="Segoe U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4  ·  SEARCH BY MEANING</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Math with words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207749"/>
          </a:xfrm>
          <a:prstGeom prst="rect">
            <a:avLst/>
          </a:prstGeom>
          <a:noFill/>
        </p:spPr>
        <p:txBody>
          <a:bodyPr wrap="square" lIns="0" tIns="0" rIns="0" bIns="0" anchor="t">
            <a:spAutoFit/>
          </a:bodyPr>
          <a:lstStyle/>
          <a:p>
            <a:pPr algn="l"/>
            <a:r>
              <a:rPr lang="en-AU" sz="1350" b="0" i="1" dirty="0">
                <a:solidFill>
                  <a:srgbClr val="9FB3C8"/>
                </a:solidFill>
                <a:latin typeface="Segoe UI"/>
              </a:rPr>
              <a:t>Three words: enrolment, registration, withdrawal</a:t>
            </a:r>
            <a:endParaRPr sz="1350" b="0" i="1" dirty="0">
              <a:solidFill>
                <a:srgbClr val="9FB3C8"/>
              </a:solidFill>
              <a:latin typeface="Segoe UI"/>
            </a:endParaRPr>
          </a:p>
        </p:txBody>
      </p:sp>
      <p:sp>
        <p:nvSpPr>
          <p:cNvPr id="13" name="Rounded Rectangle 12"/>
          <p:cNvSpPr/>
          <p:nvPr/>
        </p:nvSpPr>
        <p:spPr>
          <a:xfrm>
            <a:off x="822960" y="2240280"/>
            <a:ext cx="7315200" cy="26517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1280160" y="3794760"/>
            <a:ext cx="6492240" cy="0"/>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194560" y="3730752"/>
            <a:ext cx="0" cy="128016"/>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828800" y="3922776"/>
            <a:ext cx="731520" cy="274320"/>
          </a:xfrm>
          <a:prstGeom prst="rect">
            <a:avLst/>
          </a:prstGeom>
          <a:noFill/>
        </p:spPr>
        <p:txBody>
          <a:bodyPr wrap="square" lIns="0" tIns="0" rIns="0" bIns="0" anchor="t">
            <a:spAutoFit/>
          </a:bodyPr>
          <a:lstStyle/>
          <a:p>
            <a:pPr algn="ctr"/>
            <a:r>
              <a:rPr sz="1000" b="0" i="0">
                <a:solidFill>
                  <a:srgbClr val="9FB3C8"/>
                </a:solidFill>
                <a:latin typeface="Segoe UI"/>
              </a:rPr>
              <a:t>-5</a:t>
            </a:r>
          </a:p>
        </p:txBody>
      </p:sp>
      <p:cxnSp>
        <p:nvCxnSpPr>
          <p:cNvPr id="17" name="Connector 16"/>
          <p:cNvCxnSpPr/>
          <p:nvPr/>
        </p:nvCxnSpPr>
        <p:spPr>
          <a:xfrm>
            <a:off x="4480560" y="3730752"/>
            <a:ext cx="0" cy="128016"/>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114800" y="3922776"/>
            <a:ext cx="731520" cy="274320"/>
          </a:xfrm>
          <a:prstGeom prst="rect">
            <a:avLst/>
          </a:prstGeom>
          <a:noFill/>
        </p:spPr>
        <p:txBody>
          <a:bodyPr wrap="square" lIns="0" tIns="0" rIns="0" bIns="0" anchor="t">
            <a:spAutoFit/>
          </a:bodyPr>
          <a:lstStyle/>
          <a:p>
            <a:pPr algn="ctr"/>
            <a:r>
              <a:rPr sz="1000" b="0" i="0">
                <a:solidFill>
                  <a:srgbClr val="9FB3C8"/>
                </a:solidFill>
                <a:latin typeface="Segoe UI"/>
              </a:rPr>
              <a:t>0</a:t>
            </a:r>
          </a:p>
        </p:txBody>
      </p:sp>
      <p:cxnSp>
        <p:nvCxnSpPr>
          <p:cNvPr id="19" name="Connector 18"/>
          <p:cNvCxnSpPr/>
          <p:nvPr/>
        </p:nvCxnSpPr>
        <p:spPr>
          <a:xfrm>
            <a:off x="6766560" y="3730752"/>
            <a:ext cx="0" cy="128016"/>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00800" y="3922776"/>
            <a:ext cx="731520" cy="274320"/>
          </a:xfrm>
          <a:prstGeom prst="rect">
            <a:avLst/>
          </a:prstGeom>
          <a:noFill/>
        </p:spPr>
        <p:txBody>
          <a:bodyPr wrap="square" lIns="0" tIns="0" rIns="0" bIns="0" anchor="t">
            <a:spAutoFit/>
          </a:bodyPr>
          <a:lstStyle/>
          <a:p>
            <a:pPr algn="ctr"/>
            <a:r>
              <a:rPr sz="1000" b="0" i="0">
                <a:solidFill>
                  <a:srgbClr val="9FB3C8"/>
                </a:solidFill>
                <a:latin typeface="Segoe UI"/>
              </a:rPr>
              <a:t>5</a:t>
            </a:r>
          </a:p>
        </p:txBody>
      </p:sp>
      <p:cxnSp>
        <p:nvCxnSpPr>
          <p:cNvPr id="21" name="Connector 20"/>
          <p:cNvCxnSpPr/>
          <p:nvPr/>
        </p:nvCxnSpPr>
        <p:spPr>
          <a:xfrm>
            <a:off x="7223760" y="3730752"/>
            <a:ext cx="0" cy="128016"/>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0" y="3922776"/>
            <a:ext cx="731520" cy="274320"/>
          </a:xfrm>
          <a:prstGeom prst="rect">
            <a:avLst/>
          </a:prstGeom>
          <a:noFill/>
        </p:spPr>
        <p:txBody>
          <a:bodyPr wrap="square" lIns="0" tIns="0" rIns="0" bIns="0" anchor="t">
            <a:spAutoFit/>
          </a:bodyPr>
          <a:lstStyle/>
          <a:p>
            <a:pPr algn="ctr"/>
            <a:r>
              <a:rPr sz="1000" b="0" i="0">
                <a:solidFill>
                  <a:srgbClr val="9FB3C8"/>
                </a:solidFill>
                <a:latin typeface="Segoe UI"/>
              </a:rPr>
              <a:t>6</a:t>
            </a:r>
          </a:p>
        </p:txBody>
      </p:sp>
      <p:sp>
        <p:nvSpPr>
          <p:cNvPr id="23" name="Oval 22"/>
          <p:cNvSpPr/>
          <p:nvPr/>
        </p:nvSpPr>
        <p:spPr>
          <a:xfrm>
            <a:off x="2112264" y="3712464"/>
            <a:ext cx="164592" cy="164592"/>
          </a:xfrm>
          <a:prstGeom prst="ellipse">
            <a:avLst/>
          </a:prstGeom>
          <a:solidFill>
            <a:srgbClr val="E06C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280160" y="3291840"/>
            <a:ext cx="1828800" cy="320040"/>
          </a:xfrm>
          <a:prstGeom prst="rect">
            <a:avLst/>
          </a:prstGeom>
          <a:noFill/>
        </p:spPr>
        <p:txBody>
          <a:bodyPr wrap="square" lIns="0" tIns="0" rIns="0" bIns="0" anchor="t">
            <a:spAutoFit/>
          </a:bodyPr>
          <a:lstStyle/>
          <a:p>
            <a:pPr algn="ctr"/>
            <a:r>
              <a:rPr sz="1200" b="1" i="0">
                <a:solidFill>
                  <a:srgbClr val="E06C6C"/>
                </a:solidFill>
                <a:latin typeface="Segoe UI"/>
              </a:rPr>
              <a:t>withdrawal</a:t>
            </a:r>
          </a:p>
        </p:txBody>
      </p:sp>
      <p:sp>
        <p:nvSpPr>
          <p:cNvPr id="25" name="Oval 24"/>
          <p:cNvSpPr/>
          <p:nvPr/>
        </p:nvSpPr>
        <p:spPr>
          <a:xfrm>
            <a:off x="6684264" y="3712464"/>
            <a:ext cx="164592" cy="164592"/>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852160" y="3291840"/>
            <a:ext cx="1828800" cy="320040"/>
          </a:xfrm>
          <a:prstGeom prst="rect">
            <a:avLst/>
          </a:prstGeom>
          <a:noFill/>
        </p:spPr>
        <p:txBody>
          <a:bodyPr wrap="square" lIns="0" tIns="0" rIns="0" bIns="0" anchor="t">
            <a:spAutoFit/>
          </a:bodyPr>
          <a:lstStyle/>
          <a:p>
            <a:pPr algn="ctr"/>
            <a:r>
              <a:rPr sz="1200" b="1" i="0">
                <a:solidFill>
                  <a:srgbClr val="2DD4BF"/>
                </a:solidFill>
                <a:latin typeface="Segoe UI"/>
              </a:rPr>
              <a:t>enrolment</a:t>
            </a:r>
          </a:p>
        </p:txBody>
      </p:sp>
      <p:sp>
        <p:nvSpPr>
          <p:cNvPr id="27" name="Oval 26"/>
          <p:cNvSpPr/>
          <p:nvPr/>
        </p:nvSpPr>
        <p:spPr>
          <a:xfrm>
            <a:off x="7141464" y="3712464"/>
            <a:ext cx="164592" cy="164592"/>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309360" y="4251960"/>
            <a:ext cx="1828800" cy="320040"/>
          </a:xfrm>
          <a:prstGeom prst="rect">
            <a:avLst/>
          </a:prstGeom>
          <a:noFill/>
        </p:spPr>
        <p:txBody>
          <a:bodyPr wrap="square" lIns="0" tIns="0" rIns="0" bIns="0" anchor="t">
            <a:spAutoFit/>
          </a:bodyPr>
          <a:lstStyle/>
          <a:p>
            <a:pPr algn="ctr"/>
            <a:r>
              <a:rPr sz="1200" b="1" i="0">
                <a:solidFill>
                  <a:srgbClr val="2DD4BF"/>
                </a:solidFill>
                <a:latin typeface="Segoe UI"/>
              </a:rPr>
              <a:t>registration</a:t>
            </a:r>
          </a:p>
        </p:txBody>
      </p:sp>
      <p:sp>
        <p:nvSpPr>
          <p:cNvPr id="29" name="TextBox 28"/>
          <p:cNvSpPr txBox="1"/>
          <p:nvPr/>
        </p:nvSpPr>
        <p:spPr>
          <a:xfrm>
            <a:off x="5760720" y="2514600"/>
            <a:ext cx="2651760" cy="320040"/>
          </a:xfrm>
          <a:prstGeom prst="rect">
            <a:avLst/>
          </a:prstGeom>
          <a:noFill/>
        </p:spPr>
        <p:txBody>
          <a:bodyPr wrap="square" lIns="0" tIns="0" rIns="0" bIns="0" anchor="t">
            <a:spAutoFit/>
          </a:bodyPr>
          <a:lstStyle/>
          <a:p>
            <a:pPr algn="l"/>
            <a:r>
              <a:rPr sz="1100" b="0" i="1">
                <a:solidFill>
                  <a:srgbClr val="2DD4BF"/>
                </a:solidFill>
                <a:latin typeface="Segoe UI"/>
              </a:rPr>
              <a:t>1 apart — similar ✓</a:t>
            </a:r>
          </a:p>
        </p:txBody>
      </p:sp>
      <p:sp>
        <p:nvSpPr>
          <p:cNvPr id="31" name="Rounded Rectangle 30"/>
          <p:cNvSpPr/>
          <p:nvPr/>
        </p:nvSpPr>
        <p:spPr>
          <a:xfrm>
            <a:off x="8440583" y="2926080"/>
            <a:ext cx="3200400" cy="11887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623462" y="2926080"/>
            <a:ext cx="2834640" cy="118872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Embedding</a:t>
            </a:r>
            <a:r>
              <a:rPr sz="1050">
                <a:solidFill>
                  <a:srgbClr val="9FB3C8"/>
                </a:solidFill>
                <a:latin typeface="Segoe UI"/>
              </a:rPr>
              <a:t>  —  writing words as numbers so that close numbers = similar meaning.</a:t>
            </a:r>
          </a:p>
        </p:txBody>
      </p:sp>
      <p:sp>
        <p:nvSpPr>
          <p:cNvPr id="35" name="Rounded Rectangle 34"/>
          <p:cNvSpPr/>
          <p:nvPr/>
        </p:nvSpPr>
        <p:spPr>
          <a:xfrm>
            <a:off x="822960" y="5166360"/>
            <a:ext cx="10789920"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97280" y="5488041"/>
            <a:ext cx="10241280" cy="225318"/>
          </a:xfrm>
          <a:prstGeom prst="rect">
            <a:avLst/>
          </a:prstGeom>
          <a:noFill/>
        </p:spPr>
        <p:txBody>
          <a:bodyPr wrap="square" lIns="0" tIns="0" rIns="0" bIns="0" anchor="ctr">
            <a:spAutoFit/>
          </a:bodyPr>
          <a:lstStyle/>
          <a:p>
            <a:pPr algn="l">
              <a:lnSpc>
                <a:spcPct val="125000"/>
              </a:lnSpc>
            </a:pPr>
            <a:r>
              <a:rPr sz="1300" b="0" i="1" dirty="0">
                <a:solidFill>
                  <a:srgbClr val="FFFFFF"/>
                </a:solidFill>
                <a:latin typeface="Segoe UI"/>
              </a:rPr>
              <a:t>But where does “pass” go on this line?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4  ·  SEARCH BY MEANING</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One number isn't enough — vectors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783080"/>
            <a:ext cx="5760720" cy="4160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a:cxnSpLocks/>
          </p:cNvCxnSpPr>
          <p:nvPr/>
        </p:nvCxnSpPr>
        <p:spPr>
          <a:xfrm>
            <a:off x="1278331" y="3886200"/>
            <a:ext cx="4685385" cy="0"/>
          </a:xfrm>
          <a:prstGeom prst="line">
            <a:avLst/>
          </a:prstGeom>
          <a:ln w="15875">
            <a:solidFill>
              <a:srgbClr val="9FB3C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a:cxnSpLocks/>
          </p:cNvCxnSpPr>
          <p:nvPr/>
        </p:nvCxnSpPr>
        <p:spPr>
          <a:xfrm>
            <a:off x="3429000" y="1940356"/>
            <a:ext cx="0" cy="3891687"/>
          </a:xfrm>
          <a:prstGeom prst="line">
            <a:avLst/>
          </a:prstGeom>
          <a:ln w="15875">
            <a:solidFill>
              <a:srgbClr val="9FB3C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51560" y="1965960"/>
            <a:ext cx="2240280" cy="369332"/>
          </a:xfrm>
          <a:prstGeom prst="rect">
            <a:avLst/>
          </a:prstGeom>
          <a:noFill/>
        </p:spPr>
        <p:txBody>
          <a:bodyPr wrap="square" lIns="0" tIns="0" rIns="0" bIns="0" anchor="t">
            <a:spAutoFit/>
          </a:bodyPr>
          <a:lstStyle/>
          <a:p>
            <a:pPr algn="l">
              <a:lnSpc>
                <a:spcPct val="140000"/>
              </a:lnSpc>
            </a:pPr>
            <a:r>
              <a:rPr sz="1000" b="0" i="1">
                <a:solidFill>
                  <a:srgbClr val="9FB3C8"/>
                </a:solidFill>
                <a:latin typeface="Segoe UI"/>
              </a:rPr>
              <a:t>x: withdrawal ↔ enrolment</a:t>
            </a:r>
          </a:p>
          <a:p>
            <a:pPr algn="l"/>
            <a:r>
              <a:rPr sz="1000" b="0" i="1">
                <a:solidFill>
                  <a:srgbClr val="9FB3C8"/>
                </a:solidFill>
                <a:latin typeface="Segoe UI"/>
              </a:rPr>
              <a:t>y: fail ↔ pass</a:t>
            </a:r>
          </a:p>
        </p:txBody>
      </p:sp>
      <p:sp>
        <p:nvSpPr>
          <p:cNvPr id="16" name="Oval 15"/>
          <p:cNvSpPr/>
          <p:nvPr/>
        </p:nvSpPr>
        <p:spPr>
          <a:xfrm>
            <a:off x="5276088" y="381304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931920" y="3502152"/>
            <a:ext cx="1920240" cy="161583"/>
          </a:xfrm>
          <a:prstGeom prst="rect">
            <a:avLst/>
          </a:prstGeom>
          <a:noFill/>
        </p:spPr>
        <p:txBody>
          <a:bodyPr wrap="square" lIns="0" tIns="0" rIns="0" bIns="0" anchor="t">
            <a:spAutoFit/>
          </a:bodyPr>
          <a:lstStyle/>
          <a:p>
            <a:pPr algn="l"/>
            <a:r>
              <a:rPr sz="1050" b="1" i="0">
                <a:solidFill>
                  <a:srgbClr val="2DD4BF"/>
                </a:solidFill>
                <a:latin typeface="Segoe UI"/>
              </a:rPr>
              <a:t>enrolment [5, 0]</a:t>
            </a:r>
          </a:p>
        </p:txBody>
      </p:sp>
      <p:sp>
        <p:nvSpPr>
          <p:cNvPr id="18" name="Oval 17"/>
          <p:cNvSpPr/>
          <p:nvPr/>
        </p:nvSpPr>
        <p:spPr>
          <a:xfrm>
            <a:off x="5660136" y="381304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184648" y="4123944"/>
            <a:ext cx="1920240" cy="161583"/>
          </a:xfrm>
          <a:prstGeom prst="rect">
            <a:avLst/>
          </a:prstGeom>
          <a:noFill/>
        </p:spPr>
        <p:txBody>
          <a:bodyPr wrap="square" lIns="0" tIns="0" rIns="0" bIns="0" anchor="t">
            <a:spAutoFit/>
          </a:bodyPr>
          <a:lstStyle/>
          <a:p>
            <a:pPr algn="l"/>
            <a:r>
              <a:rPr sz="1050" b="1" i="0">
                <a:solidFill>
                  <a:srgbClr val="2DD4BF"/>
                </a:solidFill>
                <a:latin typeface="Segoe UI"/>
              </a:rPr>
              <a:t>registration [6, 0]</a:t>
            </a:r>
          </a:p>
        </p:txBody>
      </p:sp>
      <p:sp>
        <p:nvSpPr>
          <p:cNvPr id="20" name="Oval 19"/>
          <p:cNvSpPr/>
          <p:nvPr/>
        </p:nvSpPr>
        <p:spPr>
          <a:xfrm>
            <a:off x="1435607" y="381304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31519" y="3502152"/>
            <a:ext cx="1920240" cy="161583"/>
          </a:xfrm>
          <a:prstGeom prst="rect">
            <a:avLst/>
          </a:prstGeom>
          <a:noFill/>
        </p:spPr>
        <p:txBody>
          <a:bodyPr wrap="square" lIns="0" tIns="0" rIns="0" bIns="0" anchor="t">
            <a:spAutoFit/>
          </a:bodyPr>
          <a:lstStyle/>
          <a:p>
            <a:pPr algn="l"/>
            <a:r>
              <a:rPr sz="1050" b="1" i="0">
                <a:solidFill>
                  <a:srgbClr val="2DD4BF"/>
                </a:solidFill>
                <a:latin typeface="Segoe UI"/>
              </a:rPr>
              <a:t>withdrawal [−5, 0]</a:t>
            </a:r>
          </a:p>
        </p:txBody>
      </p:sp>
      <p:sp>
        <p:nvSpPr>
          <p:cNvPr id="22" name="Oval 21"/>
          <p:cNvSpPr/>
          <p:nvPr/>
        </p:nvSpPr>
        <p:spPr>
          <a:xfrm>
            <a:off x="3355848" y="2075688"/>
            <a:ext cx="146304" cy="146304"/>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557016" y="2057400"/>
            <a:ext cx="1920240" cy="161583"/>
          </a:xfrm>
          <a:prstGeom prst="rect">
            <a:avLst/>
          </a:prstGeom>
          <a:noFill/>
        </p:spPr>
        <p:txBody>
          <a:bodyPr wrap="square" lIns="0" tIns="0" rIns="0" bIns="0" anchor="t">
            <a:spAutoFit/>
          </a:bodyPr>
          <a:lstStyle/>
          <a:p>
            <a:pPr algn="l"/>
            <a:r>
              <a:rPr sz="1050" b="1" i="0">
                <a:solidFill>
                  <a:srgbClr val="F5B342"/>
                </a:solidFill>
                <a:latin typeface="Segoe UI"/>
              </a:rPr>
              <a:t>pass [0, 5]</a:t>
            </a:r>
          </a:p>
        </p:txBody>
      </p:sp>
      <p:sp>
        <p:nvSpPr>
          <p:cNvPr id="24" name="Oval 23"/>
          <p:cNvSpPr/>
          <p:nvPr/>
        </p:nvSpPr>
        <p:spPr>
          <a:xfrm>
            <a:off x="3355848" y="5550408"/>
            <a:ext cx="146304" cy="146304"/>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557016" y="5513832"/>
            <a:ext cx="1920240" cy="161583"/>
          </a:xfrm>
          <a:prstGeom prst="rect">
            <a:avLst/>
          </a:prstGeom>
          <a:noFill/>
        </p:spPr>
        <p:txBody>
          <a:bodyPr wrap="square" lIns="0" tIns="0" rIns="0" bIns="0" anchor="t">
            <a:spAutoFit/>
          </a:bodyPr>
          <a:lstStyle/>
          <a:p>
            <a:pPr algn="l"/>
            <a:r>
              <a:rPr sz="1050" b="1" i="0">
                <a:solidFill>
                  <a:srgbClr val="F5B342"/>
                </a:solidFill>
                <a:latin typeface="Segoe UI"/>
              </a:rPr>
              <a:t>fail [0, −5]</a:t>
            </a:r>
          </a:p>
        </p:txBody>
      </p:sp>
      <p:sp>
        <p:nvSpPr>
          <p:cNvPr id="26" name="Oval 25"/>
          <p:cNvSpPr/>
          <p:nvPr/>
        </p:nvSpPr>
        <p:spPr>
          <a:xfrm>
            <a:off x="4233672" y="2862072"/>
            <a:ext cx="310896" cy="310896"/>
          </a:xfrm>
          <a:prstGeom prst="ellipse">
            <a:avLst/>
          </a:prstGeom>
          <a:noFill/>
          <a:ln w="254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4315968" y="2944368"/>
            <a:ext cx="146304" cy="14630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0" y="2697479"/>
            <a:ext cx="2011680" cy="176972"/>
          </a:xfrm>
          <a:prstGeom prst="rect">
            <a:avLst/>
          </a:prstGeom>
          <a:noFill/>
        </p:spPr>
        <p:txBody>
          <a:bodyPr wrap="square" lIns="0" tIns="0" rIns="0" bIns="0" anchor="t">
            <a:spAutoFit/>
          </a:bodyPr>
          <a:lstStyle/>
          <a:p>
            <a:pPr algn="l"/>
            <a:r>
              <a:rPr sz="1150" b="1" i="0">
                <a:solidFill>
                  <a:srgbClr val="FFFFFF"/>
                </a:solidFill>
                <a:latin typeface="Segoe UI"/>
              </a:rPr>
              <a:t>course [2.5, 2.5]</a:t>
            </a:r>
          </a:p>
        </p:txBody>
      </p:sp>
      <p:sp>
        <p:nvSpPr>
          <p:cNvPr id="29" name="Rounded Rectangle 28"/>
          <p:cNvSpPr/>
          <p:nvPr/>
        </p:nvSpPr>
        <p:spPr>
          <a:xfrm>
            <a:off x="6858000" y="3246120"/>
            <a:ext cx="4526280" cy="8229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040880" y="3558662"/>
            <a:ext cx="4160520" cy="197875"/>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Vector</a:t>
            </a:r>
            <a:r>
              <a:rPr sz="1050">
                <a:solidFill>
                  <a:srgbClr val="9FB3C8"/>
                </a:solidFill>
                <a:latin typeface="Segoe UI"/>
              </a:rPr>
              <a:t>  —  a list of numbers. Here: [enrolment-ness, pass-ness].</a:t>
            </a:r>
          </a:p>
        </p:txBody>
      </p:sp>
      <p:sp>
        <p:nvSpPr>
          <p:cNvPr id="37" name="TextBox 36"/>
          <p:cNvSpPr txBox="1"/>
          <p:nvPr/>
        </p:nvSpPr>
        <p:spPr>
          <a:xfrm>
            <a:off x="91440" y="1512151"/>
            <a:ext cx="5760720" cy="176972"/>
          </a:xfrm>
          <a:prstGeom prst="rect">
            <a:avLst/>
          </a:prstGeom>
          <a:noFill/>
        </p:spPr>
        <p:txBody>
          <a:bodyPr wrap="square" lIns="0" tIns="0" rIns="0" bIns="0" anchor="t">
            <a:spAutoFit/>
          </a:bodyPr>
          <a:lstStyle/>
          <a:p>
            <a:pPr algn="ctr"/>
            <a:r>
              <a:rPr lang="en-AU" sz="1150" b="0" i="1" dirty="0">
                <a:solidFill>
                  <a:srgbClr val="2DD4BF"/>
                </a:solidFill>
                <a:latin typeface="Segoe UI"/>
              </a:rPr>
              <a:t>New word </a:t>
            </a:r>
            <a:r>
              <a:rPr lang="en-AU" sz="1150" b="0" i="1" dirty="0" err="1">
                <a:solidFill>
                  <a:srgbClr val="2DD4BF"/>
                </a:solidFill>
                <a:latin typeface="Segoe UI"/>
              </a:rPr>
              <a:t>comess</a:t>
            </a:r>
            <a:r>
              <a:rPr lang="en-AU" sz="1150" b="0" i="1" dirty="0">
                <a:solidFill>
                  <a:srgbClr val="2DD4BF"/>
                </a:solidFill>
                <a:latin typeface="Segoe UI"/>
              </a:rPr>
              <a:t>: pass</a:t>
            </a:r>
            <a:endParaRPr sz="1150" b="0" i="1" dirty="0">
              <a:solidFill>
                <a:srgbClr val="2DD4BF"/>
              </a:solidFill>
              <a:latin typeface="Segoe U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4  ·  SEARCH BY MEANING</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Who assigns the numbers?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3" name="Rounded Rectangle 12"/>
          <p:cNvSpPr/>
          <p:nvPr/>
        </p:nvSpPr>
        <p:spPr>
          <a:xfrm>
            <a:off x="822960" y="2286000"/>
            <a:ext cx="6035040" cy="10515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2423160"/>
            <a:ext cx="5486400" cy="457200"/>
          </a:xfrm>
          <a:prstGeom prst="rect">
            <a:avLst/>
          </a:prstGeom>
          <a:noFill/>
        </p:spPr>
        <p:txBody>
          <a:bodyPr wrap="square" lIns="0" tIns="0" rIns="0" bIns="0" anchor="t">
            <a:spAutoFit/>
          </a:bodyPr>
          <a:lstStyle/>
          <a:p>
            <a:pPr algn="l"/>
            <a:r>
              <a:rPr sz="1500" b="1" i="0">
                <a:solidFill>
                  <a:srgbClr val="FFFFFF"/>
                </a:solidFill>
                <a:latin typeface="Segoe UI"/>
              </a:rPr>
              <a:t>“Students must  ______  before the census date.”</a:t>
            </a:r>
          </a:p>
        </p:txBody>
      </p:sp>
      <p:sp>
        <p:nvSpPr>
          <p:cNvPr id="15" name="TextBox 14"/>
          <p:cNvSpPr txBox="1"/>
          <p:nvPr/>
        </p:nvSpPr>
        <p:spPr>
          <a:xfrm>
            <a:off x="1097280" y="2926080"/>
            <a:ext cx="5486400" cy="320040"/>
          </a:xfrm>
          <a:prstGeom prst="rect">
            <a:avLst/>
          </a:prstGeom>
          <a:noFill/>
        </p:spPr>
        <p:txBody>
          <a:bodyPr wrap="square" lIns="0" tIns="0" rIns="0" bIns="0" anchor="t">
            <a:spAutoFit/>
          </a:bodyPr>
          <a:lstStyle/>
          <a:p>
            <a:pPr algn="l"/>
            <a:r>
              <a:rPr sz="1050" b="0" i="1">
                <a:solidFill>
                  <a:srgbClr val="9FB3C8"/>
                </a:solidFill>
                <a:latin typeface="Segoe UI"/>
              </a:rPr>
              <a:t>hide a word from a real sentence — make the computer guess it</a:t>
            </a:r>
          </a:p>
        </p:txBody>
      </p:sp>
      <p:sp>
        <p:nvSpPr>
          <p:cNvPr id="16" name="Rounded Rectangle 15"/>
          <p:cNvSpPr/>
          <p:nvPr/>
        </p:nvSpPr>
        <p:spPr>
          <a:xfrm>
            <a:off x="822960" y="3611880"/>
            <a:ext cx="6035040" cy="18288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97280" y="3749039"/>
            <a:ext cx="5486400" cy="320040"/>
          </a:xfrm>
          <a:prstGeom prst="rect">
            <a:avLst/>
          </a:prstGeom>
          <a:noFill/>
        </p:spPr>
        <p:txBody>
          <a:bodyPr wrap="square" lIns="0" tIns="0" rIns="0" bIns="0" anchor="t">
            <a:spAutoFit/>
          </a:bodyPr>
          <a:lstStyle/>
          <a:p>
            <a:pPr algn="l"/>
            <a:r>
              <a:rPr sz="1100" b="1" i="0">
                <a:solidFill>
                  <a:srgbClr val="9FB3C8"/>
                </a:solidFill>
                <a:latin typeface="Segoe UI"/>
              </a:rPr>
              <a:t>the computer's guesses:</a:t>
            </a:r>
          </a:p>
        </p:txBody>
      </p:sp>
      <p:sp>
        <p:nvSpPr>
          <p:cNvPr id="18" name="TextBox 17"/>
          <p:cNvSpPr txBox="1"/>
          <p:nvPr/>
        </p:nvSpPr>
        <p:spPr>
          <a:xfrm>
            <a:off x="1097280" y="4160520"/>
            <a:ext cx="1188720" cy="320040"/>
          </a:xfrm>
          <a:prstGeom prst="rect">
            <a:avLst/>
          </a:prstGeom>
          <a:noFill/>
        </p:spPr>
        <p:txBody>
          <a:bodyPr wrap="square" lIns="0" tIns="0" rIns="0" bIns="0" anchor="t">
            <a:spAutoFit/>
          </a:bodyPr>
          <a:lstStyle/>
          <a:p>
            <a:pPr algn="l"/>
            <a:r>
              <a:rPr sz="1200" b="1" i="0">
                <a:solidFill>
                  <a:srgbClr val="FFFFFF"/>
                </a:solidFill>
                <a:latin typeface="Segoe UI"/>
              </a:rPr>
              <a:t>enrol</a:t>
            </a:r>
          </a:p>
        </p:txBody>
      </p:sp>
      <p:sp>
        <p:nvSpPr>
          <p:cNvPr id="19" name="Rounded Rectangle 18"/>
          <p:cNvSpPr/>
          <p:nvPr/>
        </p:nvSpPr>
        <p:spPr>
          <a:xfrm>
            <a:off x="2377440" y="4215383"/>
            <a:ext cx="2651760" cy="201168"/>
          </a:xfrm>
          <a:prstGeom prst="roundRect">
            <a:avLst>
              <a:gd name="adj" fmla="val 50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120640" y="4160520"/>
            <a:ext cx="822960" cy="320040"/>
          </a:xfrm>
          <a:prstGeom prst="rect">
            <a:avLst/>
          </a:prstGeom>
          <a:noFill/>
        </p:spPr>
        <p:txBody>
          <a:bodyPr wrap="square" lIns="0" tIns="0" rIns="0" bIns="0" anchor="t">
            <a:spAutoFit/>
          </a:bodyPr>
          <a:lstStyle/>
          <a:p>
            <a:pPr algn="l"/>
            <a:r>
              <a:rPr sz="1050" b="0" i="0">
                <a:solidFill>
                  <a:srgbClr val="9FB3C8"/>
                </a:solidFill>
                <a:latin typeface="Segoe UI"/>
              </a:rPr>
              <a:t>62%</a:t>
            </a:r>
          </a:p>
        </p:txBody>
      </p:sp>
      <p:sp>
        <p:nvSpPr>
          <p:cNvPr id="21" name="TextBox 20"/>
          <p:cNvSpPr txBox="1"/>
          <p:nvPr/>
        </p:nvSpPr>
        <p:spPr>
          <a:xfrm>
            <a:off x="1097280" y="4572000"/>
            <a:ext cx="1188720" cy="320040"/>
          </a:xfrm>
          <a:prstGeom prst="rect">
            <a:avLst/>
          </a:prstGeom>
          <a:noFill/>
        </p:spPr>
        <p:txBody>
          <a:bodyPr wrap="square" lIns="0" tIns="0" rIns="0" bIns="0" anchor="t">
            <a:spAutoFit/>
          </a:bodyPr>
          <a:lstStyle/>
          <a:p>
            <a:pPr algn="l"/>
            <a:r>
              <a:rPr sz="1200" b="1" i="0">
                <a:solidFill>
                  <a:srgbClr val="FFFFFF"/>
                </a:solidFill>
                <a:latin typeface="Segoe UI"/>
              </a:rPr>
              <a:t>register</a:t>
            </a:r>
          </a:p>
        </p:txBody>
      </p:sp>
      <p:sp>
        <p:nvSpPr>
          <p:cNvPr id="22" name="Rounded Rectangle 21"/>
          <p:cNvSpPr/>
          <p:nvPr/>
        </p:nvSpPr>
        <p:spPr>
          <a:xfrm>
            <a:off x="2377440" y="4626864"/>
            <a:ext cx="1325880" cy="201168"/>
          </a:xfrm>
          <a:prstGeom prst="roundRect">
            <a:avLst>
              <a:gd name="adj" fmla="val 50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794760" y="4572000"/>
            <a:ext cx="822960" cy="320040"/>
          </a:xfrm>
          <a:prstGeom prst="rect">
            <a:avLst/>
          </a:prstGeom>
          <a:noFill/>
        </p:spPr>
        <p:txBody>
          <a:bodyPr wrap="square" lIns="0" tIns="0" rIns="0" bIns="0" anchor="t">
            <a:spAutoFit/>
          </a:bodyPr>
          <a:lstStyle/>
          <a:p>
            <a:pPr algn="l"/>
            <a:r>
              <a:rPr sz="1050" b="0" i="0">
                <a:solidFill>
                  <a:srgbClr val="9FB3C8"/>
                </a:solidFill>
                <a:latin typeface="Segoe UI"/>
              </a:rPr>
              <a:t>31%</a:t>
            </a:r>
          </a:p>
        </p:txBody>
      </p:sp>
      <p:sp>
        <p:nvSpPr>
          <p:cNvPr id="24" name="TextBox 23"/>
          <p:cNvSpPr txBox="1"/>
          <p:nvPr/>
        </p:nvSpPr>
        <p:spPr>
          <a:xfrm>
            <a:off x="1097280" y="4983480"/>
            <a:ext cx="1188720" cy="320040"/>
          </a:xfrm>
          <a:prstGeom prst="rect">
            <a:avLst/>
          </a:prstGeom>
          <a:noFill/>
        </p:spPr>
        <p:txBody>
          <a:bodyPr wrap="square" lIns="0" tIns="0" rIns="0" bIns="0" anchor="t">
            <a:spAutoFit/>
          </a:bodyPr>
          <a:lstStyle/>
          <a:p>
            <a:pPr algn="l"/>
            <a:r>
              <a:rPr sz="1200" b="1" i="0">
                <a:solidFill>
                  <a:srgbClr val="FFFFFF"/>
                </a:solidFill>
                <a:latin typeface="Segoe UI"/>
              </a:rPr>
              <a:t>party</a:t>
            </a:r>
          </a:p>
        </p:txBody>
      </p:sp>
      <p:sp>
        <p:nvSpPr>
          <p:cNvPr id="25" name="Rounded Rectangle 24"/>
          <p:cNvSpPr/>
          <p:nvPr/>
        </p:nvSpPr>
        <p:spPr>
          <a:xfrm>
            <a:off x="2377440" y="5038344"/>
            <a:ext cx="73152" cy="201168"/>
          </a:xfrm>
          <a:prstGeom prst="roundRect">
            <a:avLst>
              <a:gd name="adj" fmla="val 50000"/>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542032" y="4983480"/>
            <a:ext cx="822960" cy="320040"/>
          </a:xfrm>
          <a:prstGeom prst="rect">
            <a:avLst/>
          </a:prstGeom>
          <a:noFill/>
        </p:spPr>
        <p:txBody>
          <a:bodyPr wrap="square" lIns="0" tIns="0" rIns="0" bIns="0" anchor="t">
            <a:spAutoFit/>
          </a:bodyPr>
          <a:lstStyle/>
          <a:p>
            <a:pPr algn="l"/>
            <a:r>
              <a:rPr sz="1050" b="0" i="0">
                <a:solidFill>
                  <a:srgbClr val="9FB3C8"/>
                </a:solidFill>
                <a:latin typeface="Segoe UI"/>
              </a:rPr>
              <a:t>0.1%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4  ·  SEARCH BY MEANING</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MetMate searches by meaning</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737360"/>
            <a:ext cx="5897880" cy="23774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1874519"/>
            <a:ext cx="5486400" cy="320040"/>
          </a:xfrm>
          <a:prstGeom prst="rect">
            <a:avLst/>
          </a:prstGeom>
          <a:noFill/>
        </p:spPr>
        <p:txBody>
          <a:bodyPr wrap="square" lIns="0" tIns="0" rIns="0" bIns="0" anchor="t">
            <a:spAutoFit/>
          </a:bodyPr>
          <a:lstStyle/>
          <a:p>
            <a:pPr algn="l"/>
            <a:r>
              <a:rPr sz="1000" b="1" i="0">
                <a:solidFill>
                  <a:srgbClr val="9FB3C8"/>
                </a:solidFill>
                <a:latin typeface="Segoe UI"/>
              </a:rPr>
              <a:t>THE STORED KB — every chunk now carries its vector</a:t>
            </a:r>
          </a:p>
        </p:txBody>
      </p:sp>
      <p:sp>
        <p:nvSpPr>
          <p:cNvPr id="14" name="TextBox 13"/>
          <p:cNvSpPr txBox="1"/>
          <p:nvPr/>
        </p:nvSpPr>
        <p:spPr>
          <a:xfrm>
            <a:off x="1051560" y="2286000"/>
            <a:ext cx="3749039" cy="548640"/>
          </a:xfrm>
          <a:prstGeom prst="rect">
            <a:avLst/>
          </a:prstGeom>
          <a:noFill/>
        </p:spPr>
        <p:txBody>
          <a:bodyPr wrap="square" lIns="0" tIns="0" rIns="0" bIns="0" anchor="ctr">
            <a:spAutoFit/>
          </a:bodyPr>
          <a:lstStyle/>
          <a:p>
            <a:pPr algn="l">
              <a:lnSpc>
                <a:spcPct val="110000"/>
              </a:lnSpc>
            </a:pPr>
            <a:r>
              <a:rPr sz="1000" b="0" i="0">
                <a:solidFill>
                  <a:srgbClr val="FFFFFF"/>
                </a:solidFill>
                <a:latin typeface="Segoe UI"/>
              </a:rPr>
              <a:t>“Enrolment corrections must be lodged before census.”</a:t>
            </a:r>
          </a:p>
        </p:txBody>
      </p:sp>
      <p:sp>
        <p:nvSpPr>
          <p:cNvPr id="15" name="TextBox 14"/>
          <p:cNvSpPr txBox="1"/>
          <p:nvPr/>
        </p:nvSpPr>
        <p:spPr>
          <a:xfrm>
            <a:off x="4892040" y="2286000"/>
            <a:ext cx="1691640" cy="548640"/>
          </a:xfrm>
          <a:prstGeom prst="rect">
            <a:avLst/>
          </a:prstGeom>
          <a:noFill/>
        </p:spPr>
        <p:txBody>
          <a:bodyPr wrap="square" lIns="0" tIns="0" rIns="0" bIns="0" anchor="ctr">
            <a:spAutoFit/>
          </a:bodyPr>
          <a:lstStyle/>
          <a:p>
            <a:pPr algn="l"/>
            <a:r>
              <a:rPr sz="1050" b="1" i="0">
                <a:solidFill>
                  <a:srgbClr val="2DD4BF"/>
                </a:solidFill>
                <a:latin typeface="Consolas"/>
              </a:rPr>
              <a:t>[ 5.2,  0.1, …]</a:t>
            </a:r>
          </a:p>
        </p:txBody>
      </p:sp>
      <p:sp>
        <p:nvSpPr>
          <p:cNvPr id="16" name="TextBox 15"/>
          <p:cNvSpPr txBox="1"/>
          <p:nvPr/>
        </p:nvSpPr>
        <p:spPr>
          <a:xfrm>
            <a:off x="1051560" y="2852928"/>
            <a:ext cx="3749039" cy="548640"/>
          </a:xfrm>
          <a:prstGeom prst="rect">
            <a:avLst/>
          </a:prstGeom>
          <a:noFill/>
        </p:spPr>
        <p:txBody>
          <a:bodyPr wrap="square" lIns="0" tIns="0" rIns="0" bIns="0" anchor="ctr">
            <a:spAutoFit/>
          </a:bodyPr>
          <a:lstStyle/>
          <a:p>
            <a:pPr algn="l">
              <a:lnSpc>
                <a:spcPct val="110000"/>
              </a:lnSpc>
            </a:pPr>
            <a:r>
              <a:rPr sz="1000" b="0" i="0">
                <a:solidFill>
                  <a:srgbClr val="FFFFFF"/>
                </a:solidFill>
                <a:latin typeface="Segoe UI"/>
              </a:rPr>
              <a:t>“Library opening hours: 8am–10pm on term days.”</a:t>
            </a:r>
          </a:p>
        </p:txBody>
      </p:sp>
      <p:sp>
        <p:nvSpPr>
          <p:cNvPr id="17" name="TextBox 16"/>
          <p:cNvSpPr txBox="1"/>
          <p:nvPr/>
        </p:nvSpPr>
        <p:spPr>
          <a:xfrm>
            <a:off x="4892040" y="2852928"/>
            <a:ext cx="1691640" cy="548640"/>
          </a:xfrm>
          <a:prstGeom prst="rect">
            <a:avLst/>
          </a:prstGeom>
          <a:noFill/>
        </p:spPr>
        <p:txBody>
          <a:bodyPr wrap="square" lIns="0" tIns="0" rIns="0" bIns="0" anchor="ctr">
            <a:spAutoFit/>
          </a:bodyPr>
          <a:lstStyle/>
          <a:p>
            <a:pPr algn="l"/>
            <a:r>
              <a:rPr sz="1050" b="1" i="0">
                <a:solidFill>
                  <a:srgbClr val="9FB3C8"/>
                </a:solidFill>
                <a:latin typeface="Consolas"/>
              </a:rPr>
              <a:t>[−0.2,  4.7, …]</a:t>
            </a:r>
          </a:p>
        </p:txBody>
      </p:sp>
      <p:sp>
        <p:nvSpPr>
          <p:cNvPr id="18" name="TextBox 17"/>
          <p:cNvSpPr txBox="1"/>
          <p:nvPr/>
        </p:nvSpPr>
        <p:spPr>
          <a:xfrm>
            <a:off x="1051560" y="3419856"/>
            <a:ext cx="3749039" cy="548640"/>
          </a:xfrm>
          <a:prstGeom prst="rect">
            <a:avLst/>
          </a:prstGeom>
          <a:noFill/>
        </p:spPr>
        <p:txBody>
          <a:bodyPr wrap="square" lIns="0" tIns="0" rIns="0" bIns="0" anchor="ctr">
            <a:spAutoFit/>
          </a:bodyPr>
          <a:lstStyle/>
          <a:p>
            <a:pPr algn="l">
              <a:lnSpc>
                <a:spcPct val="110000"/>
              </a:lnSpc>
            </a:pPr>
            <a:r>
              <a:rPr sz="1000" b="0" i="0">
                <a:solidFill>
                  <a:srgbClr val="FFFFFF"/>
                </a:solidFill>
                <a:latin typeface="Segoe UI"/>
              </a:rPr>
              <a:t>“Withdrawal without penalty: apply before week 4.”</a:t>
            </a:r>
          </a:p>
        </p:txBody>
      </p:sp>
      <p:sp>
        <p:nvSpPr>
          <p:cNvPr id="19" name="TextBox 18"/>
          <p:cNvSpPr txBox="1"/>
          <p:nvPr/>
        </p:nvSpPr>
        <p:spPr>
          <a:xfrm>
            <a:off x="4892040" y="3419856"/>
            <a:ext cx="1691640" cy="548640"/>
          </a:xfrm>
          <a:prstGeom prst="rect">
            <a:avLst/>
          </a:prstGeom>
          <a:noFill/>
        </p:spPr>
        <p:txBody>
          <a:bodyPr wrap="square" lIns="0" tIns="0" rIns="0" bIns="0" anchor="ctr">
            <a:spAutoFit/>
          </a:bodyPr>
          <a:lstStyle/>
          <a:p>
            <a:pPr algn="l"/>
            <a:r>
              <a:rPr sz="1050" b="1" i="0">
                <a:solidFill>
                  <a:srgbClr val="9FB3C8"/>
                </a:solidFill>
                <a:latin typeface="Consolas"/>
              </a:rPr>
              <a:t>[−4.8,  0.3, …]</a:t>
            </a:r>
          </a:p>
        </p:txBody>
      </p:sp>
      <p:sp>
        <p:nvSpPr>
          <p:cNvPr id="24" name="Rounded Rectangle 23"/>
          <p:cNvSpPr/>
          <p:nvPr/>
        </p:nvSpPr>
        <p:spPr>
          <a:xfrm>
            <a:off x="822960" y="4434840"/>
            <a:ext cx="4114800" cy="731520"/>
          </a:xfrm>
          <a:prstGeom prst="roundRect">
            <a:avLst>
              <a:gd name="adj" fmla="val 30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51560" y="4434840"/>
            <a:ext cx="3657600" cy="731520"/>
          </a:xfrm>
          <a:prstGeom prst="rect">
            <a:avLst/>
          </a:prstGeom>
          <a:noFill/>
        </p:spPr>
        <p:txBody>
          <a:bodyPr wrap="square" lIns="0" tIns="0" rIns="0" bIns="0" anchor="ctr">
            <a:spAutoFit/>
          </a:bodyPr>
          <a:lstStyle/>
          <a:p>
            <a:pPr algn="l">
              <a:lnSpc>
                <a:spcPct val="120000"/>
              </a:lnSpc>
            </a:pPr>
            <a:r>
              <a:rPr sz="1150" b="1" i="1">
                <a:solidFill>
                  <a:srgbClr val="FFFFFF"/>
                </a:solidFill>
                <a:latin typeface="Segoe UI"/>
              </a:rPr>
              <a:t>“How do I fix a mistake in my registration?”</a:t>
            </a:r>
          </a:p>
        </p:txBody>
      </p:sp>
      <p:sp>
        <p:nvSpPr>
          <p:cNvPr id="26" name="Right Arrow 25"/>
          <p:cNvSpPr/>
          <p:nvPr/>
        </p:nvSpPr>
        <p:spPr>
          <a:xfrm>
            <a:off x="5029200" y="4663440"/>
            <a:ext cx="4114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5532120" y="4434840"/>
            <a:ext cx="1691640" cy="73152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669280" y="4434840"/>
            <a:ext cx="1417320" cy="731520"/>
          </a:xfrm>
          <a:prstGeom prst="rect">
            <a:avLst/>
          </a:prstGeom>
          <a:noFill/>
        </p:spPr>
        <p:txBody>
          <a:bodyPr wrap="square" lIns="0" tIns="0" rIns="0" bIns="0" anchor="ctr">
            <a:spAutoFit/>
          </a:bodyPr>
          <a:lstStyle/>
          <a:p>
            <a:pPr algn="ctr"/>
            <a:r>
              <a:rPr sz="1100" b="1" i="0">
                <a:solidFill>
                  <a:srgbClr val="F5B342"/>
                </a:solidFill>
                <a:latin typeface="Consolas"/>
              </a:rPr>
              <a:t>[ 5.6,  0.2, …]</a:t>
            </a:r>
          </a:p>
        </p:txBody>
      </p:sp>
      <p:sp>
        <p:nvSpPr>
          <p:cNvPr id="29" name="Right Arrow 28"/>
          <p:cNvSpPr/>
          <p:nvPr/>
        </p:nvSpPr>
        <p:spPr>
          <a:xfrm>
            <a:off x="7315200" y="4663440"/>
            <a:ext cx="4114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7818120" y="4343400"/>
            <a:ext cx="3566160"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046720" y="4343400"/>
            <a:ext cx="3108960" cy="914400"/>
          </a:xfrm>
          <a:prstGeom prst="rect">
            <a:avLst/>
          </a:prstGeom>
          <a:noFill/>
        </p:spPr>
        <p:txBody>
          <a:bodyPr wrap="square" lIns="0" tIns="0" rIns="0" bIns="0" anchor="ctr">
            <a:spAutoFit/>
          </a:bodyPr>
          <a:lstStyle/>
          <a:p>
            <a:pPr algn="l">
              <a:lnSpc>
                <a:spcPct val="120000"/>
              </a:lnSpc>
            </a:pPr>
            <a:r>
              <a:rPr sz="1100" b="1" i="0">
                <a:solidFill>
                  <a:srgbClr val="FFFFFF"/>
                </a:solidFill>
                <a:latin typeface="Segoe UI"/>
              </a:rPr>
              <a:t>nearest chunk: “Enrolment corrections…”</a:t>
            </a:r>
          </a:p>
          <a:p>
            <a:pPr algn="l"/>
            <a:r>
              <a:rPr sz="1050" b="1" i="0">
                <a:solidFill>
                  <a:srgbClr val="2DD4BF"/>
                </a:solidFill>
                <a:latin typeface="Segoe UI"/>
              </a:rPr>
              <a:t>ZERO shared words — found by meaning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ALL TOGETHER</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The whole picture — you built RAG</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64208"/>
            <a:ext cx="5486400" cy="292608"/>
          </a:xfrm>
          <a:prstGeom prst="rect">
            <a:avLst/>
          </a:prstGeom>
          <a:noFill/>
        </p:spPr>
        <p:txBody>
          <a:bodyPr wrap="square" lIns="0" tIns="0" rIns="0" bIns="0" anchor="t">
            <a:spAutoFit/>
          </a:bodyPr>
          <a:lstStyle/>
          <a:p>
            <a:pPr algn="l"/>
            <a:r>
              <a:rPr sz="1000" b="1" i="0">
                <a:solidFill>
                  <a:srgbClr val="9FB3C8"/>
                </a:solidFill>
                <a:latin typeface="Segoe UI"/>
              </a:rPr>
              <a:t>BUILT ONCE — BEFORE ANY QUESTION</a:t>
            </a:r>
          </a:p>
        </p:txBody>
      </p:sp>
      <p:sp>
        <p:nvSpPr>
          <p:cNvPr id="19" name="Rounded Rectangle 18"/>
          <p:cNvSpPr/>
          <p:nvPr/>
        </p:nvSpPr>
        <p:spPr>
          <a:xfrm>
            <a:off x="822960" y="2011680"/>
            <a:ext cx="2457450" cy="731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96112" y="2011680"/>
            <a:ext cx="2311146" cy="731520"/>
          </a:xfrm>
          <a:prstGeom prst="rect">
            <a:avLst/>
          </a:prstGeom>
          <a:noFill/>
        </p:spPr>
        <p:txBody>
          <a:bodyPr wrap="square" lIns="0" tIns="0" rIns="0" bIns="0" anchor="ctr">
            <a:spAutoFit/>
          </a:bodyPr>
          <a:lstStyle/>
          <a:p>
            <a:pPr algn="ctr">
              <a:lnSpc>
                <a:spcPct val="108000"/>
              </a:lnSpc>
            </a:pPr>
            <a:r>
              <a:rPr sz="1100" b="1" i="0">
                <a:solidFill>
                  <a:srgbClr val="FFFFFF"/>
                </a:solidFill>
                <a:latin typeface="Segoe UI"/>
              </a:rPr>
              <a:t>Documents (KB)</a:t>
            </a:r>
          </a:p>
        </p:txBody>
      </p:sp>
      <p:sp>
        <p:nvSpPr>
          <p:cNvPr id="21" name="Right Arrow 20"/>
          <p:cNvSpPr/>
          <p:nvPr/>
        </p:nvSpPr>
        <p:spPr>
          <a:xfrm>
            <a:off x="3298698" y="2295144"/>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3518153" y="2011680"/>
            <a:ext cx="2457450" cy="7315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591306" y="2011680"/>
            <a:ext cx="2311146" cy="731520"/>
          </a:xfrm>
          <a:prstGeom prst="rect">
            <a:avLst/>
          </a:prstGeom>
          <a:noFill/>
        </p:spPr>
        <p:txBody>
          <a:bodyPr wrap="square" lIns="0" tIns="0" rIns="0" bIns="0" anchor="ctr">
            <a:spAutoFit/>
          </a:bodyPr>
          <a:lstStyle/>
          <a:p>
            <a:pPr algn="ctr">
              <a:lnSpc>
                <a:spcPct val="108000"/>
              </a:lnSpc>
            </a:pPr>
            <a:r>
              <a:rPr sz="1100" b="1" i="0">
                <a:solidFill>
                  <a:srgbClr val="FFFFFF"/>
                </a:solidFill>
                <a:latin typeface="Segoe UI"/>
              </a:rPr>
              <a:t>Split into chunks</a:t>
            </a:r>
          </a:p>
        </p:txBody>
      </p:sp>
      <p:sp>
        <p:nvSpPr>
          <p:cNvPr id="24" name="Right Arrow 23"/>
          <p:cNvSpPr/>
          <p:nvPr/>
        </p:nvSpPr>
        <p:spPr>
          <a:xfrm>
            <a:off x="5993892" y="2295144"/>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6213348" y="2011680"/>
            <a:ext cx="2457450" cy="73152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86500" y="2011680"/>
            <a:ext cx="2311146" cy="731520"/>
          </a:xfrm>
          <a:prstGeom prst="rect">
            <a:avLst/>
          </a:prstGeom>
          <a:noFill/>
        </p:spPr>
        <p:txBody>
          <a:bodyPr wrap="square" lIns="0" tIns="0" rIns="0" bIns="0" anchor="ctr">
            <a:spAutoFit/>
          </a:bodyPr>
          <a:lstStyle/>
          <a:p>
            <a:pPr algn="ctr">
              <a:lnSpc>
                <a:spcPct val="108000"/>
              </a:lnSpc>
            </a:pPr>
            <a:r>
              <a:rPr sz="1100" b="1" i="0">
                <a:solidFill>
                  <a:srgbClr val="FFFFFF"/>
                </a:solidFill>
                <a:latin typeface="Segoe UI"/>
              </a:rPr>
              <a:t>Chunk → vector</a:t>
            </a:r>
          </a:p>
        </p:txBody>
      </p:sp>
      <p:sp>
        <p:nvSpPr>
          <p:cNvPr id="27" name="Right Arrow 26"/>
          <p:cNvSpPr/>
          <p:nvPr/>
        </p:nvSpPr>
        <p:spPr>
          <a:xfrm>
            <a:off x="8689086" y="2295144"/>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8908542" y="2011680"/>
            <a:ext cx="2457450" cy="73152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981694" y="2011680"/>
            <a:ext cx="2311146" cy="731520"/>
          </a:xfrm>
          <a:prstGeom prst="rect">
            <a:avLst/>
          </a:prstGeom>
          <a:noFill/>
        </p:spPr>
        <p:txBody>
          <a:bodyPr wrap="square" lIns="0" tIns="0" rIns="0" bIns="0" anchor="ctr">
            <a:spAutoFit/>
          </a:bodyPr>
          <a:lstStyle/>
          <a:p>
            <a:pPr algn="ctr">
              <a:lnSpc>
                <a:spcPct val="108000"/>
              </a:lnSpc>
            </a:pPr>
            <a:r>
              <a:rPr sz="1100" b="1" i="0">
                <a:solidFill>
                  <a:srgbClr val="FFFFFF"/>
                </a:solidFill>
                <a:latin typeface="Segoe UI"/>
              </a:rPr>
              <a:t>Store: chunk + vector</a:t>
            </a:r>
          </a:p>
        </p:txBody>
      </p:sp>
      <p:sp>
        <p:nvSpPr>
          <p:cNvPr id="30" name="TextBox 29"/>
          <p:cNvSpPr txBox="1"/>
          <p:nvPr/>
        </p:nvSpPr>
        <p:spPr>
          <a:xfrm>
            <a:off x="822960" y="2999232"/>
            <a:ext cx="5486400" cy="292608"/>
          </a:xfrm>
          <a:prstGeom prst="rect">
            <a:avLst/>
          </a:prstGeom>
          <a:noFill/>
        </p:spPr>
        <p:txBody>
          <a:bodyPr wrap="square" lIns="0" tIns="0" rIns="0" bIns="0" anchor="t">
            <a:spAutoFit/>
          </a:bodyPr>
          <a:lstStyle/>
          <a:p>
            <a:pPr algn="l"/>
            <a:r>
              <a:rPr sz="1000" b="1" i="0">
                <a:solidFill>
                  <a:srgbClr val="9FB3C8"/>
                </a:solidFill>
                <a:latin typeface="Segoe UI"/>
              </a:rPr>
              <a:t>EVERY QUESTION, LIVE</a:t>
            </a:r>
          </a:p>
        </p:txBody>
      </p:sp>
      <p:sp>
        <p:nvSpPr>
          <p:cNvPr id="31" name="Rounded Rectangle 30"/>
          <p:cNvSpPr/>
          <p:nvPr/>
        </p:nvSpPr>
        <p:spPr>
          <a:xfrm>
            <a:off x="822960" y="3310128"/>
            <a:ext cx="1559051"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96112"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Question</a:t>
            </a:r>
          </a:p>
        </p:txBody>
      </p:sp>
      <p:sp>
        <p:nvSpPr>
          <p:cNvPr id="33" name="Right Arrow 32"/>
          <p:cNvSpPr/>
          <p:nvPr/>
        </p:nvSpPr>
        <p:spPr>
          <a:xfrm>
            <a:off x="2400300"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2619756" y="3310128"/>
            <a:ext cx="1559051" cy="86868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692908"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Question → vector</a:t>
            </a:r>
          </a:p>
        </p:txBody>
      </p:sp>
      <p:sp>
        <p:nvSpPr>
          <p:cNvPr id="36" name="Right Arrow 35"/>
          <p:cNvSpPr/>
          <p:nvPr/>
        </p:nvSpPr>
        <p:spPr>
          <a:xfrm>
            <a:off x="4197095"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4416552" y="3310128"/>
            <a:ext cx="1559051" cy="8686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489704"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Find nearest chunks</a:t>
            </a:r>
          </a:p>
        </p:txBody>
      </p:sp>
      <p:sp>
        <p:nvSpPr>
          <p:cNvPr id="39" name="Right Arrow 38"/>
          <p:cNvSpPr/>
          <p:nvPr/>
        </p:nvSpPr>
        <p:spPr>
          <a:xfrm>
            <a:off x="5993892"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6213348" y="3310128"/>
            <a:ext cx="1559051"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286500"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Build prompt:
chunks + question</a:t>
            </a:r>
          </a:p>
        </p:txBody>
      </p:sp>
      <p:sp>
        <p:nvSpPr>
          <p:cNvPr id="42" name="Right Arrow 41"/>
          <p:cNvSpPr/>
          <p:nvPr/>
        </p:nvSpPr>
        <p:spPr>
          <a:xfrm>
            <a:off x="7790688"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8010144" y="3310128"/>
            <a:ext cx="1559051"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083296"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Model writes</a:t>
            </a:r>
          </a:p>
        </p:txBody>
      </p:sp>
      <p:sp>
        <p:nvSpPr>
          <p:cNvPr id="45" name="Right Arrow 44"/>
          <p:cNvSpPr/>
          <p:nvPr/>
        </p:nvSpPr>
        <p:spPr>
          <a:xfrm>
            <a:off x="9587484"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ounded Rectangle 45"/>
          <p:cNvSpPr/>
          <p:nvPr/>
        </p:nvSpPr>
        <p:spPr>
          <a:xfrm>
            <a:off x="9806940" y="3310128"/>
            <a:ext cx="1559051"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880092"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Answer</a:t>
            </a:r>
          </a:p>
        </p:txBody>
      </p:sp>
      <p:cxnSp>
        <p:nvCxnSpPr>
          <p:cNvPr id="48" name="Connector 47"/>
          <p:cNvCxnSpPr/>
          <p:nvPr/>
        </p:nvCxnSpPr>
        <p:spPr>
          <a:xfrm flipH="1">
            <a:off x="5196078" y="2743200"/>
            <a:ext cx="4941189" cy="566928"/>
          </a:xfrm>
          <a:prstGeom prst="line">
            <a:avLst/>
          </a:prstGeom>
          <a:ln w="15875">
            <a:solidFill>
              <a:srgbClr val="9FB3C8"/>
            </a:solidFill>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8103869" y="4224528"/>
            <a:ext cx="1371600" cy="292608"/>
          </a:xfrm>
          <a:prstGeom prst="roundRect">
            <a:avLst>
              <a:gd name="adj" fmla="val 50000"/>
            </a:avLst>
          </a:prstGeom>
          <a:solidFill>
            <a:srgbClr val="F5B342"/>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a:solidFill>
                  <a:srgbClr val="0B1B33"/>
                </a:solidFill>
                <a:latin typeface="Segoe UI"/>
              </a:rPr>
              <a:t>the only AI box</a:t>
            </a:r>
          </a:p>
        </p:txBody>
      </p:sp>
      <p:cxnSp>
        <p:nvCxnSpPr>
          <p:cNvPr id="50" name="Connector 49"/>
          <p:cNvCxnSpPr/>
          <p:nvPr/>
        </p:nvCxnSpPr>
        <p:spPr>
          <a:xfrm>
            <a:off x="2619756" y="4709160"/>
            <a:ext cx="3355848" cy="0"/>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619756"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975604"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2619756" y="4754880"/>
            <a:ext cx="3355848" cy="292608"/>
          </a:xfrm>
          <a:prstGeom prst="rect">
            <a:avLst/>
          </a:prstGeom>
          <a:noFill/>
        </p:spPr>
        <p:txBody>
          <a:bodyPr wrap="square" lIns="0" tIns="0" rIns="0" bIns="0" anchor="t">
            <a:spAutoFit/>
          </a:bodyPr>
          <a:lstStyle/>
          <a:p>
            <a:pPr algn="ctr"/>
            <a:r>
              <a:rPr sz="1050" b="1" i="0">
                <a:solidFill>
                  <a:srgbClr val="F5B342"/>
                </a:solidFill>
                <a:latin typeface="Segoe UI"/>
              </a:rPr>
              <a:t>RETRIEVAL — find it</a:t>
            </a:r>
          </a:p>
        </p:txBody>
      </p:sp>
      <p:cxnSp>
        <p:nvCxnSpPr>
          <p:cNvPr id="54" name="Connector 53"/>
          <p:cNvCxnSpPr/>
          <p:nvPr/>
        </p:nvCxnSpPr>
        <p:spPr>
          <a:xfrm>
            <a:off x="6213348" y="4709160"/>
            <a:ext cx="1559052" cy="0"/>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213348"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7772400"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13348" y="4754880"/>
            <a:ext cx="1559052" cy="292608"/>
          </a:xfrm>
          <a:prstGeom prst="rect">
            <a:avLst/>
          </a:prstGeom>
          <a:noFill/>
        </p:spPr>
        <p:txBody>
          <a:bodyPr wrap="square" lIns="0" tIns="0" rIns="0" bIns="0" anchor="t">
            <a:spAutoFit/>
          </a:bodyPr>
          <a:lstStyle/>
          <a:p>
            <a:pPr algn="ctr"/>
            <a:r>
              <a:rPr sz="1050" b="1" i="0">
                <a:solidFill>
                  <a:srgbClr val="F5B342"/>
                </a:solidFill>
                <a:latin typeface="Segoe UI"/>
              </a:rPr>
              <a:t>AUGMENTED — add it</a:t>
            </a:r>
          </a:p>
        </p:txBody>
      </p:sp>
      <p:cxnSp>
        <p:nvCxnSpPr>
          <p:cNvPr id="58" name="Connector 57"/>
          <p:cNvCxnSpPr/>
          <p:nvPr/>
        </p:nvCxnSpPr>
        <p:spPr>
          <a:xfrm>
            <a:off x="8010144" y="4709160"/>
            <a:ext cx="1559052" cy="0"/>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010144"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569196"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8010144" y="4754880"/>
            <a:ext cx="1559052" cy="292608"/>
          </a:xfrm>
          <a:prstGeom prst="rect">
            <a:avLst/>
          </a:prstGeom>
          <a:noFill/>
        </p:spPr>
        <p:txBody>
          <a:bodyPr wrap="square" lIns="0" tIns="0" rIns="0" bIns="0" anchor="t">
            <a:spAutoFit/>
          </a:bodyPr>
          <a:lstStyle/>
          <a:p>
            <a:pPr algn="ctr"/>
            <a:r>
              <a:rPr sz="1050" b="1" i="0">
                <a:solidFill>
                  <a:srgbClr val="F5B342"/>
                </a:solidFill>
                <a:latin typeface="Segoe UI"/>
              </a:rPr>
              <a:t>GENERATION — write it</a:t>
            </a:r>
          </a:p>
        </p:txBody>
      </p:sp>
      <p:sp>
        <p:nvSpPr>
          <p:cNvPr id="62" name="Rounded Rectangle 61"/>
          <p:cNvSpPr/>
          <p:nvPr/>
        </p:nvSpPr>
        <p:spPr>
          <a:xfrm>
            <a:off x="822960" y="5257800"/>
            <a:ext cx="10561320" cy="8229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097280" y="5534980"/>
            <a:ext cx="10058400" cy="268600"/>
          </a:xfrm>
          <a:prstGeom prst="rect">
            <a:avLst/>
          </a:prstGeom>
          <a:noFill/>
        </p:spPr>
        <p:txBody>
          <a:bodyPr wrap="square" lIns="0" tIns="0" rIns="0" bIns="0" anchor="ctr">
            <a:spAutoFit/>
          </a:bodyPr>
          <a:lstStyle/>
          <a:p>
            <a:pPr algn="l">
              <a:lnSpc>
                <a:spcPct val="130000"/>
              </a:lnSpc>
            </a:pPr>
            <a:r>
              <a:rPr sz="1500" b="1" i="0" dirty="0">
                <a:solidFill>
                  <a:srgbClr val="FFFFFF"/>
                </a:solidFill>
                <a:latin typeface="Segoe UI"/>
              </a:rPr>
              <a:t>This recipe has a name: RAG — Retrieval-Augmented Generation</a:t>
            </a:r>
            <a:r>
              <a:rPr lang="en-AU" sz="1500" b="1" dirty="0">
                <a:solidFill>
                  <a:srgbClr val="FFFFFF"/>
                </a:solidFill>
                <a:latin typeface="Segoe UI"/>
              </a:rPr>
              <a:t>.</a:t>
            </a:r>
            <a:endParaRPr sz="1500" b="1" i="0" dirty="0">
              <a:solidFill>
                <a:srgbClr val="FFFFFF"/>
              </a:solidFill>
              <a:latin typeface="Segoe U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5  ·  TOWARD THE REAL WORLD</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What real chatbots add</a:t>
            </a: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3" name="Rounded Rectangle 12"/>
          <p:cNvSpPr/>
          <p:nvPr/>
        </p:nvSpPr>
        <p:spPr>
          <a:xfrm>
            <a:off x="822960" y="2331720"/>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547316" y="2880360"/>
            <a:ext cx="2960522" cy="365760"/>
          </a:xfrm>
          <a:prstGeom prst="rect">
            <a:avLst/>
          </a:prstGeom>
          <a:noFill/>
        </p:spPr>
        <p:txBody>
          <a:bodyPr wrap="square" lIns="0" tIns="0" rIns="0" bIns="0" anchor="t">
            <a:spAutoFit/>
          </a:bodyPr>
          <a:lstStyle/>
          <a:p>
            <a:pPr algn="l"/>
            <a:r>
              <a:rPr sz="1350" b="1" i="0" dirty="0">
                <a:solidFill>
                  <a:srgbClr val="2DD4BF"/>
                </a:solidFill>
                <a:latin typeface="Segoe UI"/>
              </a:rPr>
              <a:t>Hierarchical chunking</a:t>
            </a:r>
          </a:p>
        </p:txBody>
      </p:sp>
      <p:sp>
        <p:nvSpPr>
          <p:cNvPr id="16" name="Rounded Rectangle 15"/>
          <p:cNvSpPr/>
          <p:nvPr/>
        </p:nvSpPr>
        <p:spPr>
          <a:xfrm>
            <a:off x="4414418" y="2331720"/>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45354" y="2880360"/>
            <a:ext cx="2960522" cy="365760"/>
          </a:xfrm>
          <a:prstGeom prst="rect">
            <a:avLst/>
          </a:prstGeom>
          <a:noFill/>
        </p:spPr>
        <p:txBody>
          <a:bodyPr wrap="square" lIns="0" tIns="0" rIns="0" bIns="0" anchor="t">
            <a:spAutoFit/>
          </a:bodyPr>
          <a:lstStyle/>
          <a:p>
            <a:pPr algn="l"/>
            <a:r>
              <a:rPr sz="1350" b="1" i="0" dirty="0">
                <a:solidFill>
                  <a:srgbClr val="2DD4BF"/>
                </a:solidFill>
                <a:latin typeface="Segoe UI"/>
              </a:rPr>
              <a:t>Context-aware chunking</a:t>
            </a:r>
          </a:p>
        </p:txBody>
      </p:sp>
      <p:sp>
        <p:nvSpPr>
          <p:cNvPr id="19" name="Rounded Rectangle 18"/>
          <p:cNvSpPr/>
          <p:nvPr/>
        </p:nvSpPr>
        <p:spPr>
          <a:xfrm>
            <a:off x="8005876" y="2331720"/>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097877" y="2893557"/>
            <a:ext cx="2960522" cy="365760"/>
          </a:xfrm>
          <a:prstGeom prst="rect">
            <a:avLst/>
          </a:prstGeom>
          <a:noFill/>
        </p:spPr>
        <p:txBody>
          <a:bodyPr wrap="square" lIns="0" tIns="0" rIns="0" bIns="0" anchor="t">
            <a:spAutoFit/>
          </a:bodyPr>
          <a:lstStyle/>
          <a:p>
            <a:pPr algn="l"/>
            <a:r>
              <a:rPr sz="1350" b="1" i="0" dirty="0">
                <a:solidFill>
                  <a:srgbClr val="2DD4BF"/>
                </a:solidFill>
                <a:latin typeface="Segoe UI"/>
              </a:rPr>
              <a:t>Hybrid search</a:t>
            </a:r>
          </a:p>
        </p:txBody>
      </p:sp>
      <p:sp>
        <p:nvSpPr>
          <p:cNvPr id="22" name="Rounded Rectangle 21"/>
          <p:cNvSpPr/>
          <p:nvPr/>
        </p:nvSpPr>
        <p:spPr>
          <a:xfrm>
            <a:off x="822960" y="3977639"/>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042223" y="4480560"/>
            <a:ext cx="2960522" cy="365760"/>
          </a:xfrm>
          <a:prstGeom prst="rect">
            <a:avLst/>
          </a:prstGeom>
          <a:noFill/>
        </p:spPr>
        <p:txBody>
          <a:bodyPr wrap="square" lIns="0" tIns="0" rIns="0" bIns="0" anchor="t">
            <a:spAutoFit/>
          </a:bodyPr>
          <a:lstStyle/>
          <a:p>
            <a:pPr algn="l"/>
            <a:r>
              <a:rPr sz="1350" b="1" i="0" dirty="0">
                <a:solidFill>
                  <a:srgbClr val="2DD4BF"/>
                </a:solidFill>
                <a:latin typeface="Segoe UI"/>
              </a:rPr>
              <a:t>Reranking</a:t>
            </a:r>
          </a:p>
        </p:txBody>
      </p:sp>
      <p:sp>
        <p:nvSpPr>
          <p:cNvPr id="25" name="Rounded Rectangle 24"/>
          <p:cNvSpPr/>
          <p:nvPr/>
        </p:nvSpPr>
        <p:spPr>
          <a:xfrm>
            <a:off x="4414418" y="3977639"/>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145938" y="4480560"/>
            <a:ext cx="2960522" cy="365760"/>
          </a:xfrm>
          <a:prstGeom prst="rect">
            <a:avLst/>
          </a:prstGeom>
          <a:noFill/>
        </p:spPr>
        <p:txBody>
          <a:bodyPr wrap="square" lIns="0" tIns="0" rIns="0" bIns="0" anchor="t">
            <a:spAutoFit/>
          </a:bodyPr>
          <a:lstStyle/>
          <a:p>
            <a:pPr algn="l"/>
            <a:r>
              <a:rPr sz="1350" b="1" i="0" dirty="0">
                <a:solidFill>
                  <a:srgbClr val="2DD4BF"/>
                </a:solidFill>
                <a:latin typeface="Segoe UI"/>
              </a:rPr>
              <a:t>Conversation memory</a:t>
            </a:r>
          </a:p>
        </p:txBody>
      </p:sp>
      <p:sp>
        <p:nvSpPr>
          <p:cNvPr id="28" name="Rounded Rectangle 27"/>
          <p:cNvSpPr/>
          <p:nvPr/>
        </p:nvSpPr>
        <p:spPr>
          <a:xfrm>
            <a:off x="8005876" y="3977639"/>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231173" y="4480559"/>
            <a:ext cx="2960522" cy="365760"/>
          </a:xfrm>
          <a:prstGeom prst="rect">
            <a:avLst/>
          </a:prstGeom>
          <a:noFill/>
        </p:spPr>
        <p:txBody>
          <a:bodyPr wrap="square" lIns="0" tIns="0" rIns="0" bIns="0" anchor="t">
            <a:spAutoFit/>
          </a:bodyPr>
          <a:lstStyle/>
          <a:p>
            <a:pPr algn="l"/>
            <a:r>
              <a:rPr sz="1350" b="1" i="0" dirty="0">
                <a:solidFill>
                  <a:srgbClr val="2DD4BF"/>
                </a:solidFill>
                <a:latin typeface="Segoe UI"/>
              </a:rPr>
              <a:t>Verification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TAKE-AWAYS</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Three things to take home</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965960"/>
            <a:ext cx="10561320"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143000" y="2171700"/>
            <a:ext cx="457200" cy="45720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0B1B33"/>
                </a:solidFill>
                <a:latin typeface="Segoe UI"/>
              </a:rPr>
              <a:t>1</a:t>
            </a:r>
          </a:p>
        </p:txBody>
      </p:sp>
      <p:sp>
        <p:nvSpPr>
          <p:cNvPr id="14" name="TextBox 13"/>
          <p:cNvSpPr txBox="1"/>
          <p:nvPr/>
        </p:nvSpPr>
        <p:spPr>
          <a:xfrm>
            <a:off x="1828800" y="1965960"/>
            <a:ext cx="9326880" cy="868680"/>
          </a:xfrm>
          <a:prstGeom prst="rect">
            <a:avLst/>
          </a:prstGeom>
          <a:noFill/>
        </p:spPr>
        <p:txBody>
          <a:bodyPr wrap="square" anchor="ctr">
            <a:spAutoFit/>
          </a:bodyPr>
          <a:lstStyle/>
          <a:p>
            <a:r>
              <a:rPr sz="1500" b="1">
                <a:solidFill>
                  <a:srgbClr val="FFFFFF"/>
                </a:solidFill>
                <a:latin typeface="Segoe UI"/>
              </a:rPr>
              <a:t>An AI product is mostly ordinary software</a:t>
            </a:r>
            <a:r>
              <a:rPr sz="1300">
                <a:solidFill>
                  <a:srgbClr val="9FB3C8"/>
                </a:solidFill>
                <a:latin typeface="Segoe UI"/>
              </a:rPr>
              <a:t>  —  one AI box — and YOUR code decides what it reads.</a:t>
            </a:r>
          </a:p>
        </p:txBody>
      </p:sp>
      <p:sp>
        <p:nvSpPr>
          <p:cNvPr id="15" name="Rounded Rectangle 14"/>
          <p:cNvSpPr/>
          <p:nvPr/>
        </p:nvSpPr>
        <p:spPr>
          <a:xfrm>
            <a:off x="822960" y="3017520"/>
            <a:ext cx="10561320" cy="8686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143000" y="3223260"/>
            <a:ext cx="457200" cy="457200"/>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0B1B33"/>
                </a:solidFill>
                <a:latin typeface="Segoe UI"/>
              </a:rPr>
              <a:t>2</a:t>
            </a:r>
          </a:p>
        </p:txBody>
      </p:sp>
      <p:sp>
        <p:nvSpPr>
          <p:cNvPr id="17" name="TextBox 16"/>
          <p:cNvSpPr txBox="1"/>
          <p:nvPr/>
        </p:nvSpPr>
        <p:spPr>
          <a:xfrm>
            <a:off x="1828800" y="3017520"/>
            <a:ext cx="9326880" cy="868680"/>
          </a:xfrm>
          <a:prstGeom prst="rect">
            <a:avLst/>
          </a:prstGeom>
          <a:noFill/>
        </p:spPr>
        <p:txBody>
          <a:bodyPr wrap="square" anchor="ctr">
            <a:spAutoFit/>
          </a:bodyPr>
          <a:lstStyle/>
          <a:p>
            <a:r>
              <a:rPr sz="1500" b="1">
                <a:solidFill>
                  <a:srgbClr val="FFFFFF"/>
                </a:solidFill>
                <a:latin typeface="Segoe UI"/>
              </a:rPr>
              <a:t>Embeddings</a:t>
            </a:r>
            <a:r>
              <a:rPr sz="1300">
                <a:solidFill>
                  <a:srgbClr val="9FB3C8"/>
                </a:solidFill>
                <a:latin typeface="Segoe UI"/>
              </a:rPr>
              <a:t>  —  words as numbers, meaning as distance. The one concept to keep.</a:t>
            </a:r>
          </a:p>
        </p:txBody>
      </p:sp>
      <p:sp>
        <p:nvSpPr>
          <p:cNvPr id="18" name="Rounded Rectangle 17"/>
          <p:cNvSpPr/>
          <p:nvPr/>
        </p:nvSpPr>
        <p:spPr>
          <a:xfrm>
            <a:off x="822960" y="4069079"/>
            <a:ext cx="10561320"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143000" y="4274819"/>
            <a:ext cx="457200" cy="45720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0B1B33"/>
                </a:solidFill>
                <a:latin typeface="Segoe UI"/>
              </a:rPr>
              <a:t>3</a:t>
            </a:r>
          </a:p>
        </p:txBody>
      </p:sp>
      <p:sp>
        <p:nvSpPr>
          <p:cNvPr id="20" name="TextBox 19"/>
          <p:cNvSpPr txBox="1"/>
          <p:nvPr/>
        </p:nvSpPr>
        <p:spPr>
          <a:xfrm>
            <a:off x="1828800" y="4069079"/>
            <a:ext cx="9326880" cy="868680"/>
          </a:xfrm>
          <a:prstGeom prst="rect">
            <a:avLst/>
          </a:prstGeom>
          <a:noFill/>
        </p:spPr>
        <p:txBody>
          <a:bodyPr wrap="square" anchor="ctr">
            <a:spAutoFit/>
          </a:bodyPr>
          <a:lstStyle/>
          <a:p>
            <a:r>
              <a:rPr sz="1500" b="1">
                <a:solidFill>
                  <a:srgbClr val="FFFFFF"/>
                </a:solidFill>
                <a:latin typeface="Segoe UI"/>
              </a:rPr>
              <a:t>RAG — Retrieve, Augment, Generate</a:t>
            </a:r>
            <a:r>
              <a:rPr sz="1300">
                <a:solidFill>
                  <a:srgbClr val="9FB3C8"/>
                </a:solidFill>
                <a:latin typeface="Segoe UI"/>
              </a:rPr>
              <a:t>  —  you built it today, phase by phase, failure by failure.</a:t>
            </a:r>
          </a:p>
        </p:txBody>
      </p:sp>
      <p:sp>
        <p:nvSpPr>
          <p:cNvPr id="21" name="TextBox 20"/>
          <p:cNvSpPr txBox="1"/>
          <p:nvPr/>
        </p:nvSpPr>
        <p:spPr>
          <a:xfrm>
            <a:off x="822960" y="5257800"/>
            <a:ext cx="10561320" cy="411480"/>
          </a:xfrm>
          <a:prstGeom prst="rect">
            <a:avLst/>
          </a:prstGeom>
          <a:noFill/>
        </p:spPr>
        <p:txBody>
          <a:bodyPr wrap="square" lIns="0" tIns="0" rIns="0" bIns="0" anchor="t">
            <a:spAutoFit/>
          </a:bodyPr>
          <a:lstStyle/>
          <a:p>
            <a:pPr algn="ctr"/>
            <a:r>
              <a:rPr sz="1350" b="0" i="1" dirty="0">
                <a:solidFill>
                  <a:srgbClr val="F5B342"/>
                </a:solidFill>
                <a:latin typeface="Segoe UI"/>
              </a:rPr>
              <a:t>The recipe is public. Fitting it to YOUR domain is the part that's yours.</a:t>
            </a:r>
          </a:p>
        </p:txBody>
      </p:sp>
      <p:sp>
        <p:nvSpPr>
          <p:cNvPr id="22" name="TextBox 21"/>
          <p:cNvSpPr txBox="1"/>
          <p:nvPr/>
        </p:nvSpPr>
        <p:spPr>
          <a:xfrm>
            <a:off x="822960" y="5715000"/>
            <a:ext cx="10561320" cy="548640"/>
          </a:xfrm>
          <a:prstGeom prst="rect">
            <a:avLst/>
          </a:prstGeom>
          <a:noFill/>
        </p:spPr>
        <p:txBody>
          <a:bodyPr wrap="square" lIns="0" tIns="0" rIns="0" bIns="0" anchor="t">
            <a:spAutoFit/>
          </a:bodyPr>
          <a:lstStyle/>
          <a:p>
            <a:pPr algn="ctr"/>
            <a:r>
              <a:rPr sz="2400" b="1" i="0">
                <a:solidFill>
                  <a:srgbClr val="FFFFFF"/>
                </a:solidFill>
                <a:latin typeface="Segoe UI"/>
              </a:rP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TotalTime>
  <Words>4798</Words>
  <Application>Microsoft Office PowerPoint</Application>
  <PresentationFormat>Widescreen</PresentationFormat>
  <Paragraphs>251</Paragraphs>
  <Slides>17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Aptos</vt:lpstr>
      <vt:lpstr>Arial</vt:lpstr>
      <vt:lpstr>Calibri</vt:lpstr>
      <vt:lpstr>Consolas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Arif Rahman</cp:lastModifiedBy>
  <cp:revision>39</cp:revision>
  <dcterms:created xsi:type="dcterms:W3CDTF">2013-01-27T09:14:16Z</dcterms:created>
  <dcterms:modified xsi:type="dcterms:W3CDTF">2026-07-14T01:35:41Z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1a1b368-7309-4b30-bce0-f7926ba87c5f_Enabled">
    <vt:lpwstr>true</vt:lpwstr>
  </property>
  <property fmtid="{D5CDD505-2E9C-101B-9397-08002B2CF9AE}" pid="3" name="MSIP_Label_71a1b368-7309-4b30-bce0-f7926ba87c5f_SetDate">
    <vt:lpwstr>2026-07-14T00:39:58Z</vt:lpwstr>
  </property>
  <property fmtid="{D5CDD505-2E9C-101B-9397-08002B2CF9AE}" pid="4" name="MSIP_Label_71a1b368-7309-4b30-bce0-f7926ba87c5f_Method">
    <vt:lpwstr>Standard</vt:lpwstr>
  </property>
  <property fmtid="{D5CDD505-2E9C-101B-9397-08002B2CF9AE}" pid="5" name="MSIP_Label_71a1b368-7309-4b30-bce0-f7926ba87c5f_Name">
    <vt:lpwstr>Official</vt:lpwstr>
  </property>
  <property fmtid="{D5CDD505-2E9C-101B-9397-08002B2CF9AE}" pid="6" name="MSIP_Label_71a1b368-7309-4b30-bce0-f7926ba87c5f_SiteId">
    <vt:lpwstr>6a5d8a00-9eed-4f0f-af9b-6be165add301</vt:lpwstr>
  </property>
  <property fmtid="{D5CDD505-2E9C-101B-9397-08002B2CF9AE}" pid="7" name="MSIP_Label_71a1b368-7309-4b30-bce0-f7926ba87c5f_ActionId">
    <vt:lpwstr>380b68ec-fc14-4ebb-b7f8-0158fc843a0b</vt:lpwstr>
  </property>
  <property fmtid="{D5CDD505-2E9C-101B-9397-08002B2CF9AE}" pid="8" name="MSIP_Label_71a1b368-7309-4b30-bce0-f7926ba87c5f_ContentBits">
    <vt:lpwstr>1</vt:lpwstr>
  </property>
  <property fmtid="{D5CDD505-2E9C-101B-9397-08002B2CF9AE}" pid="9" name="MSIP_Label_71a1b368-7309-4b30-bce0-f7926ba87c5f_Tag">
    <vt:lpwstr>10, 3, 0, 1</vt:lpwstr>
  </property>
  <property fmtid="{D5CDD505-2E9C-101B-9397-08002B2CF9AE}" pid="10" name="ClassificationContentMarkingHeaderLocations">
    <vt:lpwstr>Office Theme:8</vt:lpwstr>
  </property>
  <property fmtid="{D5CDD505-2E9C-101B-9397-08002B2CF9AE}" pid="11" name="ClassificationContentMarkingHeaderText">
    <vt:lpwstr>OFFICIAL</vt:lpwstr>
  </property>
</Properties>
</file>