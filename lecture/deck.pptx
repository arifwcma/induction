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7" autoAdjust="0"/>
  </p:normalViewPr>
  <p:slideViewPr>
    <p:cSldViewPr snapToGrid="0" snapToObjects="1">
      <p:cViewPr varScale="1">
        <p:scale>
          <a:sx n="93" d="100"/>
          <a:sy n="93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96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Under the hood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KB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OpenAI -&gt; ChatGPT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/>
              <a:t>All docs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OpenAI API – magic box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chunk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BM25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Semantic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Pass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Pass, fail, course</a:t>
            </a:r>
          </a:p>
          <a:p>
            <a:r>
              <a:rPr lang="en-AU" dirty="0"/>
              <a:t>Dimension</a:t>
            </a:r>
          </a:p>
          <a:p>
            <a:r>
              <a:rPr lang="en-AU" dirty="0"/>
              <a:t>300-3000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Representation learning</a:t>
            </a:r>
          </a:p>
          <a:p>
            <a:r>
              <a:rPr lang="en-AU" dirty="0"/>
              <a:t>Local embedding models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82417-D982-CC3B-5F9B-7E48A043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D380A-4828-67A9-C0D9-E18C5A640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8FF01-FD02-A1AA-ADB2-7285E71C8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chunk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A1CCE-AD47-D1B0-70AA-BF7D18BA4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1090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11BD3A-479B-8677-E6BF-8A54C15F95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32463" y="63500"/>
            <a:ext cx="763587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 dirty="0">
                <a:solidFill>
                  <a:srgbClr val="FFFFFF"/>
                </a:solidFill>
                <a:latin typeface="Segoe UI"/>
              </a:rPr>
              <a:t>Talk to Your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487168"/>
            <a:ext cx="1737360" cy="73152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28339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2DD4BF"/>
                </a:solidFill>
                <a:latin typeface="Segoe UI"/>
              </a:rPr>
              <a:t>Case study: </a:t>
            </a:r>
            <a:r>
              <a:rPr sz="3200" b="1" i="0" dirty="0" err="1">
                <a:solidFill>
                  <a:srgbClr val="2DD4BF"/>
                </a:solidFill>
                <a:latin typeface="Segoe UI"/>
              </a:rPr>
              <a:t>MetMate</a:t>
            </a:r>
            <a:endParaRPr sz="3200" b="1" i="0" dirty="0">
              <a:solidFill>
                <a:srgbClr val="2DD4BF"/>
              </a:solidFill>
              <a:latin typeface="Segoe UI"/>
            </a:endParaRPr>
          </a:p>
        </p:txBody>
      </p:sp>
      <p:pic>
        <p:nvPicPr>
          <p:cNvPr id="13" name="Picture 12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754" y="411480"/>
            <a:ext cx="124846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61910CB8-D5BA-7CDA-00F2-FD5737F91B76}"/>
              </a:ext>
            </a:extLst>
          </p:cNvPr>
          <p:cNvSpPr/>
          <p:nvPr/>
        </p:nvSpPr>
        <p:spPr>
          <a:xfrm>
            <a:off x="2359152" y="4377795"/>
            <a:ext cx="7236911" cy="1201072"/>
          </a:xfrm>
          <a:prstGeom prst="roundRect">
            <a:avLst>
              <a:gd name="adj" fmla="val 25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6FF880-C597-AAB4-5321-97F3D5F4326E}"/>
              </a:ext>
            </a:extLst>
          </p:cNvPr>
          <p:cNvSpPr txBox="1"/>
          <p:nvPr/>
        </p:nvSpPr>
        <p:spPr>
          <a:xfrm>
            <a:off x="3196687" y="4770725"/>
            <a:ext cx="5907639" cy="323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AU" sz="2000" b="0" i="1" dirty="0">
                <a:solidFill>
                  <a:srgbClr val="FFFFFF"/>
                </a:solidFill>
                <a:latin typeface="Segoe UI"/>
              </a:rPr>
              <a:t>Question: </a:t>
            </a:r>
            <a:r>
              <a:rPr sz="2000" b="0" i="1" dirty="0">
                <a:solidFill>
                  <a:srgbClr val="FFFFFF"/>
                </a:solidFill>
                <a:latin typeface="Segoe UI"/>
              </a:rPr>
              <a:t>What are the library opening hours?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1  ·  JUST ASK 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Upload a PDF, ask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9456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822960" y="219456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0F224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257300" y="2261801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AU" b="1" i="0" dirty="0">
                <a:solidFill>
                  <a:schemeClr val="accent6"/>
                </a:solidFill>
                <a:latin typeface="Segoe UI"/>
              </a:rPr>
              <a:t>ChatGPT application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51559" y="2788920"/>
            <a:ext cx="2743199" cy="384048"/>
          </a:xfrm>
          <a:prstGeom prst="roundRect">
            <a:avLst>
              <a:gd name="adj" fmla="val 50000"/>
            </a:avLst>
          </a:prstGeom>
          <a:solidFill>
            <a:srgbClr val="0F2240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234440" y="2873222"/>
            <a:ext cx="22690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Segoe UI"/>
              </a:rPr>
              <a:t>handbook.pdf</a:t>
            </a:r>
            <a:r>
              <a:rPr lang="en-AU" sz="1400" b="0" i="0" dirty="0">
                <a:solidFill>
                  <a:srgbClr val="FFFFFF"/>
                </a:solidFill>
                <a:latin typeface="Segoe UI"/>
              </a:rPr>
              <a:t> (200 pages)</a:t>
            </a:r>
            <a:endParaRPr sz="14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51560" y="3337560"/>
            <a:ext cx="2743200" cy="731520"/>
          </a:xfrm>
          <a:prstGeom prst="roundRect">
            <a:avLst>
              <a:gd name="adj" fmla="val 25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234440" y="3432316"/>
            <a:ext cx="2377440" cy="542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FFFFFF"/>
                </a:solidFill>
                <a:latin typeface="Segoe UI"/>
              </a:rPr>
              <a:t>What are the library opening hours?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206240"/>
            <a:ext cx="2743200" cy="731520"/>
          </a:xfrm>
          <a:prstGeom prst="roundRect">
            <a:avLst>
              <a:gd name="adj" fmla="val 25000"/>
            </a:avLst>
          </a:prstGeom>
          <a:solidFill>
            <a:srgbClr val="0F2240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197864" y="4442573"/>
            <a:ext cx="2560318" cy="2588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9FB3C8"/>
                </a:solidFill>
                <a:latin typeface="Segoe UI"/>
              </a:rPr>
              <a:t>8am–10pm on term days.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64961"/>
            <a:ext cx="10972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9FB3C8"/>
                </a:solidFill>
                <a:latin typeface="Segoe UI"/>
              </a:rPr>
              <a:t>under the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520440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9FB3C8"/>
                </a:solidFill>
                <a:latin typeface="Segoe UI"/>
              </a:rPr>
              <a:t>hood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3931920"/>
            <a:ext cx="77724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5074920" y="21945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5303520" y="2788920"/>
            <a:ext cx="3316498" cy="1888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rgbClr val="9FB3C8"/>
                </a:solidFill>
                <a:latin typeface="Consolas"/>
              </a:rPr>
              <a:t>&lt;entire text of</a:t>
            </a:r>
            <a:r>
              <a:rPr lang="en-AU" sz="1600" b="0" i="1" dirty="0">
                <a:solidFill>
                  <a:srgbClr val="9FB3C8"/>
                </a:solidFill>
                <a:latin typeface="Consolas"/>
              </a:rPr>
              <a:t> </a:t>
            </a:r>
            <a:r>
              <a:rPr sz="1600" b="0" i="1" dirty="0">
                <a:solidFill>
                  <a:srgbClr val="9FB3C8"/>
                </a:solidFill>
                <a:latin typeface="Consolas"/>
              </a:rPr>
              <a:t>handbook.pdf&gt;</a:t>
            </a:r>
          </a:p>
          <a:p>
            <a:pPr algn="l">
              <a:lnSpc>
                <a:spcPct val="125000"/>
              </a:lnSpc>
            </a:pPr>
            <a:endParaRPr lang="en-AU" b="1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b="1" i="0" dirty="0">
                <a:solidFill>
                  <a:srgbClr val="FFFFFF"/>
                </a:solidFill>
                <a:latin typeface="Consolas"/>
              </a:rPr>
              <a:t>+</a:t>
            </a:r>
            <a:endParaRPr lang="en-AU" b="1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endParaRPr b="1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600" b="0" i="0" dirty="0">
                <a:solidFill>
                  <a:srgbClr val="FFFFFF"/>
                </a:solidFill>
                <a:latin typeface="Consolas"/>
              </a:rPr>
              <a:t>“What are the library</a:t>
            </a:r>
          </a:p>
          <a:p>
            <a:pPr algn="l"/>
            <a:r>
              <a:rPr sz="1600" b="0" i="0" dirty="0">
                <a:solidFill>
                  <a:srgbClr val="FFFFFF"/>
                </a:solidFill>
                <a:latin typeface="Consolas"/>
              </a:rPr>
              <a:t>opening hours?”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843069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2DD4BF"/>
                </a:solidFill>
                <a:latin typeface="Segoe UI"/>
              </a:rPr>
              <a:t>ONE long piece of text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69680" y="3657600"/>
            <a:ext cx="64008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Rounded Rectangle 30"/>
          <p:cNvSpPr/>
          <p:nvPr/>
        </p:nvSpPr>
        <p:spPr>
          <a:xfrm>
            <a:off x="9646920" y="301752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9784080" y="3246120"/>
            <a:ext cx="1691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b="1" i="0" dirty="0">
                <a:solidFill>
                  <a:schemeClr val="accent6"/>
                </a:solidFill>
                <a:latin typeface="Segoe UI"/>
              </a:rPr>
              <a:t>GPT 5.5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84080" y="3657600"/>
            <a:ext cx="1691640" cy="563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Segoe UI"/>
              </a:rPr>
              <a:t>reads it all, writes the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1  ·  IT DOESN'T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Why this doesn't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6422" y="2194560"/>
            <a:ext cx="3362858" cy="22402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29886" y="3100064"/>
            <a:ext cx="402336" cy="402336"/>
          </a:xfrm>
          <a:prstGeom prst="ellipse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AU" sz="1400" b="1" dirty="0">
                <a:solidFill>
                  <a:srgbClr val="0B1B33"/>
                </a:solidFill>
                <a:latin typeface="Segoe UI"/>
              </a:rPr>
              <a:t>2</a:t>
            </a:r>
            <a:endParaRPr sz="1400" b="1" dirty="0">
              <a:solidFill>
                <a:srgbClr val="0B1B33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1812" y="3158010"/>
            <a:ext cx="2494178" cy="24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AU" sz="1600" b="1" i="0" dirty="0">
                <a:solidFill>
                  <a:srgbClr val="FFFFFF"/>
                </a:solidFill>
                <a:latin typeface="Segoe UI"/>
              </a:rPr>
              <a:t>Costly product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0684" y="2232782"/>
            <a:ext cx="3362858" cy="22402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178" y="3063240"/>
            <a:ext cx="402336" cy="402336"/>
          </a:xfrm>
          <a:prstGeom prst="ellipse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AU" sz="1400" b="1" dirty="0">
                <a:solidFill>
                  <a:srgbClr val="0B1B33"/>
                </a:solidFill>
                <a:latin typeface="Segoe UI"/>
              </a:rPr>
              <a:t>1</a:t>
            </a:r>
            <a:endParaRPr sz="1400" b="1" dirty="0">
              <a:solidFill>
                <a:srgbClr val="0B1B33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439" y="3133660"/>
            <a:ext cx="2494178" cy="24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 dirty="0">
                <a:solidFill>
                  <a:srgbClr val="FFFFFF"/>
                </a:solidFill>
                <a:latin typeface="Segoe UI"/>
              </a:rPr>
              <a:t>A paid </a:t>
            </a:r>
            <a:r>
              <a:rPr lang="en-AU" sz="1600" b="1" i="0" dirty="0">
                <a:solidFill>
                  <a:srgbClr val="FFFFFF"/>
                </a:solidFill>
                <a:latin typeface="Segoe UI"/>
              </a:rPr>
              <a:t>license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 per student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5876" y="2194560"/>
            <a:ext cx="3362858" cy="22402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38567" y="3063240"/>
            <a:ext cx="396809" cy="402336"/>
          </a:xfrm>
          <a:prstGeom prst="ellipse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AU" sz="1400" b="1" dirty="0">
                <a:solidFill>
                  <a:srgbClr val="0B1B33"/>
                </a:solidFill>
                <a:latin typeface="Segoe UI"/>
              </a:rPr>
              <a:t>3</a:t>
            </a:r>
            <a:endParaRPr sz="1400" b="1" dirty="0">
              <a:solidFill>
                <a:srgbClr val="0B1B33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41486" y="3063241"/>
            <a:ext cx="2642793" cy="520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AU" sz="1600" b="1" i="0" dirty="0">
                <a:solidFill>
                  <a:srgbClr val="FFFFFF"/>
                </a:solidFill>
                <a:latin typeface="Segoe UI"/>
              </a:rPr>
              <a:t>Extensive knowledge base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, always changing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9175" y="4852739"/>
            <a:ext cx="4480560" cy="6858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552" y="4896199"/>
            <a:ext cx="4297680" cy="5066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200" b="1" dirty="0">
                <a:solidFill>
                  <a:srgbClr val="2DD4BF"/>
                </a:solidFill>
                <a:latin typeface="Segoe UI"/>
              </a:rPr>
              <a:t>Knowledge Base (KB)</a:t>
            </a:r>
            <a:endParaRPr sz="3200" dirty="0">
              <a:solidFill>
                <a:srgbClr val="9FB3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2  ·  OUR OWN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Our own bot — same trick, our pipes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501" y="3086100"/>
            <a:ext cx="2422989" cy="9601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976251" y="3246265"/>
            <a:ext cx="2317355" cy="639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 dirty="0">
                <a:solidFill>
                  <a:srgbClr val="FFFFFF"/>
                </a:solidFill>
                <a:latin typeface="Segoe UI"/>
              </a:rPr>
              <a:t>Student's browser
chat page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4036" y="3483864"/>
            <a:ext cx="540623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ounded Rectangle 14"/>
          <p:cNvSpPr/>
          <p:nvPr/>
        </p:nvSpPr>
        <p:spPr>
          <a:xfrm>
            <a:off x="4152042" y="3086100"/>
            <a:ext cx="2790493" cy="9601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200548" y="3412465"/>
            <a:ext cx="2668836" cy="307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 dirty="0">
                <a:solidFill>
                  <a:srgbClr val="FFFFFF"/>
                </a:solidFill>
                <a:latin typeface="Segoe UI"/>
              </a:rPr>
              <a:t>Our </a:t>
            </a:r>
            <a:r>
              <a:rPr lang="en-AU" sz="2000" b="1" i="0" dirty="0">
                <a:solidFill>
                  <a:srgbClr val="FFFFFF"/>
                </a:solidFill>
                <a:latin typeface="Segoe UI"/>
              </a:rPr>
              <a:t>web application</a:t>
            </a:r>
            <a:endParaRPr sz="2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029918" y="3412465"/>
            <a:ext cx="1545581" cy="2359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Rounded Rectangle 17"/>
          <p:cNvSpPr/>
          <p:nvPr/>
        </p:nvSpPr>
        <p:spPr>
          <a:xfrm>
            <a:off x="8648650" y="3086100"/>
            <a:ext cx="2790493" cy="9601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8697156" y="3412464"/>
            <a:ext cx="2668836" cy="307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AU" sz="2000" b="1" i="0" dirty="0">
                <a:solidFill>
                  <a:srgbClr val="FFFFFF"/>
                </a:solidFill>
                <a:latin typeface="Segoe UI"/>
              </a:rPr>
              <a:t>GPT 5.5</a:t>
            </a:r>
            <a:endParaRPr sz="2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B1C2B3-5A40-0160-0B0D-D9000B180AA1}"/>
              </a:ext>
            </a:extLst>
          </p:cNvPr>
          <p:cNvSpPr txBox="1"/>
          <p:nvPr/>
        </p:nvSpPr>
        <p:spPr>
          <a:xfrm>
            <a:off x="6912891" y="3086100"/>
            <a:ext cx="17654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b="1" i="0" dirty="0">
                <a:solidFill>
                  <a:schemeClr val="accent6"/>
                </a:solidFill>
                <a:latin typeface="Segoe UI"/>
              </a:rPr>
              <a:t>OpenAI API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76D4EA-CB8F-A2E8-E76F-543B7ECF8155}"/>
              </a:ext>
            </a:extLst>
          </p:cNvPr>
          <p:cNvSpPr txBox="1"/>
          <p:nvPr/>
        </p:nvSpPr>
        <p:spPr>
          <a:xfrm>
            <a:off x="6461175" y="3661628"/>
            <a:ext cx="2668836" cy="215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AU" sz="1400" b="1" i="0" dirty="0">
                <a:solidFill>
                  <a:srgbClr val="FFFFFF"/>
                </a:solidFill>
                <a:latin typeface="Segoe UI"/>
              </a:rPr>
              <a:t>KB + Question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2  ·  AI VS NOT-AI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How much of this is actually 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48" name="Rounded Rectangle 11">
            <a:extLst>
              <a:ext uri="{FF2B5EF4-FFF2-40B4-BE49-F238E27FC236}">
                <a16:creationId xmlns:a16="http://schemas.microsoft.com/office/drawing/2014/main" id="{B249E33D-1174-0977-FA78-3AEFAD19223C}"/>
              </a:ext>
            </a:extLst>
          </p:cNvPr>
          <p:cNvSpPr/>
          <p:nvPr/>
        </p:nvSpPr>
        <p:spPr>
          <a:xfrm>
            <a:off x="924501" y="3086100"/>
            <a:ext cx="2422989" cy="9601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46F20B-7792-203F-2F33-1CA6BC2C3ED2}"/>
              </a:ext>
            </a:extLst>
          </p:cNvPr>
          <p:cNvSpPr txBox="1"/>
          <p:nvPr/>
        </p:nvSpPr>
        <p:spPr>
          <a:xfrm>
            <a:off x="976251" y="3246265"/>
            <a:ext cx="2317355" cy="639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 dirty="0">
                <a:solidFill>
                  <a:srgbClr val="FFFFFF"/>
                </a:solidFill>
                <a:latin typeface="Segoe UI"/>
              </a:rPr>
              <a:t>Student's browser
chat page</a:t>
            </a:r>
          </a:p>
        </p:txBody>
      </p:sp>
      <p:sp>
        <p:nvSpPr>
          <p:cNvPr id="52" name="Right Arrow 13">
            <a:extLst>
              <a:ext uri="{FF2B5EF4-FFF2-40B4-BE49-F238E27FC236}">
                <a16:creationId xmlns:a16="http://schemas.microsoft.com/office/drawing/2014/main" id="{C78D8B31-3D4A-C582-CB68-26C4958D5344}"/>
              </a:ext>
            </a:extLst>
          </p:cNvPr>
          <p:cNvSpPr/>
          <p:nvPr/>
        </p:nvSpPr>
        <p:spPr>
          <a:xfrm>
            <a:off x="3524036" y="3483864"/>
            <a:ext cx="540623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Rounded Rectangle 14">
            <a:extLst>
              <a:ext uri="{FF2B5EF4-FFF2-40B4-BE49-F238E27FC236}">
                <a16:creationId xmlns:a16="http://schemas.microsoft.com/office/drawing/2014/main" id="{A294CCF8-9B1C-3C4B-54AC-F896B68A10BE}"/>
              </a:ext>
            </a:extLst>
          </p:cNvPr>
          <p:cNvSpPr/>
          <p:nvPr/>
        </p:nvSpPr>
        <p:spPr>
          <a:xfrm>
            <a:off x="4152042" y="3086100"/>
            <a:ext cx="2790493" cy="9601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8BBA36-8D7C-D428-0E6F-5C32D2467A9F}"/>
              </a:ext>
            </a:extLst>
          </p:cNvPr>
          <p:cNvSpPr txBox="1"/>
          <p:nvPr/>
        </p:nvSpPr>
        <p:spPr>
          <a:xfrm>
            <a:off x="4200548" y="3412465"/>
            <a:ext cx="2668836" cy="307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 dirty="0">
                <a:solidFill>
                  <a:srgbClr val="FFFFFF"/>
                </a:solidFill>
                <a:latin typeface="Segoe UI"/>
              </a:rPr>
              <a:t>Our </a:t>
            </a:r>
            <a:r>
              <a:rPr lang="en-AU" sz="2000" b="1" i="0" dirty="0">
                <a:solidFill>
                  <a:srgbClr val="FFFFFF"/>
                </a:solidFill>
                <a:latin typeface="Segoe UI"/>
              </a:rPr>
              <a:t>web application</a:t>
            </a:r>
            <a:endParaRPr sz="2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8" name="Right Arrow 16">
            <a:extLst>
              <a:ext uri="{FF2B5EF4-FFF2-40B4-BE49-F238E27FC236}">
                <a16:creationId xmlns:a16="http://schemas.microsoft.com/office/drawing/2014/main" id="{97D8A931-AE57-15E4-E968-E2810D35F421}"/>
              </a:ext>
            </a:extLst>
          </p:cNvPr>
          <p:cNvSpPr/>
          <p:nvPr/>
        </p:nvSpPr>
        <p:spPr>
          <a:xfrm>
            <a:off x="7029918" y="3412465"/>
            <a:ext cx="1545581" cy="2359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11D56E37-6765-082C-2366-8CD0883DB643}"/>
              </a:ext>
            </a:extLst>
          </p:cNvPr>
          <p:cNvSpPr/>
          <p:nvPr/>
        </p:nvSpPr>
        <p:spPr>
          <a:xfrm>
            <a:off x="8648650" y="3086100"/>
            <a:ext cx="2790493" cy="960120"/>
          </a:xfrm>
          <a:prstGeom prst="roundRect">
            <a:avLst>
              <a:gd name="adj" fmla="val 6000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08900A-D03A-B9A3-6AB9-EA41898A29B3}"/>
              </a:ext>
            </a:extLst>
          </p:cNvPr>
          <p:cNvSpPr txBox="1"/>
          <p:nvPr/>
        </p:nvSpPr>
        <p:spPr>
          <a:xfrm>
            <a:off x="8697156" y="3412464"/>
            <a:ext cx="2668836" cy="307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AU" sz="2000" b="1" i="0" dirty="0">
                <a:solidFill>
                  <a:srgbClr val="FFFFFF"/>
                </a:solidFill>
                <a:latin typeface="Segoe UI"/>
              </a:rPr>
              <a:t>GPT 5.5</a:t>
            </a:r>
            <a:endParaRPr sz="2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178C59-A377-E166-B8F9-A43EB6F76820}"/>
              </a:ext>
            </a:extLst>
          </p:cNvPr>
          <p:cNvSpPr txBox="1"/>
          <p:nvPr/>
        </p:nvSpPr>
        <p:spPr>
          <a:xfrm>
            <a:off x="6912891" y="3086100"/>
            <a:ext cx="17654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b="1" i="0" dirty="0">
                <a:solidFill>
                  <a:schemeClr val="accent6"/>
                </a:solidFill>
                <a:latin typeface="Segoe UI"/>
              </a:rPr>
              <a:t>OpenAI API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F49702-A9A2-4685-B436-4B8D4E380DB6}"/>
              </a:ext>
            </a:extLst>
          </p:cNvPr>
          <p:cNvSpPr txBox="1"/>
          <p:nvPr/>
        </p:nvSpPr>
        <p:spPr>
          <a:xfrm>
            <a:off x="6461175" y="3661628"/>
            <a:ext cx="2668836" cy="215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AU" sz="1400" b="1" i="0" dirty="0">
                <a:solidFill>
                  <a:srgbClr val="FFFFFF"/>
                </a:solidFill>
                <a:latin typeface="Segoe UI"/>
              </a:rPr>
              <a:t>KB + Question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86C87C5-4473-7E7D-6EF7-07234A6583FA}"/>
              </a:ext>
            </a:extLst>
          </p:cNvPr>
          <p:cNvSpPr/>
          <p:nvPr/>
        </p:nvSpPr>
        <p:spPr>
          <a:xfrm>
            <a:off x="739739" y="2291137"/>
            <a:ext cx="6290179" cy="231168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40D3628-E651-8DC6-A9B5-1E954DE17056}"/>
              </a:ext>
            </a:extLst>
          </p:cNvPr>
          <p:cNvSpPr/>
          <p:nvPr/>
        </p:nvSpPr>
        <p:spPr>
          <a:xfrm>
            <a:off x="8575499" y="2273157"/>
            <a:ext cx="2962380" cy="231168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77E622-947B-1FE6-6DEE-389BC522BF4C}"/>
              </a:ext>
            </a:extLst>
          </p:cNvPr>
          <p:cNvSpPr txBox="1"/>
          <p:nvPr/>
        </p:nvSpPr>
        <p:spPr>
          <a:xfrm>
            <a:off x="8830695" y="4702203"/>
            <a:ext cx="26084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b="1" i="0" dirty="0">
                <a:solidFill>
                  <a:schemeClr val="accent6"/>
                </a:solidFill>
                <a:latin typeface="Segoe UI"/>
              </a:rPr>
              <a:t>AI – non-deterministic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36B090-9883-6BC4-3A99-F4CF772A44C1}"/>
              </a:ext>
            </a:extLst>
          </p:cNvPr>
          <p:cNvSpPr txBox="1"/>
          <p:nvPr/>
        </p:nvSpPr>
        <p:spPr>
          <a:xfrm>
            <a:off x="2580604" y="4700449"/>
            <a:ext cx="26084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b="1" i="0" dirty="0">
                <a:solidFill>
                  <a:schemeClr val="accent6"/>
                </a:solidFill>
                <a:latin typeface="Segoe UI"/>
              </a:rPr>
              <a:t>Non-AI –deterministic</a:t>
            </a:r>
            <a:endParaRPr b="1" i="0" dirty="0">
              <a:solidFill>
                <a:schemeClr val="accent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2  ·  IT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question, two million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42316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3069"/>
            <a:ext cx="2651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9FB3C8"/>
                </a:solidFill>
                <a:latin typeface="Segoe UI"/>
              </a:rPr>
              <a:t>the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2651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300 PDFs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66160"/>
            <a:ext cx="2651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5B342"/>
                </a:solidFill>
                <a:latin typeface="Segoe UI"/>
              </a:rPr>
              <a:t>≈ 2</a:t>
            </a:r>
            <a:r>
              <a:rPr lang="en-AU" sz="2000" b="1" i="0" dirty="0">
                <a:solidFill>
                  <a:srgbClr val="F5B342"/>
                </a:solidFill>
                <a:latin typeface="Segoe UI"/>
              </a:rPr>
              <a:t> million</a:t>
            </a:r>
            <a:r>
              <a:rPr sz="2000" b="1" i="0" dirty="0">
                <a:solidFill>
                  <a:srgbClr val="F5B342"/>
                </a:solidFill>
                <a:latin typeface="Segoe UI"/>
              </a:rPr>
              <a:t> words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69080" y="3291840"/>
            <a:ext cx="64008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ounded Rectangle 18"/>
          <p:cNvSpPr/>
          <p:nvPr/>
        </p:nvSpPr>
        <p:spPr>
          <a:xfrm>
            <a:off x="4846320" y="242316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5760720" y="2610664"/>
            <a:ext cx="2651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F5B342"/>
                </a:solidFill>
                <a:latin typeface="Segoe UI"/>
              </a:rPr>
              <a:t>the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6543" y="3330567"/>
            <a:ext cx="1928459" cy="322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1" i="0" dirty="0">
                <a:solidFill>
                  <a:srgbClr val="FFFFFF"/>
                </a:solidFill>
                <a:latin typeface="Segoe UI"/>
              </a:rPr>
              <a:t>ALL of it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92440" y="3291840"/>
            <a:ext cx="64008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ounded Rectangle 22"/>
          <p:cNvSpPr/>
          <p:nvPr/>
        </p:nvSpPr>
        <p:spPr>
          <a:xfrm>
            <a:off x="8869680" y="242316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9539935" y="2606040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E06C6C"/>
                </a:solidFill>
                <a:latin typeface="Segoe UI"/>
              </a:rPr>
              <a:t>the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8760" y="3218021"/>
            <a:ext cx="22402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E06C6C"/>
                </a:solidFill>
                <a:latin typeface="Segoe UI"/>
              </a:rPr>
              <a:t>~1 minute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3  ·  SEARCH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Segoe UI"/>
              </a:rPr>
              <a:t>Send less: </a:t>
            </a:r>
            <a:r>
              <a:rPr lang="en-AU" sz="3000" b="1" i="0" dirty="0">
                <a:solidFill>
                  <a:srgbClr val="FFFFFF"/>
                </a:solidFill>
                <a:latin typeface="Segoe UI"/>
              </a:rPr>
              <a:t>Chunking</a:t>
            </a:r>
            <a:endParaRPr sz="3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96112" y="2441545"/>
            <a:ext cx="1412748" cy="5118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KB
documents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00300" y="2615184"/>
            <a:ext cx="201168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Rounded Rectangle 15"/>
          <p:cNvSpPr/>
          <p:nvPr/>
        </p:nvSpPr>
        <p:spPr>
          <a:xfrm>
            <a:off x="2619756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2692908" y="2441545"/>
            <a:ext cx="1412748" cy="5118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 dirty="0">
                <a:solidFill>
                  <a:srgbClr val="FFFFFF"/>
                </a:solidFill>
                <a:latin typeface="Segoe UI"/>
              </a:rPr>
              <a:t>split into
</a:t>
            </a:r>
            <a:r>
              <a:rPr sz="1600" b="1" i="0" dirty="0">
                <a:solidFill>
                  <a:schemeClr val="accent6"/>
                </a:solidFill>
                <a:latin typeface="Segoe UI"/>
              </a:rPr>
              <a:t>chunks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97095" y="2615184"/>
            <a:ext cx="201168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ounded Rectangle 18"/>
          <p:cNvSpPr/>
          <p:nvPr/>
        </p:nvSpPr>
        <p:spPr>
          <a:xfrm>
            <a:off x="4416552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4489704" y="2308592"/>
            <a:ext cx="1412748" cy="77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pick the top 5
for this question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93892" y="2615184"/>
            <a:ext cx="201168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ed Rectangle 21"/>
          <p:cNvSpPr/>
          <p:nvPr/>
        </p:nvSpPr>
        <p:spPr>
          <a:xfrm>
            <a:off x="6213348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6286500" y="2308591"/>
            <a:ext cx="1412748" cy="77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prompt:
5 chunks + question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90688" y="2615184"/>
            <a:ext cx="201168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Rounded Rectangle 24"/>
          <p:cNvSpPr/>
          <p:nvPr/>
        </p:nvSpPr>
        <p:spPr>
          <a:xfrm>
            <a:off x="8010144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8083296" y="2574497"/>
            <a:ext cx="1412748" cy="2459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AU" sz="1600" b="1" i="0" dirty="0">
                <a:solidFill>
                  <a:srgbClr val="FFFFFF"/>
                </a:solidFill>
                <a:latin typeface="Segoe UI"/>
              </a:rPr>
              <a:t>GPT 5.5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587484" y="2615184"/>
            <a:ext cx="201168" cy="164592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Rounded Rectangle 27"/>
          <p:cNvSpPr/>
          <p:nvPr/>
        </p:nvSpPr>
        <p:spPr>
          <a:xfrm>
            <a:off x="9806940" y="2240280"/>
            <a:ext cx="1559051" cy="9144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9880092" y="2574497"/>
            <a:ext cx="1412748" cy="2459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1766" y="5029200"/>
            <a:ext cx="4572514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140539" y="5256461"/>
            <a:ext cx="401514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2DD4BF"/>
                </a:solidFill>
                <a:latin typeface="Segoe UI"/>
              </a:rPr>
              <a:t>200 pages  →  2 pages per question</a:t>
            </a:r>
          </a:p>
        </p:txBody>
      </p:sp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E0230A7D-146A-4D31-5A00-2E3734E72C9D}"/>
              </a:ext>
            </a:extLst>
          </p:cNvPr>
          <p:cNvSpPr/>
          <p:nvPr/>
        </p:nvSpPr>
        <p:spPr>
          <a:xfrm>
            <a:off x="896112" y="5074920"/>
            <a:ext cx="3100535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F9C2E9-C4CF-1413-5C42-83102BEA364F}"/>
              </a:ext>
            </a:extLst>
          </p:cNvPr>
          <p:cNvSpPr txBox="1"/>
          <p:nvPr/>
        </p:nvSpPr>
        <p:spPr>
          <a:xfrm>
            <a:off x="1157139" y="5302181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AU" b="1" i="0" dirty="0">
                <a:solidFill>
                  <a:srgbClr val="2DD4BF"/>
                </a:solidFill>
                <a:latin typeface="Segoe UI"/>
              </a:rPr>
              <a:t>New terminology: chunk</a:t>
            </a:r>
            <a:endParaRPr b="1" i="0" dirty="0">
              <a:solidFill>
                <a:srgbClr val="2DD4B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3  ·  SEARCH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Finding the pieces — no AI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737360"/>
            <a:ext cx="6949440" cy="548640"/>
          </a:xfrm>
          <a:prstGeom prst="roundRect">
            <a:avLst>
              <a:gd name="adj" fmla="val 30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1097280" y="1873181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1">
                <a:solidFill>
                  <a:srgbClr val="FFFFFF"/>
                </a:solidFill>
                <a:latin typeface="Segoe UI"/>
              </a:rPr>
              <a:t>“What are the library opening hours?”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Segoe UI"/>
              </a:rPr>
              <a:t>THE KB, AS ACTUALLY STORED — A TABLE OF CHUNKS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40"/>
            <a:ext cx="9860280" cy="603504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Oval 15"/>
          <p:cNvSpPr/>
          <p:nvPr/>
        </p:nvSpPr>
        <p:spPr>
          <a:xfrm>
            <a:off x="1024128" y="2953512"/>
            <a:ext cx="365760" cy="36576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>
                <a:solidFill>
                  <a:srgbClr val="0B1B33"/>
                </a:solidFill>
                <a:latin typeface="Segoe U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27195"/>
            <a:ext cx="4160520" cy="2183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“</a:t>
            </a:r>
            <a:r>
              <a:rPr sz="1400" b="0" i="0" dirty="0">
                <a:solidFill>
                  <a:schemeClr val="accent6"/>
                </a:solidFill>
                <a:latin typeface="Segoe UI"/>
              </a:rPr>
              <a:t>Library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0" i="0" dirty="0">
                <a:solidFill>
                  <a:schemeClr val="accent6"/>
                </a:solidFill>
                <a:latin typeface="Segoe UI"/>
              </a:rPr>
              <a:t>opening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0" i="0" dirty="0">
                <a:solidFill>
                  <a:schemeClr val="accent6"/>
                </a:solidFill>
                <a:latin typeface="Segoe UI"/>
              </a:rPr>
              <a:t>hours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: 8am–10pm on term days.”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050599"/>
            <a:ext cx="1783080" cy="171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9FB3C8"/>
                </a:solidFill>
                <a:latin typeface="Segoe UI"/>
              </a:rPr>
              <a:t>library · opening ·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400" y="3027195"/>
            <a:ext cx="1005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2DD4BF"/>
                </a:solidFill>
                <a:latin typeface="Segoe UI"/>
              </a:rPr>
              <a:t>score 3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47872"/>
            <a:ext cx="9860280" cy="603504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Oval 20"/>
          <p:cNvSpPr/>
          <p:nvPr/>
        </p:nvSpPr>
        <p:spPr>
          <a:xfrm>
            <a:off x="1024128" y="3666744"/>
            <a:ext cx="365760" cy="365760"/>
          </a:xfrm>
          <a:prstGeom prst="ellipse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>
                <a:solidFill>
                  <a:srgbClr val="9FB3C8"/>
                </a:solidFill>
                <a:latin typeface="Segoe U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740427"/>
            <a:ext cx="4160520" cy="2183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“Enrolment closes at the census date.”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63831"/>
            <a:ext cx="1783080" cy="171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9FB3C8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7400" y="3740427"/>
            <a:ext cx="1005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9FB3C8"/>
                </a:solidFill>
                <a:latin typeface="Segoe UI"/>
              </a:rPr>
              <a:t>score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61104"/>
            <a:ext cx="9860280" cy="603504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Oval 25"/>
          <p:cNvSpPr/>
          <p:nvPr/>
        </p:nvSpPr>
        <p:spPr>
          <a:xfrm>
            <a:off x="1024128" y="4379976"/>
            <a:ext cx="365760" cy="365760"/>
          </a:xfrm>
          <a:prstGeom prst="ellipse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>
                <a:solidFill>
                  <a:srgbClr val="9FB3C8"/>
                </a:solidFill>
                <a:latin typeface="Segoe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335166"/>
            <a:ext cx="4160520" cy="455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“Exam Period Appendix: </a:t>
            </a:r>
            <a:r>
              <a:rPr sz="1400" b="0" i="0" dirty="0">
                <a:solidFill>
                  <a:schemeClr val="accent6"/>
                </a:solidFill>
                <a:latin typeface="Segoe UI"/>
              </a:rPr>
              <a:t>library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access 24/7 during exam period.”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477063"/>
            <a:ext cx="1783080" cy="171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9FB3C8"/>
                </a:solidFill>
                <a:latin typeface="Segoe UI"/>
              </a:rPr>
              <a:t>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400" y="4453659"/>
            <a:ext cx="1005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9FB3C8"/>
                </a:solidFill>
                <a:latin typeface="Segoe UI"/>
              </a:rPr>
              <a:t>score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074920"/>
            <a:ext cx="2999027" cy="6858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997885" y="5275345"/>
            <a:ext cx="3102173" cy="284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b="1" dirty="0">
                <a:solidFill>
                  <a:srgbClr val="2DD4BF"/>
                </a:solidFill>
                <a:latin typeface="Segoe UI"/>
              </a:rPr>
              <a:t>Keyword search (BM25)</a:t>
            </a:r>
            <a:endParaRPr sz="1400" dirty="0">
              <a:solidFill>
                <a:srgbClr val="9FB3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 dirty="0">
                <a:solidFill>
                  <a:srgbClr val="2DD4BF"/>
                </a:solidFill>
                <a:latin typeface="Segoe UI"/>
              </a:rPr>
              <a:t>PHASE 3  ·  IT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Right words, wrong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4579" y="1712138"/>
            <a:ext cx="7635240" cy="475488"/>
          </a:xfrm>
          <a:prstGeom prst="roundRect">
            <a:avLst>
              <a:gd name="adj" fmla="val 30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2628900" y="1811383"/>
            <a:ext cx="7178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1">
                <a:solidFill>
                  <a:srgbClr val="FFFFFF"/>
                </a:solidFill>
                <a:latin typeface="Segoe UI"/>
              </a:rPr>
              <a:t>Week 3 of term. Student asks: “Can I access the library 24/7?”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4688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051560" y="2606040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E06C6C"/>
                </a:solidFill>
                <a:latin typeface="Segoe UI"/>
              </a:rPr>
              <a:t>Exam Period Appendix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17520"/>
            <a:ext cx="4709160" cy="301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1" dirty="0">
                <a:solidFill>
                  <a:srgbClr val="FFFFFF"/>
                </a:solidFill>
                <a:latin typeface="Segoe UI"/>
              </a:rPr>
              <a:t>“…</a:t>
            </a:r>
            <a:r>
              <a:rPr b="0" i="1" dirty="0">
                <a:solidFill>
                  <a:schemeClr val="accent6"/>
                </a:solidFill>
                <a:latin typeface="Segoe UI"/>
              </a:rPr>
              <a:t>library</a:t>
            </a:r>
            <a:r>
              <a:rPr b="0" i="1" dirty="0">
                <a:solidFill>
                  <a:srgbClr val="FFFFFF"/>
                </a:solidFill>
                <a:latin typeface="Segoe UI"/>
              </a:rPr>
              <a:t> </a:t>
            </a:r>
            <a:r>
              <a:rPr b="0" i="1" dirty="0">
                <a:solidFill>
                  <a:schemeClr val="accent6"/>
                </a:solidFill>
                <a:latin typeface="Segoe UI"/>
              </a:rPr>
              <a:t>access</a:t>
            </a:r>
            <a:r>
              <a:rPr b="0" i="1" dirty="0">
                <a:solidFill>
                  <a:srgbClr val="FFFFFF"/>
                </a:solidFill>
                <a:latin typeface="Segoe UI"/>
              </a:rPr>
              <a:t> </a:t>
            </a:r>
            <a:r>
              <a:rPr b="0" i="1" dirty="0">
                <a:solidFill>
                  <a:schemeClr val="accent6"/>
                </a:solidFill>
                <a:latin typeface="Segoe UI"/>
              </a:rPr>
              <a:t>24/7</a:t>
            </a:r>
            <a:r>
              <a:rPr b="0" i="1" dirty="0">
                <a:solidFill>
                  <a:srgbClr val="FFFFFF"/>
                </a:solidFill>
                <a:latin typeface="Segoe UI"/>
              </a:rPr>
              <a:t> during the exam period…”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" y="3765768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E06C6C"/>
                </a:solidFill>
                <a:latin typeface="Segoe UI"/>
              </a:rPr>
              <a:t>shares: library · access · 24/7  →  score 3  →  wins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688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2DD4BF"/>
                </a:solidFill>
                <a:latin typeface="Segoe UI"/>
              </a:rPr>
              <a:t>General rule — governs this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6741" y="3017520"/>
            <a:ext cx="5091359" cy="301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1" dirty="0">
                <a:solidFill>
                  <a:srgbClr val="FFFFFF"/>
                </a:solidFill>
                <a:latin typeface="Segoe UI"/>
              </a:rPr>
              <a:t>“</a:t>
            </a:r>
            <a:r>
              <a:rPr b="0" i="1" dirty="0">
                <a:solidFill>
                  <a:schemeClr val="accent6"/>
                </a:solidFill>
                <a:latin typeface="Segoe UI"/>
              </a:rPr>
              <a:t>Library</a:t>
            </a:r>
            <a:r>
              <a:rPr b="0" i="1" dirty="0">
                <a:solidFill>
                  <a:srgbClr val="FFFFFF"/>
                </a:solidFill>
                <a:latin typeface="Segoe UI"/>
              </a:rPr>
              <a:t> opening hours: 8am–10pm on term days.”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49039"/>
            <a:ext cx="4709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9FB3C8"/>
                </a:solidFill>
                <a:latin typeface="Segoe UI"/>
              </a:rPr>
              <a:t>shares: library  →  score 1  →  left behind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5166360" cy="77724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1051560" y="4679775"/>
            <a:ext cx="4709160" cy="5616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i="0" dirty="0" err="1">
                <a:solidFill>
                  <a:srgbClr val="FFFFFF"/>
                </a:solidFill>
                <a:latin typeface="Segoe UI"/>
              </a:rPr>
              <a:t>MetMate</a:t>
            </a:r>
            <a:r>
              <a:rPr b="1" i="0" dirty="0">
                <a:solidFill>
                  <a:srgbClr val="FFFFFF"/>
                </a:solidFill>
                <a:latin typeface="Segoe UI"/>
              </a:rPr>
              <a:t>: “Yes — the library is open 24/7.”</a:t>
            </a:r>
          </a:p>
          <a:p>
            <a:pPr algn="l"/>
            <a:r>
              <a:rPr sz="1400" b="0" i="1" dirty="0">
                <a:solidFill>
                  <a:srgbClr val="E06C6C"/>
                </a:solidFill>
                <a:latin typeface="Segoe UI"/>
              </a:rPr>
              <a:t>Confident. Wrong.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5166360" cy="77724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446520" y="4821961"/>
            <a:ext cx="4709160" cy="27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AU" sz="1600" b="0" i="0" dirty="0">
                <a:solidFill>
                  <a:srgbClr val="FFFFFF"/>
                </a:solidFill>
                <a:latin typeface="Segoe UI"/>
              </a:rPr>
              <a:t>Failed</a:t>
            </a:r>
            <a:endParaRPr sz="16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5669280"/>
            <a:ext cx="10607040" cy="682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1" dirty="0">
                <a:solidFill>
                  <a:srgbClr val="F5B342"/>
                </a:solidFill>
                <a:latin typeface="Segoe UI"/>
              </a:rPr>
              <a:t>LEXICAL matching</a:t>
            </a:r>
            <a:r>
              <a:rPr lang="en-AU" b="0" i="1" dirty="0">
                <a:solidFill>
                  <a:srgbClr val="F5B342"/>
                </a:solidFill>
                <a:latin typeface="Segoe UI"/>
              </a:rPr>
              <a:t> fails</a:t>
            </a:r>
          </a:p>
          <a:p>
            <a:pPr algn="l">
              <a:lnSpc>
                <a:spcPct val="130000"/>
              </a:lnSpc>
            </a:pPr>
            <a:r>
              <a:rPr b="0" i="1" dirty="0">
                <a:solidFill>
                  <a:srgbClr val="F5B342"/>
                </a:solidFill>
                <a:latin typeface="Segoe UI"/>
              </a:rPr>
              <a:t>SEMANTIC matching</a:t>
            </a:r>
            <a:r>
              <a:rPr lang="en-AU" b="0" i="1" dirty="0">
                <a:solidFill>
                  <a:srgbClr val="F5B342"/>
                </a:solidFill>
                <a:latin typeface="Segoe UI"/>
              </a:rPr>
              <a:t> - solution</a:t>
            </a:r>
            <a:endParaRPr b="0" i="1" dirty="0">
              <a:solidFill>
                <a:srgbClr val="F5B342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4  ·  SEARCH BY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Math with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106070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1350" b="0" i="1" dirty="0">
                <a:solidFill>
                  <a:srgbClr val="9FB3C8"/>
                </a:solidFill>
                <a:latin typeface="Segoe UI"/>
              </a:rPr>
              <a:t>Three words: </a:t>
            </a:r>
            <a:r>
              <a:rPr lang="en-AU" sz="1350" b="1" i="1" dirty="0">
                <a:solidFill>
                  <a:schemeClr val="accent6"/>
                </a:solidFill>
                <a:latin typeface="Segoe UI"/>
              </a:rPr>
              <a:t>enrolment, registration, withdrawal</a:t>
            </a:r>
            <a:endParaRPr sz="1350" b="1" i="1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2240280"/>
            <a:ext cx="7315200" cy="26517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14" name="Connector 13"/>
          <p:cNvCxnSpPr/>
          <p:nvPr/>
        </p:nvCxnSpPr>
        <p:spPr>
          <a:xfrm>
            <a:off x="1280160" y="3794760"/>
            <a:ext cx="6492240" cy="0"/>
          </a:xfrm>
          <a:prstGeom prst="line">
            <a:avLst/>
          </a:prstGeom>
          <a:ln w="1905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95944" y="3730752"/>
            <a:ext cx="0" cy="128016"/>
          </a:xfrm>
          <a:prstGeom prst="line">
            <a:avLst/>
          </a:prstGeom>
          <a:ln w="1905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30184" y="392277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9FB3C8"/>
                </a:solidFill>
                <a:latin typeface="Segoe UI"/>
              </a:rPr>
              <a:t>-5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3730752"/>
            <a:ext cx="0" cy="128016"/>
          </a:xfrm>
          <a:prstGeom prst="line">
            <a:avLst/>
          </a:prstGeom>
          <a:ln w="1905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0" y="392277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9FB3C8"/>
                </a:solidFill>
                <a:latin typeface="Segoe UI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0660" y="3730752"/>
            <a:ext cx="0" cy="128016"/>
          </a:xfrm>
          <a:prstGeom prst="line">
            <a:avLst/>
          </a:prstGeom>
          <a:ln w="1905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04900" y="3994020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9FB3C8"/>
                </a:solidFill>
                <a:latin typeface="Segoe UI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794" y="3730752"/>
            <a:ext cx="0" cy="128016"/>
          </a:xfrm>
          <a:prstGeom prst="line">
            <a:avLst/>
          </a:prstGeom>
          <a:ln w="19050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7034" y="392277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9FB3C8"/>
                </a:solidFill>
                <a:latin typeface="Segoe UI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2913648" y="3712464"/>
            <a:ext cx="164592" cy="164592"/>
          </a:xfrm>
          <a:prstGeom prst="ellipse">
            <a:avLst/>
          </a:prstGeom>
          <a:solidFill>
            <a:srgbClr val="E0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2081544" y="329184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06C6C"/>
                </a:solidFill>
                <a:latin typeface="Segoe UI"/>
              </a:rPr>
              <a:t>withdrawal</a:t>
            </a:r>
          </a:p>
        </p:txBody>
      </p:sp>
      <p:sp>
        <p:nvSpPr>
          <p:cNvPr id="25" name="Oval 24"/>
          <p:cNvSpPr/>
          <p:nvPr/>
        </p:nvSpPr>
        <p:spPr>
          <a:xfrm>
            <a:off x="6088364" y="3712464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5029200" y="3301651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2DD4BF"/>
                </a:solidFill>
                <a:latin typeface="Segoe UI"/>
              </a:rPr>
              <a:t>enrolment</a:t>
            </a:r>
          </a:p>
        </p:txBody>
      </p:sp>
      <p:sp>
        <p:nvSpPr>
          <p:cNvPr id="27" name="Oval 26"/>
          <p:cNvSpPr/>
          <p:nvPr/>
        </p:nvSpPr>
        <p:spPr>
          <a:xfrm>
            <a:off x="6730498" y="3712464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6376142" y="3299532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2DD4BF"/>
                </a:solidFill>
                <a:latin typeface="Segoe UI"/>
              </a:rPr>
              <a:t>registration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514600"/>
            <a:ext cx="2651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2DD4BF"/>
                </a:solidFill>
                <a:latin typeface="Segoe UI"/>
              </a:rPr>
              <a:t>1 apart — similar 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0583" y="2926080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9281160" y="3330454"/>
            <a:ext cx="2176942" cy="379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2400" b="1" dirty="0">
                <a:solidFill>
                  <a:srgbClr val="2DD4BF"/>
                </a:solidFill>
                <a:latin typeface="Segoe UI"/>
              </a:rPr>
              <a:t>Embedding</a:t>
            </a:r>
            <a:endParaRPr dirty="0">
              <a:solidFill>
                <a:srgbClr val="9FB3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4  ·  SEARCH BY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number isn't enough —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598" y="2041534"/>
            <a:ext cx="6615838" cy="4160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1211857" y="4144654"/>
            <a:ext cx="4685385" cy="0"/>
          </a:xfrm>
          <a:prstGeom prst="line">
            <a:avLst/>
          </a:prstGeom>
          <a:ln w="15875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>
            <a:off x="3362526" y="2198810"/>
            <a:ext cx="0" cy="3891687"/>
          </a:xfrm>
          <a:prstGeom prst="line">
            <a:avLst/>
          </a:prstGeom>
          <a:ln w="15875">
            <a:solidFill>
              <a:srgbClr val="9F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09614" y="407150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3865446" y="3760606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2DD4BF"/>
                </a:solidFill>
                <a:latin typeface="Segoe UI"/>
              </a:rPr>
              <a:t>enrolment [5, 0]</a:t>
            </a:r>
          </a:p>
        </p:txBody>
      </p:sp>
      <p:sp>
        <p:nvSpPr>
          <p:cNvPr id="18" name="Oval 17"/>
          <p:cNvSpPr/>
          <p:nvPr/>
        </p:nvSpPr>
        <p:spPr>
          <a:xfrm>
            <a:off x="5593662" y="407150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5118174" y="4382398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2DD4BF"/>
                </a:solidFill>
                <a:latin typeface="Segoe UI"/>
              </a:rPr>
              <a:t>registration [6, 0]</a:t>
            </a:r>
          </a:p>
        </p:txBody>
      </p:sp>
      <p:sp>
        <p:nvSpPr>
          <p:cNvPr id="20" name="Oval 19"/>
          <p:cNvSpPr/>
          <p:nvPr/>
        </p:nvSpPr>
        <p:spPr>
          <a:xfrm>
            <a:off x="1369133" y="4071502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65044" y="3760606"/>
            <a:ext cx="219455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2DD4BF"/>
                </a:solidFill>
                <a:latin typeface="Segoe UI"/>
              </a:rPr>
              <a:t>withdrawal [−5, 0]</a:t>
            </a:r>
          </a:p>
        </p:txBody>
      </p:sp>
      <p:sp>
        <p:nvSpPr>
          <p:cNvPr id="22" name="Oval 21"/>
          <p:cNvSpPr/>
          <p:nvPr/>
        </p:nvSpPr>
        <p:spPr>
          <a:xfrm>
            <a:off x="3289374" y="2334142"/>
            <a:ext cx="146304" cy="146304"/>
          </a:xfrm>
          <a:prstGeom prst="ellipse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3490542" y="2315854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5B342"/>
                </a:solidFill>
                <a:latin typeface="Segoe UI"/>
              </a:rPr>
              <a:t>pass [0, 5]</a:t>
            </a:r>
          </a:p>
        </p:txBody>
      </p:sp>
      <p:sp>
        <p:nvSpPr>
          <p:cNvPr id="24" name="Oval 23"/>
          <p:cNvSpPr/>
          <p:nvPr/>
        </p:nvSpPr>
        <p:spPr>
          <a:xfrm>
            <a:off x="3289374" y="5808862"/>
            <a:ext cx="146304" cy="146304"/>
          </a:xfrm>
          <a:prstGeom prst="ellipse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3490542" y="5772286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5B342"/>
                </a:solidFill>
                <a:latin typeface="Segoe UI"/>
              </a:rPr>
              <a:t>fail [0, −5]</a:t>
            </a:r>
          </a:p>
        </p:txBody>
      </p:sp>
      <p:sp>
        <p:nvSpPr>
          <p:cNvPr id="26" name="Oval 25"/>
          <p:cNvSpPr/>
          <p:nvPr/>
        </p:nvSpPr>
        <p:spPr>
          <a:xfrm>
            <a:off x="4167198" y="3120526"/>
            <a:ext cx="310896" cy="310896"/>
          </a:xfrm>
          <a:prstGeom prst="ellipse">
            <a:avLst/>
          </a:prstGeom>
          <a:noFill/>
          <a:ln w="254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Oval 26"/>
          <p:cNvSpPr/>
          <p:nvPr/>
        </p:nvSpPr>
        <p:spPr>
          <a:xfrm>
            <a:off x="4249494" y="320282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4505526" y="2955933"/>
            <a:ext cx="20116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course [2.5, 2.5]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2204" y="3246120"/>
            <a:ext cx="3174189" cy="8229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8541867" y="3467614"/>
            <a:ext cx="2735494" cy="379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400" b="1" dirty="0">
                <a:solidFill>
                  <a:srgbClr val="2DD4BF"/>
                </a:solidFill>
                <a:latin typeface="Segoe UI"/>
              </a:rPr>
              <a:t>Vector</a:t>
            </a:r>
            <a:endParaRPr lang="en-US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7574" y="1593823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2000" b="0" i="1" dirty="0">
                <a:solidFill>
                  <a:srgbClr val="2DD4BF"/>
                </a:solidFill>
                <a:latin typeface="Segoe UI"/>
              </a:rPr>
              <a:t>New word </a:t>
            </a:r>
            <a:r>
              <a:rPr lang="en-AU" sz="2000" b="0" i="1" dirty="0" err="1">
                <a:solidFill>
                  <a:srgbClr val="2DD4BF"/>
                </a:solidFill>
                <a:latin typeface="Segoe UI"/>
              </a:rPr>
              <a:t>comess</a:t>
            </a:r>
            <a:r>
              <a:rPr lang="en-AU" sz="2000" b="0" i="1" dirty="0">
                <a:solidFill>
                  <a:srgbClr val="2DD4BF"/>
                </a:solidFill>
                <a:latin typeface="Segoe UI"/>
              </a:rPr>
              <a:t>: </a:t>
            </a:r>
            <a:r>
              <a:rPr lang="en-AU" sz="2000" b="0" i="1" dirty="0">
                <a:solidFill>
                  <a:schemeClr val="accent6"/>
                </a:solidFill>
                <a:latin typeface="Segoe UI"/>
              </a:rPr>
              <a:t>pass</a:t>
            </a:r>
            <a:endParaRPr sz="2000" b="0" i="1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31" name="Rounded Rectangle 28">
            <a:extLst>
              <a:ext uri="{FF2B5EF4-FFF2-40B4-BE49-F238E27FC236}">
                <a16:creationId xmlns:a16="http://schemas.microsoft.com/office/drawing/2014/main" id="{06ED7CB0-C34B-0301-F8DF-12A0BBC73FEF}"/>
              </a:ext>
            </a:extLst>
          </p:cNvPr>
          <p:cNvSpPr/>
          <p:nvPr/>
        </p:nvSpPr>
        <p:spPr>
          <a:xfrm>
            <a:off x="7582204" y="4555750"/>
            <a:ext cx="3164565" cy="8229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BD7BAB-936D-79F8-C438-742001F9EF1C}"/>
              </a:ext>
            </a:extLst>
          </p:cNvPr>
          <p:cNvSpPr txBox="1"/>
          <p:nvPr/>
        </p:nvSpPr>
        <p:spPr>
          <a:xfrm>
            <a:off x="7760584" y="4771999"/>
            <a:ext cx="3041152" cy="379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400" b="1" dirty="0">
                <a:solidFill>
                  <a:srgbClr val="2DD4BF"/>
                </a:solidFill>
                <a:latin typeface="Segoe UI"/>
              </a:rPr>
              <a:t>Embedding models</a:t>
            </a:r>
            <a:endParaRPr lang="en-US" dirty="0">
              <a:solidFill>
                <a:srgbClr val="9FB3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4  ·  SEARCH BY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Who assigns the numbers?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86000"/>
            <a:ext cx="6035040" cy="10515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960120" y="2639052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Segoe UI"/>
              </a:rPr>
              <a:t>“Students must  </a:t>
            </a:r>
            <a:r>
              <a:rPr lang="en-AU" sz="2000" b="1" i="0" dirty="0">
                <a:solidFill>
                  <a:schemeClr val="accent6"/>
                </a:solidFill>
                <a:latin typeface="Segoe UI"/>
              </a:rPr>
              <a:t>______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 before the census date.”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1188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9FB3C8"/>
                </a:solidFill>
                <a:latin typeface="Segoe UI"/>
              </a:rPr>
              <a:t>the </a:t>
            </a:r>
            <a:r>
              <a:rPr lang="en-AU" sz="1600" b="1" i="0" dirty="0">
                <a:solidFill>
                  <a:srgbClr val="9FB3C8"/>
                </a:solidFill>
                <a:latin typeface="Segoe UI"/>
              </a:rPr>
              <a:t>model</a:t>
            </a:r>
            <a:r>
              <a:rPr sz="1600" b="1" i="0" dirty="0">
                <a:solidFill>
                  <a:srgbClr val="9FB3C8"/>
                </a:solidFill>
                <a:latin typeface="Segoe UI"/>
              </a:rPr>
              <a:t> guesses: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Segoe UI"/>
              </a:rPr>
              <a:t>enrol</a:t>
            </a:r>
            <a:endParaRPr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77440" y="4215383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5120640" y="4160520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3C8"/>
                </a:solidFill>
                <a:latin typeface="Segoe UI"/>
              </a:rP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4626864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3794760" y="4572000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3C8"/>
                </a:solidFill>
                <a:latin typeface="Segoe UI"/>
              </a:rPr>
              <a:t>31%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party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038344"/>
            <a:ext cx="73152" cy="201168"/>
          </a:xfrm>
          <a:prstGeom prst="roundRect">
            <a:avLst>
              <a:gd name="adj" fmla="val 50000"/>
            </a:avLst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2542032" y="4983480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3C8"/>
                </a:solidFill>
                <a:latin typeface="Segoe UI"/>
              </a:rPr>
              <a:t>0.1%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0175A-9E58-D96F-6AAC-CAFEC3B2BD2E}"/>
              </a:ext>
            </a:extLst>
          </p:cNvPr>
          <p:cNvSpPr txBox="1"/>
          <p:nvPr/>
        </p:nvSpPr>
        <p:spPr>
          <a:xfrm>
            <a:off x="912345" y="1755755"/>
            <a:ext cx="631038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Segoe UI"/>
              </a:rPr>
              <a:t>“Students must  </a:t>
            </a:r>
            <a:r>
              <a:rPr lang="en-AU" sz="2000" b="1" i="0" dirty="0">
                <a:solidFill>
                  <a:schemeClr val="accent6"/>
                </a:solidFill>
                <a:latin typeface="Segoe UI"/>
              </a:rPr>
              <a:t>enrol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before the census date.”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127620-5780-9B18-3BEF-FD88552971D7}"/>
              </a:ext>
            </a:extLst>
          </p:cNvPr>
          <p:cNvSpPr txBox="1"/>
          <p:nvPr/>
        </p:nvSpPr>
        <p:spPr>
          <a:xfrm>
            <a:off x="7589520" y="3322292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Segoe UI"/>
              </a:rPr>
              <a:t>enrol</a:t>
            </a:r>
            <a:endParaRPr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03682E-B13A-DF96-D358-B4DF1478BA97}"/>
              </a:ext>
            </a:extLst>
          </p:cNvPr>
          <p:cNvSpPr txBox="1"/>
          <p:nvPr/>
        </p:nvSpPr>
        <p:spPr>
          <a:xfrm>
            <a:off x="7589520" y="3733772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register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D22397-6A23-C843-9707-F1E4ACCF4D97}"/>
              </a:ext>
            </a:extLst>
          </p:cNvPr>
          <p:cNvSpPr txBox="1"/>
          <p:nvPr/>
        </p:nvSpPr>
        <p:spPr>
          <a:xfrm>
            <a:off x="7589520" y="4145252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party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FFC4AB-1A09-F9DF-C5F1-7CFA7AF33925}"/>
              </a:ext>
            </a:extLst>
          </p:cNvPr>
          <p:cNvSpPr txBox="1"/>
          <p:nvPr/>
        </p:nvSpPr>
        <p:spPr>
          <a:xfrm>
            <a:off x="8915400" y="2746132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b="1" i="0" dirty="0">
                <a:solidFill>
                  <a:schemeClr val="accent1"/>
                </a:solidFill>
                <a:latin typeface="Segoe UI"/>
              </a:rPr>
              <a:t>Initial</a:t>
            </a:r>
            <a:endParaRPr b="1" i="0" dirty="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A4408-7C3D-20F4-7C8A-7AD6919E3B9D}"/>
              </a:ext>
            </a:extLst>
          </p:cNvPr>
          <p:cNvSpPr txBox="1"/>
          <p:nvPr/>
        </p:nvSpPr>
        <p:spPr>
          <a:xfrm>
            <a:off x="10553547" y="2762042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b="1" i="0" dirty="0">
                <a:solidFill>
                  <a:schemeClr val="accent1"/>
                </a:solidFill>
                <a:latin typeface="Segoe UI"/>
              </a:rPr>
              <a:t>End</a:t>
            </a:r>
            <a:endParaRPr b="1" i="0" dirty="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31E22-6F42-2750-7DBC-2129A9852DAC}"/>
              </a:ext>
            </a:extLst>
          </p:cNvPr>
          <p:cNvSpPr txBox="1"/>
          <p:nvPr/>
        </p:nvSpPr>
        <p:spPr>
          <a:xfrm>
            <a:off x="8615841" y="3318519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[-1.2, 0.1]</a:t>
            </a:r>
            <a:endParaRPr lang="en-AU" sz="1400" dirty="0"/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6ED2C494-AC48-6B2C-D150-C5FCD861D989}"/>
              </a:ext>
            </a:extLst>
          </p:cNvPr>
          <p:cNvSpPr/>
          <p:nvPr/>
        </p:nvSpPr>
        <p:spPr>
          <a:xfrm>
            <a:off x="8778240" y="5091202"/>
            <a:ext cx="2073202" cy="819874"/>
          </a:xfrm>
          <a:prstGeom prst="wedgeRectCallout">
            <a:avLst>
              <a:gd name="adj1" fmla="val -22320"/>
              <a:gd name="adj2" fmla="val -12171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C9EA35-754A-3621-0897-1785EF02D02D}"/>
              </a:ext>
            </a:extLst>
          </p:cNvPr>
          <p:cNvSpPr txBox="1"/>
          <p:nvPr/>
        </p:nvSpPr>
        <p:spPr>
          <a:xfrm>
            <a:off x="8892221" y="5349087"/>
            <a:ext cx="184523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1400" b="1" i="0" dirty="0">
                <a:solidFill>
                  <a:schemeClr val="accent6"/>
                </a:solidFill>
                <a:latin typeface="Segoe UI"/>
              </a:rPr>
              <a:t> Random initialisation</a:t>
            </a:r>
            <a:endParaRPr sz="1400" b="1" i="0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E72985-A6F8-61FC-6A43-27D8EA5041B2}"/>
              </a:ext>
            </a:extLst>
          </p:cNvPr>
          <p:cNvSpPr txBox="1"/>
          <p:nvPr/>
        </p:nvSpPr>
        <p:spPr>
          <a:xfrm>
            <a:off x="10127344" y="3337560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[5.2, 1.2]</a:t>
            </a:r>
            <a:endParaRPr lang="en-AU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E1CC2-762A-C481-D2AC-AF7335A5F972}"/>
              </a:ext>
            </a:extLst>
          </p:cNvPr>
          <p:cNvSpPr txBox="1"/>
          <p:nvPr/>
        </p:nvSpPr>
        <p:spPr>
          <a:xfrm>
            <a:off x="8598889" y="3740423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[1.3, -0.2]</a:t>
            </a:r>
            <a:endParaRPr lang="en-AU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28CBCC-834E-C257-5394-5F9C1A1D9457}"/>
              </a:ext>
            </a:extLst>
          </p:cNvPr>
          <p:cNvSpPr txBox="1"/>
          <p:nvPr/>
        </p:nvSpPr>
        <p:spPr>
          <a:xfrm>
            <a:off x="10110392" y="3759464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[5.1, 1.3]</a:t>
            </a:r>
            <a:endParaRPr lang="en-AU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EB1A4C-5735-71D3-4C93-E7C16B675A22}"/>
              </a:ext>
            </a:extLst>
          </p:cNvPr>
          <p:cNvSpPr txBox="1"/>
          <p:nvPr/>
        </p:nvSpPr>
        <p:spPr>
          <a:xfrm>
            <a:off x="8592211" y="4178530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[-2, 0.3]</a:t>
            </a:r>
            <a:endParaRPr lang="en-AU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5C721B-3A2E-3938-8EA9-413E31E6E710}"/>
              </a:ext>
            </a:extLst>
          </p:cNvPr>
          <p:cNvSpPr txBox="1"/>
          <p:nvPr/>
        </p:nvSpPr>
        <p:spPr>
          <a:xfrm>
            <a:off x="10103714" y="4197571"/>
            <a:ext cx="1652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rgbClr val="2DD4BF"/>
                </a:solidFill>
                <a:latin typeface="Consolas"/>
              </a:rPr>
              <a:t> [-1.2, 5.1]</a:t>
            </a:r>
            <a:endParaRPr lang="en-AU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4  ·  SEARCH BY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MetMate searches by meaning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737360"/>
            <a:ext cx="10694370" cy="237744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1051560" y="2404315"/>
            <a:ext cx="7768870" cy="312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FFFFFF"/>
                </a:solidFill>
                <a:latin typeface="Segoe UI"/>
              </a:rPr>
              <a:t>“</a:t>
            </a:r>
            <a:r>
              <a:rPr sz="2000" b="1" i="0" dirty="0">
                <a:solidFill>
                  <a:schemeClr val="accent6"/>
                </a:solidFill>
                <a:latin typeface="Segoe UI"/>
              </a:rPr>
              <a:t>Enrolment</a:t>
            </a:r>
            <a:r>
              <a:rPr sz="2000" b="0" i="0" dirty="0">
                <a:solidFill>
                  <a:srgbClr val="FFFFFF"/>
                </a:solidFill>
                <a:latin typeface="Segoe UI"/>
              </a:rPr>
              <a:t> corrections must be lodged before census.”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6435" y="2308146"/>
            <a:ext cx="26969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2DD4BF"/>
                </a:solidFill>
                <a:latin typeface="Consolas"/>
              </a:rPr>
              <a:t>[ 5.2,  0.1, …]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243"/>
            <a:ext cx="7768870" cy="312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FFFFFF"/>
                </a:solidFill>
                <a:latin typeface="Segoe UI"/>
              </a:rPr>
              <a:t>“Library opening hours: 8am–10pm on term days.”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6435" y="2875074"/>
            <a:ext cx="26969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9FB3C8"/>
                </a:solidFill>
                <a:latin typeface="Consolas"/>
              </a:rPr>
              <a:t>[−0.2,  4.7, …]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38171"/>
            <a:ext cx="7917779" cy="312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 dirty="0">
                <a:solidFill>
                  <a:srgbClr val="FFFFFF"/>
                </a:solidFill>
                <a:latin typeface="Segoe UI"/>
              </a:rPr>
              <a:t>“Withdrawal without penalty: apply before week 4.”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6435" y="3442002"/>
            <a:ext cx="26969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9FB3C8"/>
                </a:solidFill>
                <a:latin typeface="Consolas"/>
              </a:rPr>
              <a:t>[−4.8,  0.3, …]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859623"/>
            <a:ext cx="3611880" cy="1114028"/>
          </a:xfrm>
          <a:prstGeom prst="roundRect">
            <a:avLst>
              <a:gd name="adj" fmla="val 30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923490" y="5057836"/>
            <a:ext cx="3191309" cy="704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1" dirty="0">
                <a:solidFill>
                  <a:srgbClr val="FFFFFF"/>
                </a:solidFill>
                <a:latin typeface="Segoe UI"/>
              </a:rPr>
              <a:t>“How do I fix a mistake in my </a:t>
            </a:r>
            <a:r>
              <a:rPr sz="2000" b="1" i="1" dirty="0">
                <a:solidFill>
                  <a:schemeClr val="accent6"/>
                </a:solidFill>
                <a:latin typeface="Segoe UI"/>
              </a:rPr>
              <a:t>registration</a:t>
            </a:r>
            <a:r>
              <a:rPr sz="2000" b="1" i="1" dirty="0">
                <a:solidFill>
                  <a:srgbClr val="FFFFFF"/>
                </a:solidFill>
                <a:latin typeface="Segoe UI"/>
              </a:rPr>
              <a:t>?”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389119" y="5279477"/>
            <a:ext cx="41148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Rounded Rectangle 26"/>
          <p:cNvSpPr/>
          <p:nvPr/>
        </p:nvSpPr>
        <p:spPr>
          <a:xfrm>
            <a:off x="4946849" y="5030740"/>
            <a:ext cx="2276911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5017475" y="5242613"/>
            <a:ext cx="21514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5B342"/>
                </a:solidFill>
                <a:latin typeface="Consolas"/>
              </a:rPr>
              <a:t>[ 5.6,  0.2, …]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315200" y="5259340"/>
            <a:ext cx="41148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Rounded Rectangle 29"/>
          <p:cNvSpPr/>
          <p:nvPr/>
        </p:nvSpPr>
        <p:spPr>
          <a:xfrm>
            <a:off x="7772399" y="4779945"/>
            <a:ext cx="3899043" cy="1310514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8046720" y="5119503"/>
            <a:ext cx="31089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2DD4BF"/>
                </a:solidFill>
                <a:latin typeface="Segoe UI"/>
              </a:rPr>
              <a:t>ZERO shared words — found by meaning ✓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2B2394-DD9F-AF53-F463-696459D8D471}"/>
              </a:ext>
            </a:extLst>
          </p:cNvPr>
          <p:cNvCxnSpPr>
            <a:cxnSpLocks/>
          </p:cNvCxnSpPr>
          <p:nvPr/>
        </p:nvCxnSpPr>
        <p:spPr>
          <a:xfrm flipH="1">
            <a:off x="6641179" y="2656930"/>
            <a:ext cx="879761" cy="258568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whole picture — you built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64208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9FB3C8"/>
                </a:solidFill>
                <a:latin typeface="Segoe UI"/>
              </a:rPr>
              <a:t>BUILT ONCE — </a:t>
            </a:r>
            <a:r>
              <a:rPr lang="en-AU" sz="1400" b="1" i="0" dirty="0">
                <a:solidFill>
                  <a:srgbClr val="9FB3C8"/>
                </a:solidFill>
                <a:latin typeface="Segoe UI"/>
              </a:rPr>
              <a:t>Building up Knowledge</a:t>
            </a:r>
            <a:endParaRPr sz="1400" b="1" i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2011680"/>
            <a:ext cx="2457450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896112" y="2239100"/>
            <a:ext cx="2311146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b="1" i="0">
                <a:solidFill>
                  <a:srgbClr val="FFFFFF"/>
                </a:solidFill>
                <a:latin typeface="Segoe UI"/>
              </a:rPr>
              <a:t>Documents (KB)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98698" y="2295144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ed Rectangle 21"/>
          <p:cNvSpPr/>
          <p:nvPr/>
        </p:nvSpPr>
        <p:spPr>
          <a:xfrm>
            <a:off x="3518153" y="2011680"/>
            <a:ext cx="2457450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3591306" y="2239100"/>
            <a:ext cx="2311146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b="1" i="0">
                <a:solidFill>
                  <a:srgbClr val="FFFFFF"/>
                </a:solidFill>
                <a:latin typeface="Segoe UI"/>
              </a:rPr>
              <a:t>Split into chunks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93892" y="2295144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Rounded Rectangle 24"/>
          <p:cNvSpPr/>
          <p:nvPr/>
        </p:nvSpPr>
        <p:spPr>
          <a:xfrm>
            <a:off x="6213348" y="2011680"/>
            <a:ext cx="2457450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6286500" y="2239100"/>
            <a:ext cx="2311146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b="1" i="0">
                <a:solidFill>
                  <a:srgbClr val="FFFFFF"/>
                </a:solidFill>
                <a:latin typeface="Segoe UI"/>
              </a:rPr>
              <a:t>Chunk → vector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89086" y="2295144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Rounded Rectangle 27"/>
          <p:cNvSpPr/>
          <p:nvPr/>
        </p:nvSpPr>
        <p:spPr>
          <a:xfrm>
            <a:off x="8908542" y="2011680"/>
            <a:ext cx="2457450" cy="73152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981694" y="2239100"/>
            <a:ext cx="2311146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b="1" i="0">
                <a:solidFill>
                  <a:srgbClr val="FFFFFF"/>
                </a:solidFill>
                <a:latin typeface="Segoe UI"/>
              </a:rPr>
              <a:t>Store: chunk + 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99923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FB3C8"/>
                </a:solidFill>
                <a:latin typeface="Segoe UI"/>
              </a:rPr>
              <a:t>EVERY QUESTION, 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896112" y="3636874"/>
            <a:ext cx="1412748" cy="215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Question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400300" y="3662172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Rounded Rectangle 33"/>
          <p:cNvSpPr/>
          <p:nvPr/>
        </p:nvSpPr>
        <p:spPr>
          <a:xfrm>
            <a:off x="2619756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2692908" y="3520528"/>
            <a:ext cx="1412748" cy="447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Question → vector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197095" y="3662172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Rounded Rectangle 36"/>
          <p:cNvSpPr/>
          <p:nvPr/>
        </p:nvSpPr>
        <p:spPr>
          <a:xfrm>
            <a:off x="4416552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4489704" y="3520528"/>
            <a:ext cx="1412748" cy="447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Find nearest chunks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93892" y="3662172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Rounded Rectangle 39"/>
          <p:cNvSpPr/>
          <p:nvPr/>
        </p:nvSpPr>
        <p:spPr>
          <a:xfrm>
            <a:off x="6213348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6286500" y="3404183"/>
            <a:ext cx="1412748" cy="680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Build prompt:
chunks + question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790688" y="3662172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Rounded Rectangle 42"/>
          <p:cNvSpPr/>
          <p:nvPr/>
        </p:nvSpPr>
        <p:spPr>
          <a:xfrm>
            <a:off x="8010144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8083296" y="3636874"/>
            <a:ext cx="1412748" cy="215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Model writes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587484" y="3662172"/>
            <a:ext cx="201168" cy="164592"/>
          </a:xfrm>
          <a:prstGeom prst="rightArrow">
            <a:avLst/>
          </a:prstGeom>
          <a:solidFill>
            <a:srgbClr val="25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Rounded Rectangle 45"/>
          <p:cNvSpPr/>
          <p:nvPr/>
        </p:nvSpPr>
        <p:spPr>
          <a:xfrm>
            <a:off x="9806940" y="3310128"/>
            <a:ext cx="1559051" cy="86868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9880092" y="3636874"/>
            <a:ext cx="1412748" cy="215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196078" y="2743200"/>
            <a:ext cx="4941189" cy="566928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103869" y="4224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B342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AU" sz="1100" b="1" dirty="0">
                <a:solidFill>
                  <a:srgbClr val="0B1B33"/>
                </a:solidFill>
                <a:latin typeface="Segoe UI"/>
              </a:rPr>
              <a:t>The</a:t>
            </a:r>
            <a:r>
              <a:rPr sz="1100" b="1" dirty="0">
                <a:solidFill>
                  <a:srgbClr val="0B1B33"/>
                </a:solidFill>
                <a:latin typeface="Segoe UI"/>
              </a:rPr>
              <a:t> AI box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619756" y="4709160"/>
            <a:ext cx="3355848" cy="0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19756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75604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19756" y="4754880"/>
            <a:ext cx="33558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5B342"/>
                </a:solidFill>
                <a:latin typeface="Segoe UI"/>
              </a:rPr>
              <a:t>RETRIEVAL — find it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13348" y="4709160"/>
            <a:ext cx="1559052" cy="0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213348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72400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13348" y="4754880"/>
            <a:ext cx="155905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5B342"/>
                </a:solidFill>
                <a:latin typeface="Segoe UI"/>
              </a:rPr>
              <a:t>AUGMENTED — add 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010144" y="4709160"/>
            <a:ext cx="1559052" cy="0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10144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569196" y="4645152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010144" y="4754880"/>
            <a:ext cx="155905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5B342"/>
                </a:solidFill>
                <a:latin typeface="Segoe UI"/>
              </a:rPr>
              <a:t>GENERATION — write it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" y="5257800"/>
            <a:ext cx="10561320" cy="8229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49549" y="5419778"/>
            <a:ext cx="5658993" cy="5014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 dirty="0">
                <a:solidFill>
                  <a:srgbClr val="FFFFFF"/>
                </a:solidFill>
                <a:latin typeface="Segoe UI"/>
              </a:rPr>
              <a:t>Retrieval-Augmented Generation</a:t>
            </a:r>
          </a:p>
        </p:txBody>
      </p:sp>
      <p:sp>
        <p:nvSpPr>
          <p:cNvPr id="14" name="Rounded Rectangle 48">
            <a:extLst>
              <a:ext uri="{FF2B5EF4-FFF2-40B4-BE49-F238E27FC236}">
                <a16:creationId xmlns:a16="http://schemas.microsoft.com/office/drawing/2014/main" id="{E2C27067-015B-302B-B942-9A2284DCCDAA}"/>
              </a:ext>
            </a:extLst>
          </p:cNvPr>
          <p:cNvSpPr/>
          <p:nvPr/>
        </p:nvSpPr>
        <p:spPr>
          <a:xfrm>
            <a:off x="6756273" y="161297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B342"/>
          </a:solidFill>
          <a:ln w="12700">
            <a:solidFill>
              <a:srgbClr val="F5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AU" sz="1100" b="1" dirty="0">
                <a:solidFill>
                  <a:srgbClr val="0B1B33"/>
                </a:solidFill>
                <a:latin typeface="Segoe UI"/>
              </a:rPr>
              <a:t>AI or Non-AI?</a:t>
            </a:r>
            <a:endParaRPr sz="1100" b="1" dirty="0">
              <a:solidFill>
                <a:srgbClr val="0B1B33"/>
              </a:solidFill>
              <a:latin typeface="Segoe UI"/>
            </a:endParaRPr>
          </a:p>
        </p:txBody>
      </p:sp>
      <p:cxnSp>
        <p:nvCxnSpPr>
          <p:cNvPr id="15" name="Connector 59">
            <a:extLst>
              <a:ext uri="{FF2B5EF4-FFF2-40B4-BE49-F238E27FC236}">
                <a16:creationId xmlns:a16="http://schemas.microsoft.com/office/drawing/2014/main" id="{CC2D2DA0-E582-F9B1-72EE-A132F034C6D6}"/>
              </a:ext>
            </a:extLst>
          </p:cNvPr>
          <p:cNvCxnSpPr/>
          <p:nvPr/>
        </p:nvCxnSpPr>
        <p:spPr>
          <a:xfrm>
            <a:off x="8049649" y="2033598"/>
            <a:ext cx="0" cy="128016"/>
          </a:xfrm>
          <a:prstGeom prst="line">
            <a:avLst/>
          </a:prstGeom>
          <a:ln w="22225">
            <a:solidFill>
              <a:srgbClr val="F5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A18B-FA67-37AE-5F33-E4F00D14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5EF8D-CFBB-4B03-4F20-068B241398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8C0DB-259E-D38B-FA15-6A027F4E36B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EE62F-A9BA-3FB4-6F91-F27EB435B09C}"/>
              </a:ext>
            </a:extLst>
          </p:cNvPr>
          <p:cNvSpPr txBox="1"/>
          <p:nvPr/>
        </p:nvSpPr>
        <p:spPr>
          <a:xfrm>
            <a:off x="594360" y="365760"/>
            <a:ext cx="8686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AU" sz="1250" b="1" i="0" spc="220" dirty="0">
                <a:solidFill>
                  <a:srgbClr val="2DD4BF"/>
                </a:solidFill>
                <a:latin typeface="Segoe UI"/>
              </a:rPr>
              <a:t>Remaining Issues</a:t>
            </a:r>
            <a:endParaRPr sz="1250" b="1" i="0" spc="220" dirty="0">
              <a:solidFill>
                <a:srgbClr val="2DD4BF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8C969-332A-B6BC-C30C-C51DA33B8281}"/>
              </a:ext>
            </a:extLst>
          </p:cNvPr>
          <p:cNvSpPr txBox="1"/>
          <p:nvPr/>
        </p:nvSpPr>
        <p:spPr>
          <a:xfrm>
            <a:off x="576072" y="676656"/>
            <a:ext cx="96926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3000" b="1" i="0" dirty="0">
                <a:solidFill>
                  <a:srgbClr val="FFFFFF"/>
                </a:solidFill>
                <a:latin typeface="Segoe UI"/>
              </a:rPr>
              <a:t>Bad Split</a:t>
            </a:r>
            <a:endParaRPr sz="3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A5BADB-3880-2713-69E5-651DD997DC67}"/>
              </a:ext>
            </a:extLst>
          </p:cNvPr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wimmera-white.png">
            <a:extLst>
              <a:ext uri="{FF2B5EF4-FFF2-40B4-BE49-F238E27FC236}">
                <a16:creationId xmlns:a16="http://schemas.microsoft.com/office/drawing/2014/main" id="{387A0E30-DCAC-71D6-6596-C63BB972A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6E7FB0-1BBF-3EE3-7D40-CE781C574E0D}"/>
              </a:ext>
            </a:extLst>
          </p:cNvPr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28C17-1E36-F9C4-6E28-2C996ED9B483}"/>
              </a:ext>
            </a:extLst>
          </p:cNvPr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C0ACA-BCE9-426C-2B87-A147A525737A}"/>
              </a:ext>
            </a:extLst>
          </p:cNvPr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7349A2D-9C6D-19F0-2AEC-F03A94CE2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327" y="1585392"/>
            <a:ext cx="7962958" cy="448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8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5  ·  TOWARD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What real chatbots add</a:t>
            </a:r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265" y="1453896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1138733" y="2014808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Hierarchical chunking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4723" y="1453896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4615586" y="2002536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Context-aware chunking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6181" y="1453896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8788451" y="2015733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Hybrid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265" y="3099815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2042528" y="3602736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Reranking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4723" y="3099815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4817059" y="3599243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Conversation memory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6181" y="3099815"/>
            <a:ext cx="3362858" cy="137160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943802" y="3579983"/>
            <a:ext cx="29605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DD4BF"/>
                </a:solidFill>
                <a:latin typeface="Segoe UI"/>
              </a:rPr>
              <a:t>Verification</a:t>
            </a:r>
          </a:p>
        </p:txBody>
      </p:sp>
      <p:sp>
        <p:nvSpPr>
          <p:cNvPr id="10" name="Rounded Rectangle 61">
            <a:extLst>
              <a:ext uri="{FF2B5EF4-FFF2-40B4-BE49-F238E27FC236}">
                <a16:creationId xmlns:a16="http://schemas.microsoft.com/office/drawing/2014/main" id="{BD5B9513-4D85-280D-E45C-BECE3253C6AE}"/>
              </a:ext>
            </a:extLst>
          </p:cNvPr>
          <p:cNvSpPr/>
          <p:nvPr/>
        </p:nvSpPr>
        <p:spPr>
          <a:xfrm>
            <a:off x="822960" y="5257800"/>
            <a:ext cx="10561320" cy="822960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577029-5A6F-4018-5AEE-DAF1CFF6425B}"/>
              </a:ext>
            </a:extLst>
          </p:cNvPr>
          <p:cNvSpPr txBox="1"/>
          <p:nvPr/>
        </p:nvSpPr>
        <p:spPr>
          <a:xfrm>
            <a:off x="2599362" y="5311105"/>
            <a:ext cx="8556318" cy="716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AU" sz="4000" b="1" i="0" dirty="0">
                <a:solidFill>
                  <a:schemeClr val="accent6"/>
                </a:solidFill>
                <a:latin typeface="Segoe UI"/>
              </a:rPr>
              <a:t>Thank you. Any questions?</a:t>
            </a:r>
            <a:endParaRPr sz="4000" b="1" i="0" dirty="0">
              <a:solidFill>
                <a:schemeClr val="accent6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1032</Words>
  <Application>Microsoft Office PowerPoint</Application>
  <PresentationFormat>Widescreen</PresentationFormat>
  <Paragraphs>215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Arif Rahman</cp:lastModifiedBy>
  <cp:revision>133</cp:revision>
  <dcterms:created xsi:type="dcterms:W3CDTF">2013-01-27T09:14:16Z</dcterms:created>
  <dcterms:modified xsi:type="dcterms:W3CDTF">2026-07-14T06:23:11Z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a1b368-7309-4b30-bce0-f7926ba87c5f_Enabled">
    <vt:lpwstr>true</vt:lpwstr>
  </property>
  <property fmtid="{D5CDD505-2E9C-101B-9397-08002B2CF9AE}" pid="3" name="MSIP_Label_71a1b368-7309-4b30-bce0-f7926ba87c5f_SetDate">
    <vt:lpwstr>2026-07-14T00:39:58Z</vt:lpwstr>
  </property>
  <property fmtid="{D5CDD505-2E9C-101B-9397-08002B2CF9AE}" pid="4" name="MSIP_Label_71a1b368-7309-4b30-bce0-f7926ba87c5f_Method">
    <vt:lpwstr>Standard</vt:lpwstr>
  </property>
  <property fmtid="{D5CDD505-2E9C-101B-9397-08002B2CF9AE}" pid="5" name="MSIP_Label_71a1b368-7309-4b30-bce0-f7926ba87c5f_Name">
    <vt:lpwstr>Official</vt:lpwstr>
  </property>
  <property fmtid="{D5CDD505-2E9C-101B-9397-08002B2CF9AE}" pid="6" name="MSIP_Label_71a1b368-7309-4b30-bce0-f7926ba87c5f_SiteId">
    <vt:lpwstr>6a5d8a00-9eed-4f0f-af9b-6be165add301</vt:lpwstr>
  </property>
  <property fmtid="{D5CDD505-2E9C-101B-9397-08002B2CF9AE}" pid="7" name="MSIP_Label_71a1b368-7309-4b30-bce0-f7926ba87c5f_ActionId">
    <vt:lpwstr>380b68ec-fc14-4ebb-b7f8-0158fc843a0b</vt:lpwstr>
  </property>
  <property fmtid="{D5CDD505-2E9C-101B-9397-08002B2CF9AE}" pid="8" name="MSIP_Label_71a1b368-7309-4b30-bce0-f7926ba87c5f_ContentBits">
    <vt:lpwstr>1</vt:lpwstr>
  </property>
  <property fmtid="{D5CDD505-2E9C-101B-9397-08002B2CF9AE}" pid="9" name="MSIP_Label_71a1b368-7309-4b30-bce0-f7926ba87c5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OFFICIAL</vt:lpwstr>
  </property>
</Properties>
</file>