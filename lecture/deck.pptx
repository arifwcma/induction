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everyone, thanks for having me. I'm Arif, Analyst Programmer at Wimmera CMA in regional Victoria — my day job is building software and mapping systems for a natural-resource agency. Over the past year I've built several AI-powered tools for my organisation, but only a handful ended up genuinely used to solve a real problem — the rest were experiments. One that's in real daily use is a chatbot, and today I'll walk you through what it actually takes to build one properly, using the real problems I ran into along the way. Since I can't share my workplace's internal documents publicly, we'll use a stand-in case study: MetMate, an imaginary chatbot for Sydney Met itself, answering student questions about enrolment, library, and exam rules. Same ideas, public-friendly example. One promise before we start: this lecture stays at the level of concepts, so I'll use technical terminology sparingly and carefully. New terms appear in this field literally every day; nobody memorises them all. If a term flies past you today, don't worry — the important ones keep coming back, you can always look them up later, and you'll be able to follow the ideas either 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 chatbot that answers student questions from the university's documents. Let's start with the laziest possible version: take an existing product like ChatGPT, upload the student handbook PDF, and start asking questions. And honestly — it works. For one document, one person, one paid seat. But look at what that means for an institution. To give this to every student, Sydney Met would either have to build its own ChatGPT-like product from scratch, or buy a paid subscription seat for every single student — and either way, the documents keep changing and thousands of students ask questions at the same time. Neither option scales. What we need is one shared bot, always current, serving everyone at once. That's the real engineering problem, and it starts 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fair question before we build: chatbots are everywhere now, so why not grab a ready-made one, the way we grab Chrome for browsing? Nobody builds their own browser. Four reasons this is different, at least today. First, expectations are genuinely diversified — one organisation cares most about security and where its data lives, another about raw speed, another about cost, another about reliability under heavy use. A browser mostly just needs to render a page; a chatbot's bar depends entirely on who's asking. Second, this field is comparatively new, so common expectations aren't even well defined yet — there's no agreed checklist like there is for browsers. Third, 'no-code' chatbot builders exist that promise exactly this, but in my own experience they're more complicated to use well than they claim, and how far you can customise the behaviour is limited. Fourth — and I say this half-joking — this space moves so fast that a genuinely good ready-made bot might exist by the time we finish this lecture; when I checked before preparing this, it wasn't there yet. So for now, you still have to build, or at least understand the build well enough to steer it. And beyond these four there's a deeper reason you'll see by the end of the hour: every domain has specific needs that no generic product anticipates. Hold that thought — we'll come back to it in the very last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of MetMate at a glance — deliberately coarse, just a handful of boxes. The top lane happens once, ahead of time, before any student asks anything: the documents get broken up and organised into an index, a searchable form. The bottom lane runs live, every single time a student asks: the question searches that index, the best passages feed a draft answer, the draft gets checked, and only then does the student see a reply. Keep this map in your head — the rest of the lecture is a magnifying glass moving across it, one box at a time. Three things worth saying while we look at it. First: a chatbot is usually the very first exercise in any course on large language models — LLMs, the AI models behind tools like ChatGPT — because the task is well defined, and with decent hardware you can build a complete chatbot running entirely on your own machine with free local models. Second: this is a young, still-growing field, so there is no standard blueprint for this diagram. What you're seeing is one way — the way we built it. Third — and this is where real life differs from the course exercise: real users expect quality answers, fast, at any scale, without the organisation running a data centre. So this system quietly calls three commercial AI services over the internet — three API providers. OpenAI turns text into its searchable meaning form and handles the fast mechanical chores, Anthropic writes the final answers, and Cohere re-orders search results by relevance. You pay per use, and in exchange nobody has to own a single GPU.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build phase one, the bare minimum. Almost everything in the map is standard software; the only genuinely new problem is the search box — given a question and thousands of passages, find the few that matter. The simplest possible answer: match words. Count how many words the question shares with each passage, give rare words a bit more weight, and the passage with the most overlap wins. This is decades-old search technology — it's fast, it's simple, it needs no AI at all. The winning passages then go to the language model, which phrases a reply out of them. And that's phase one complete: a working chatbot. Now watch it fail.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student asks: 'Can I access the library 24/7?' Somewhere in the documents there's an appendix about exam periods, and it literally contains the words '24/7 access'. The general rule — the one that actually governs an ordinary week — says open 8am to 10pm during term time, and it shares almost no words with the question. Count the overlap: the appendix scores high, the real rule scores low, and MetMate confidently tells the student the library never closes. Every word of that answer came from a real document — and it's still wrong, because word matching rewards the passage that echoes the question, not the rule that applies. This is the single most important failure mode of naive search, and the first version of my real bot did exactly this. A confident wrong answer is worse than no answer, so phase one is dead. Notice that two things broke at once: search matched words instead of meaning, and nothing anywhere asked 'does this rule even apply right now?' Phase two fixes both.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half of the fix: teach the computer meaning. That's what an embedding does — it converts a piece of text into a list of numbers. Think of it as plotting the text as a point in space, where meaning determines position: texts about similar things land near each other, even if they share no words at all. The classic illustration: take the point for 'queen', subtract the direction for 'female', add the direction for 'male', and you land close to 'king'. The model captured a real relationship purely from patterns in language, as geometry. So during the build-once lane, every passage of every document becomes a point; live, the student's question becomes a point too, and search stops being 'count the shared words' and becomes 'find the nearby points'. A passage about opening hours now lands right next to a question about opening hours, even when the wording is completely different. That's half the fix.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second half, and it's the subtler one. Even searching by meaning, the exam-period passage still comes up — it genuinely is about library access. The missing ingredient is context: when each passage is stored, attach the conditions under which it applies — 'exam period only', 'term time', whatever the surrounding document says. Now the pieces the bot retrieves aren't bare sentences; they're sentences that carry their own scope, and a simple check can set aside the ones whose conditions don't hold for this question. Ask about ordinary library hours and the appendix steps back: 8am to 10pm in term time, 24/7 only during exams. Phase two, MetMate answers the library question correctly. This idea — every piece of information carrying the context of when it's true — is probably the most transferable lesson in this whole lecture.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two works, so we got ambitious. A chatbot speaking to students on behalf of a university must not invent things — language models will happily produce fluent, confident, wrong sentences. So we added a safety check: before any answer is shown, a second pass verifies every claim against the passages that search retrieved, and unsupported claims kill the answer. Sensible, right? Here's what happened. A student asks: 'How many kinds of special consideration are there?' MetMate drafts the correct answer — six categories — because alongside the index it keeps a master list, a table of contents of every rule section, built directly from the documents. But search, tuned to fetch a handful of relevant passages, only pulled the full text for two of the six. The checker finds four claims with no passage in hand, stamps them 'unsupported', and throws the whole answer away. The bot tells the student 'I couldn't confidently find this' — on a question it demonstrably could answer. Too shy is a real failure too.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not to loosen the check — it's to give it the right evidence for each kind of claim. Claims about what exists, or how many there are: the master list is the authority. It was built directly from the documents themselves, so it's exactly as trustworthy as they are. Claims about the detail of one specific rule: those still require the actual passage, no exceptions. Existence and detail need different evidence — miss that distinction and your bot goes shy on precisely the questions it's best equipped to answer. And when a claim genuinely has neither kind of evidence? The bot doesn't guess. It quietly searches once more with a sharper query, and if the support still isn't there, it tells the student honestly that it doesn't know. That's the whole honesty policy in one breath: never show an unchecked answer, never refuse what you can prove, and when you truly can't — say so. Phase three complete, and this is the version people can rely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zoom back out — same map as the start, but grown. The grey boxes are phase one, the bare skeleton: split the documents, match, draft, reply. The teal boxes are phase two: the meaning index, the applicability labels, the filter that keeps only rules that apply right now. The amber boxes are phase three: the master list, the claim checker, the retry, and the honest 'I don't know'. Here's the point of this slide: nothing in this picture was designed up front. Every coloured box exists because a real failure forced it. Which means you don't need the perfect architecture on day one — you need a working skeleton, and the discipline to treat every failure as a design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the promise from slide one — that terms keep coming back? Here are six I deliberately skipped today, all quietly at work in the real system. Hybrid retrieval: run word search and meaning search together and merge the results — old and new search are better combined than either alone. Reranking: a second, smarter pass re-orders the passages search found. Query rewriting: clean the student's question into a sharp search query before searching. Question splitting: one compound question becomes several simple ones, answered together. Conversation memory: condense the chat so far into one standalone question, so 'what about postgrads?' makes sense on its own. And the two-model design: a cheap, fast model does all this mechanical plumbing, while the strong, expensive model only writes the final answer — that's how the system stays both smart and affordable. None of these changes the story you just saw; they squeeze out the last twenty percent of quality. When you need them, look them up — you now have the map they attach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thing — back to the thought I asked you to hold at the start: why ready-made bots don't quite fit. Everything we built today is the generic recipe, and the recipe is public — anyone can follow it. The value, and honestly the fun, is fitting it to a domain. Three quick examples from the kinds of tools I get to build. A GIS assistant — mapping is my own field — shouldn't just answer questions about map data; it should know what the user is looking at right now: which layers are on, where they've zoomed, what they just clicked. A weather assistant can't only quote documents, because documents describe the past — its whole job is the future, so forecasting has to live inside it. A finance assistant sits on data that moves all day, so in its idle time it should be analysing what just changed and preparing the answers people are about to ask. Same skeleton, three completely different bots. Somewhere in whatever field you end up working in, there's a version of this waiting to be fitted — and that part isn't in any tutorial. That part is yours.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234440"/>
            <a:ext cx="10515600" cy="365760"/>
          </a:xfrm>
          <a:prstGeom prst="rect">
            <a:avLst/>
          </a:prstGeom>
          <a:noFill/>
        </p:spPr>
        <p:txBody>
          <a:bodyPr wrap="square" anchor="t" lIns="0" rIns="0" tIns="0" bIns="0">
            <a:spAutoFit/>
          </a:bodyPr>
          <a:lstStyle/>
          <a:p>
            <a:pPr algn="l"/>
            <a:r>
              <a:rPr sz="1300" b="1" i="0" spc="240">
                <a:solidFill>
                  <a:srgbClr val="2DD4BF"/>
                </a:solidFill>
                <a:latin typeface="Segoe UI"/>
              </a:rPr>
              <a:t>GUEST LECTURE   ·   ICT108</a:t>
            </a:r>
          </a:p>
        </p:txBody>
      </p:sp>
      <p:sp>
        <p:nvSpPr>
          <p:cNvPr id="5" name="TextBox 4"/>
          <p:cNvSpPr txBox="1"/>
          <p:nvPr/>
        </p:nvSpPr>
        <p:spPr>
          <a:xfrm>
            <a:off x="566928" y="1645920"/>
            <a:ext cx="10972800" cy="1188720"/>
          </a:xfrm>
          <a:prstGeom prst="rect">
            <a:avLst/>
          </a:prstGeom>
          <a:noFill/>
        </p:spPr>
        <p:txBody>
          <a:bodyPr wrap="square" anchor="t" lIns="0" rIns="0" tIns="0" bIns="0">
            <a:spAutoFit/>
          </a:bodyPr>
          <a:lstStyle/>
          <a:p>
            <a:pPr algn="l">
              <a:lnSpc>
                <a:spcPct val="100000"/>
              </a:lnSpc>
            </a:pPr>
            <a:r>
              <a:rPr sz="4800" b="1" i="0">
                <a:solidFill>
                  <a:srgbClr val="FFFFFF"/>
                </a:solidFill>
                <a:latin typeface="Segoe UI"/>
              </a:rPr>
              <a:t>Talk to Your Documents</a:t>
            </a:r>
          </a:p>
        </p:txBody>
      </p:sp>
      <p:sp>
        <p:nvSpPr>
          <p:cNvPr id="6" name="Rounded Rectangle 5"/>
          <p:cNvSpPr/>
          <p:nvPr/>
        </p:nvSpPr>
        <p:spPr>
          <a:xfrm>
            <a:off x="621792" y="2606040"/>
            <a:ext cx="1737360" cy="73152"/>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834640"/>
            <a:ext cx="10515600" cy="640080"/>
          </a:xfrm>
          <a:prstGeom prst="rect">
            <a:avLst/>
          </a:prstGeom>
          <a:noFill/>
        </p:spPr>
        <p:txBody>
          <a:bodyPr wrap="square" anchor="t" lIns="0" rIns="0" tIns="0" bIns="0">
            <a:spAutoFit/>
          </a:bodyPr>
          <a:lstStyle/>
          <a:p>
            <a:pPr algn="l">
              <a:lnSpc>
                <a:spcPct val="110000"/>
              </a:lnSpc>
            </a:pPr>
            <a:r>
              <a:rPr sz="1700" b="0" i="0">
                <a:solidFill>
                  <a:srgbClr val="9FB3C8"/>
                </a:solidFill>
                <a:latin typeface="Segoe UI"/>
              </a:rPr>
              <a:t>Building an AI assistant that answers only from your documents — the way it happens in real life.</a:t>
            </a:r>
          </a:p>
        </p:txBody>
      </p:sp>
      <p:sp>
        <p:nvSpPr>
          <p:cNvPr id="8" name="TextBox 7"/>
          <p:cNvSpPr txBox="1"/>
          <p:nvPr/>
        </p:nvSpPr>
        <p:spPr>
          <a:xfrm>
            <a:off x="594360" y="3657600"/>
            <a:ext cx="7772400" cy="457200"/>
          </a:xfrm>
          <a:prstGeom prst="rect">
            <a:avLst/>
          </a:prstGeom>
          <a:noFill/>
        </p:spPr>
        <p:txBody>
          <a:bodyPr wrap="square" anchor="t" lIns="0" rIns="0" tIns="0" bIns="0">
            <a:spAutoFit/>
          </a:bodyPr>
          <a:lstStyle/>
          <a:p>
            <a:pPr algn="l"/>
            <a:r>
              <a:rPr sz="1500" b="1" i="0">
                <a:solidFill>
                  <a:srgbClr val="2DD4BF"/>
                </a:solidFill>
                <a:latin typeface="Segoe UI"/>
              </a:rPr>
              <a:t>Case study: MetMate</a:t>
            </a:r>
          </a:p>
        </p:txBody>
      </p:sp>
      <p:sp>
        <p:nvSpPr>
          <p:cNvPr id="9" name="TextBox 8"/>
          <p:cNvSpPr txBox="1"/>
          <p:nvPr/>
        </p:nvSpPr>
        <p:spPr>
          <a:xfrm>
            <a:off x="594360" y="4069080"/>
            <a:ext cx="8686800" cy="457200"/>
          </a:xfrm>
          <a:prstGeom prst="rect">
            <a:avLst/>
          </a:prstGeom>
          <a:noFill/>
        </p:spPr>
        <p:txBody>
          <a:bodyPr wrap="square" anchor="t" lIns="0" rIns="0" tIns="0" bIns="0">
            <a:spAutoFit/>
          </a:bodyPr>
          <a:lstStyle/>
          <a:p>
            <a:pPr algn="l"/>
            <a:r>
              <a:rPr sz="1300" b="0" i="1">
                <a:solidFill>
                  <a:srgbClr val="9FB3C8"/>
                </a:solidFill>
                <a:latin typeface="Segoe UI"/>
              </a:rPr>
              <a:t>A chatbot answering student questions about Sydney Met's rules.</a:t>
            </a:r>
          </a:p>
        </p:txBody>
      </p:sp>
      <p:sp>
        <p:nvSpPr>
          <p:cNvPr id="10" name="Rounded Rectangle 9"/>
          <p:cNvSpPr/>
          <p:nvPr/>
        </p:nvSpPr>
        <p:spPr>
          <a:xfrm>
            <a:off x="594360" y="4754880"/>
            <a:ext cx="859536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754880"/>
            <a:ext cx="8138160" cy="777240"/>
          </a:xfrm>
          <a:prstGeom prst="rect">
            <a:avLst/>
          </a:prstGeom>
          <a:noFill/>
        </p:spPr>
        <p:txBody>
          <a:bodyPr wrap="square" anchor="ctr" lIns="0" rIns="0" tIns="0" bIns="0">
            <a:spAutoFit/>
          </a:bodyPr>
          <a:lstStyle/>
          <a:p>
            <a:pPr algn="l">
              <a:lnSpc>
                <a:spcPct val="125000"/>
              </a:lnSpc>
            </a:pPr>
            <a:r>
              <a:rPr sz="1200" b="0" i="1">
                <a:solidFill>
                  <a:srgbClr val="9FB3C8"/>
                </a:solidFill>
                <a:latin typeface="Segoe UI"/>
              </a:rPr>
              <a:t>Concepts over terminology today — new terms arrive daily. Miss one? It will come back,</a:t>
            </a:r>
          </a:p>
          <a:p>
            <a:pPr algn="l"/>
            <a:r>
              <a:rPr sz="1200" b="0" i="1">
                <a:solidFill>
                  <a:srgbClr val="9FB3C8"/>
                </a:solidFill>
                <a:latin typeface="Segoe UI"/>
              </a:rPr>
              <a:t>or you can look it up later. You will follow the ideas either way.</a:t>
            </a:r>
          </a:p>
        </p:txBody>
      </p:sp>
      <p:pic>
        <p:nvPicPr>
          <p:cNvPr id="12" name="Picture 11" descr="logo-wimmera-white.png"/>
          <p:cNvPicPr>
            <a:picLocks noChangeAspect="1"/>
          </p:cNvPicPr>
          <p:nvPr/>
        </p:nvPicPr>
        <p:blipFill>
          <a:blip r:embed="rId2"/>
          <a:stretch>
            <a:fillRect/>
          </a:stretch>
        </p:blipFill>
        <p:spPr>
          <a:xfrm>
            <a:off x="10269748" y="457200"/>
            <a:ext cx="1373307" cy="1005840"/>
          </a:xfrm>
          <a:prstGeom prst="rect">
            <a:avLst/>
          </a:prstGeom>
        </p:spPr>
      </p:pic>
      <p:sp>
        <p:nvSpPr>
          <p:cNvPr id="13" name="Rectangle 12"/>
          <p:cNvSpPr/>
          <p:nvPr/>
        </p:nvSpPr>
        <p:spPr>
          <a:xfrm>
            <a:off x="0" y="6035040"/>
            <a:ext cx="12191695" cy="82296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035040"/>
            <a:ext cx="12191695" cy="457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6035040"/>
            <a:ext cx="6400800" cy="822960"/>
          </a:xfrm>
          <a:prstGeom prst="rect">
            <a:avLst/>
          </a:prstGeom>
          <a:noFill/>
        </p:spPr>
        <p:txBody>
          <a:bodyPr wrap="square" anchor="ctr" lIns="0" rIns="0" tIns="0" bIns="0">
            <a:spAutoFit/>
          </a:bodyPr>
          <a:lstStyle/>
          <a:p>
            <a:pPr algn="l"/>
            <a:r>
              <a:rPr sz="1300" b="0" i="0">
                <a:solidFill>
                  <a:srgbClr val="FFFFFF"/>
                </a:solidFill>
                <a:latin typeface="Segoe UI"/>
              </a:rPr>
              <a:t>Tuesday 14 July 2026, 2–3 PM</a:t>
            </a:r>
          </a:p>
        </p:txBody>
      </p:sp>
      <p:sp>
        <p:nvSpPr>
          <p:cNvPr id="16" name="TextBox 15"/>
          <p:cNvSpPr txBox="1"/>
          <p:nvPr/>
        </p:nvSpPr>
        <p:spPr>
          <a:xfrm>
            <a:off x="5486400" y="6035040"/>
            <a:ext cx="6108192" cy="822960"/>
          </a:xfrm>
          <a:prstGeom prst="rect">
            <a:avLst/>
          </a:prstGeom>
          <a:noFill/>
        </p:spPr>
        <p:txBody>
          <a:bodyPr wrap="square" anchor="ctr">
            <a:spAutoFit/>
          </a:bodyPr>
          <a:lstStyle/>
          <a:p>
            <a:pPr algn="r"/>
            <a:r>
              <a:rPr sz="1350" b="1">
                <a:solidFill>
                  <a:srgbClr val="2DD4BF"/>
                </a:solidFill>
                <a:latin typeface="Segoe UI"/>
              </a:rPr>
              <a:t>Dr Mohammad Arifur Rahman</a:t>
            </a:r>
          </a:p>
          <a:p>
            <a:pPr algn="r"/>
            <a:r>
              <a:rPr sz="1050">
                <a:solidFill>
                  <a:srgbClr val="9FB3C8"/>
                </a:solidFill>
                <a:latin typeface="Segoe UI"/>
              </a:rPr>
              <a:t>Analyst Programmer  ·  Wimmera CMA, Victoria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WARM-UP</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Why not just upload it to ChatGPT?</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Rounded Rectangle 9"/>
          <p:cNvSpPr/>
          <p:nvPr/>
        </p:nvSpPr>
        <p:spPr>
          <a:xfrm>
            <a:off x="7863840" y="1481328"/>
            <a:ext cx="3703320" cy="50292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1481328"/>
            <a:ext cx="3429000" cy="502920"/>
          </a:xfrm>
          <a:prstGeom prst="rect">
            <a:avLst/>
          </a:prstGeom>
          <a:noFill/>
        </p:spPr>
        <p:txBody>
          <a:bodyPr wrap="square" anchor="ctr" lIns="0" rIns="0" tIns="0" bIns="0">
            <a:spAutoFit/>
          </a:bodyPr>
          <a:lstStyle/>
          <a:p>
            <a:pPr algn="l"/>
            <a:r>
              <a:rPr sz="1150" b="1" i="1">
                <a:solidFill>
                  <a:srgbClr val="E06C6C"/>
                </a:solidFill>
                <a:latin typeface="Segoe UI"/>
              </a:rPr>
              <a:t>✗ works for one — can't scale to all</a:t>
            </a:r>
          </a:p>
        </p:txBody>
      </p:sp>
      <p:sp>
        <p:nvSpPr>
          <p:cNvPr id="12" name="TextBox 11"/>
          <p:cNvSpPr txBox="1"/>
          <p:nvPr/>
        </p:nvSpPr>
        <p:spPr>
          <a:xfrm>
            <a:off x="1005840" y="2240280"/>
            <a:ext cx="9601200" cy="457200"/>
          </a:xfrm>
          <a:prstGeom prst="rect">
            <a:avLst/>
          </a:prstGeom>
          <a:noFill/>
        </p:spPr>
        <p:txBody>
          <a:bodyPr wrap="square" anchor="t" lIns="0" rIns="0" tIns="0" bIns="0">
            <a:spAutoFit/>
          </a:bodyPr>
          <a:lstStyle/>
          <a:p>
            <a:pPr algn="l"/>
            <a:r>
              <a:rPr sz="1500" b="0" i="1">
                <a:solidFill>
                  <a:srgbClr val="9FB3C8"/>
                </a:solidFill>
                <a:latin typeface="Segoe UI"/>
              </a:rPr>
              <a:t>The laziest possible chatbot: upload the handbook to an existing product.</a:t>
            </a:r>
          </a:p>
        </p:txBody>
      </p:sp>
      <p:sp>
        <p:nvSpPr>
          <p:cNvPr id="13" name="Rounded Rectangle 12"/>
          <p:cNvSpPr/>
          <p:nvPr/>
        </p:nvSpPr>
        <p:spPr>
          <a:xfrm>
            <a:off x="1463040" y="2880360"/>
            <a:ext cx="2011680" cy="21945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91640" y="3108960"/>
            <a:ext cx="1554480" cy="365760"/>
          </a:xfrm>
          <a:prstGeom prst="rect">
            <a:avLst/>
          </a:prstGeom>
          <a:noFill/>
        </p:spPr>
        <p:txBody>
          <a:bodyPr wrap="square" anchor="t" lIns="0" rIns="0" tIns="0" bIns="0">
            <a:spAutoFit/>
          </a:bodyPr>
          <a:lstStyle/>
          <a:p>
            <a:pPr algn="ctr"/>
            <a:r>
              <a:rPr sz="1200" b="0" i="0">
                <a:solidFill>
                  <a:srgbClr val="9FB3C8"/>
                </a:solidFill>
                <a:latin typeface="Segoe UI"/>
              </a:rPr>
              <a:t>student</a:t>
            </a:r>
          </a:p>
        </p:txBody>
      </p:sp>
      <p:sp>
        <p:nvSpPr>
          <p:cNvPr id="15" name="TextBox 14"/>
          <p:cNvSpPr txBox="1"/>
          <p:nvPr/>
        </p:nvSpPr>
        <p:spPr>
          <a:xfrm>
            <a:off x="1691640" y="3364992"/>
            <a:ext cx="1554480" cy="365760"/>
          </a:xfrm>
          <a:prstGeom prst="rect">
            <a:avLst/>
          </a:prstGeom>
          <a:noFill/>
        </p:spPr>
        <p:txBody>
          <a:bodyPr wrap="square" anchor="t" lIns="0" rIns="0" tIns="0" bIns="0">
            <a:spAutoFit/>
          </a:bodyPr>
          <a:lstStyle/>
          <a:p>
            <a:pPr algn="ctr"/>
            <a:r>
              <a:rPr sz="1300" b="1" i="0">
                <a:solidFill>
                  <a:srgbClr val="FFFFFF"/>
                </a:solidFill>
                <a:latin typeface="Segoe UI"/>
              </a:rPr>
              <a:t>handbook.pdf</a:t>
            </a:r>
          </a:p>
        </p:txBody>
      </p:sp>
      <p:sp>
        <p:nvSpPr>
          <p:cNvPr id="16" name="Rectangle 15"/>
          <p:cNvSpPr/>
          <p:nvPr/>
        </p:nvSpPr>
        <p:spPr>
          <a:xfrm>
            <a:off x="1783080" y="3886200"/>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783080" y="4142232"/>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783080" y="4398264"/>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783080" y="4654296"/>
            <a:ext cx="1554480" cy="54864"/>
          </a:xfrm>
          <a:prstGeom prst="rect">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94760" y="2834640"/>
            <a:ext cx="1417320" cy="274320"/>
          </a:xfrm>
          <a:prstGeom prst="rect">
            <a:avLst/>
          </a:prstGeom>
          <a:noFill/>
        </p:spPr>
        <p:txBody>
          <a:bodyPr wrap="square" anchor="t" lIns="0" rIns="0" tIns="0" bIns="0">
            <a:spAutoFit/>
          </a:bodyPr>
          <a:lstStyle/>
          <a:p>
            <a:pPr algn="ctr"/>
            <a:r>
              <a:rPr sz="1100" b="0" i="1">
                <a:solidFill>
                  <a:srgbClr val="9FB3C8"/>
                </a:solidFill>
                <a:latin typeface="Segoe UI"/>
              </a:rPr>
              <a:t>upload to</a:t>
            </a:r>
          </a:p>
        </p:txBody>
      </p:sp>
      <p:sp>
        <p:nvSpPr>
          <p:cNvPr id="21" name="Right Arrow 20"/>
          <p:cNvSpPr/>
          <p:nvPr/>
        </p:nvSpPr>
        <p:spPr>
          <a:xfrm>
            <a:off x="3657600" y="3017520"/>
            <a:ext cx="128016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66360" y="2880360"/>
            <a:ext cx="2514600" cy="2194560"/>
          </a:xfrm>
          <a:prstGeom prst="roundRect">
            <a:avLst>
              <a:gd name="adj" fmla="val 12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0" y="3063240"/>
            <a:ext cx="2103120" cy="365760"/>
          </a:xfrm>
          <a:prstGeom prst="rect">
            <a:avLst/>
          </a:prstGeom>
          <a:noFill/>
        </p:spPr>
        <p:txBody>
          <a:bodyPr wrap="square" anchor="t" lIns="0" rIns="0" tIns="0" bIns="0">
            <a:spAutoFit/>
          </a:bodyPr>
          <a:lstStyle/>
          <a:p>
            <a:pPr algn="ctr"/>
            <a:r>
              <a:rPr sz="1500" b="1" i="0">
                <a:solidFill>
                  <a:srgbClr val="2DD4BF"/>
                </a:solidFill>
                <a:latin typeface="Segoe UI"/>
              </a:rPr>
              <a:t>ChatGPT</a:t>
            </a:r>
          </a:p>
        </p:txBody>
      </p:sp>
      <p:sp>
        <p:nvSpPr>
          <p:cNvPr id="24" name="TextBox 23"/>
          <p:cNvSpPr txBox="1"/>
          <p:nvPr/>
        </p:nvSpPr>
        <p:spPr>
          <a:xfrm>
            <a:off x="5394960" y="3520440"/>
            <a:ext cx="2103120" cy="1371600"/>
          </a:xfrm>
          <a:prstGeom prst="rect">
            <a:avLst/>
          </a:prstGeom>
          <a:noFill/>
        </p:spPr>
        <p:txBody>
          <a:bodyPr wrap="square" anchor="t" lIns="0" rIns="0" tIns="0" bIns="0">
            <a:spAutoFit/>
          </a:bodyPr>
          <a:lstStyle/>
          <a:p>
            <a:pPr algn="ctr">
              <a:lnSpc>
                <a:spcPct val="120000"/>
              </a:lnSpc>
            </a:pPr>
            <a:r>
              <a:rPr sz="1300" b="0" i="0">
                <a:solidFill>
                  <a:srgbClr val="FFFFFF"/>
                </a:solidFill>
                <a:latin typeface="Segoe UI"/>
              </a:rPr>
              <a:t>Answers well — for one document, one person, one paid seat</a:t>
            </a:r>
          </a:p>
        </p:txBody>
      </p:sp>
      <p:sp>
        <p:nvSpPr>
          <p:cNvPr id="25" name="TextBox 24"/>
          <p:cNvSpPr txBox="1"/>
          <p:nvPr/>
        </p:nvSpPr>
        <p:spPr>
          <a:xfrm>
            <a:off x="8138160" y="2606040"/>
            <a:ext cx="3429000" cy="2926080"/>
          </a:xfrm>
          <a:prstGeom prst="rect">
            <a:avLst/>
          </a:prstGeom>
          <a:noFill/>
        </p:spPr>
        <p:txBody>
          <a:bodyPr wrap="square" anchor="t" lIns="0" rIns="0" tIns="0" bIns="0">
            <a:spAutoFit/>
          </a:bodyPr>
          <a:lstStyle/>
          <a:p>
            <a:pPr algn="l">
              <a:lnSpc>
                <a:spcPct val="125000"/>
              </a:lnSpc>
            </a:pPr>
            <a:r>
              <a:rPr sz="1350" b="1" i="0">
                <a:solidFill>
                  <a:srgbClr val="2DD4BF"/>
                </a:solidFill>
                <a:latin typeface="Segoe UI"/>
              </a:rPr>
              <a:t>To give this to every student, Sydney Met would need to:</a:t>
            </a:r>
          </a:p>
          <a:p>
            <a:pPr algn="l">
              <a:lnSpc>
                <a:spcPct val="130000"/>
              </a:lnSpc>
            </a:pPr>
            <a:r>
              <a:rPr sz="1300" b="0" i="0">
                <a:solidFill>
                  <a:srgbClr val="FFFFFF"/>
                </a:solidFill>
                <a:latin typeface="Segoe UI"/>
              </a:rPr>
              <a:t>build its own ChatGPT-like product, or</a:t>
            </a:r>
          </a:p>
          <a:p>
            <a:pPr algn="l">
              <a:lnSpc>
                <a:spcPct val="130000"/>
              </a:lnSpc>
            </a:pPr>
            <a:r>
              <a:rPr sz="1300" b="0" i="0">
                <a:solidFill>
                  <a:srgbClr val="FFFFFF"/>
                </a:solidFill>
                <a:latin typeface="Segoe UI"/>
              </a:rPr>
              <a:t>buy a paid subscription per student</a:t>
            </a:r>
          </a:p>
          <a:p>
            <a:pPr algn="l">
              <a:lnSpc>
                <a:spcPct val="130000"/>
              </a:lnSpc>
            </a:pPr>
            <a:r>
              <a:rPr sz="1300" b="0" i="0">
                <a:solidFill>
                  <a:srgbClr val="FFFFFF"/>
                </a:solidFill>
                <a:latin typeface="Segoe UI"/>
              </a:rPr>
              <a:t>...while documents keep changing and</a:t>
            </a:r>
          </a:p>
          <a:p>
            <a:pPr algn="l"/>
            <a:r>
              <a:rPr sz="1300" b="0" i="0">
                <a:solidFill>
                  <a:srgbClr val="FFFFFF"/>
                </a:solidFill>
                <a:latin typeface="Segoe UI"/>
              </a:rPr>
              <a:t>thousands ask questions at once.</a:t>
            </a:r>
          </a:p>
        </p:txBody>
      </p:sp>
      <p:sp>
        <p:nvSpPr>
          <p:cNvPr id="26" name="TextBox 25"/>
          <p:cNvSpPr txBox="1"/>
          <p:nvPr/>
        </p:nvSpPr>
        <p:spPr>
          <a:xfrm>
            <a:off x="1463040" y="5623560"/>
            <a:ext cx="9418320" cy="457200"/>
          </a:xfrm>
          <a:prstGeom prst="rect">
            <a:avLst/>
          </a:prstGeom>
          <a:noFill/>
        </p:spPr>
        <p:txBody>
          <a:bodyPr wrap="square" anchor="t" lIns="0" rIns="0" tIns="0" bIns="0">
            <a:spAutoFit/>
          </a:bodyPr>
          <a:lstStyle/>
          <a:p>
            <a:pPr algn="l"/>
            <a:r>
              <a:rPr sz="1300" b="0" i="0">
                <a:solidFill>
                  <a:srgbClr val="FFFFFF"/>
                </a:solidFill>
                <a:latin typeface="Segoe UI"/>
              </a:rPr>
              <a:t>We need one shared bot, always current, serving everyone at once — so we build.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WARM-UP</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Why not any ready-made chatbot?</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Oval 9"/>
          <p:cNvSpPr/>
          <p:nvPr/>
        </p:nvSpPr>
        <p:spPr>
          <a:xfrm>
            <a:off x="2720340" y="1668780"/>
            <a:ext cx="1143000" cy="1143000"/>
          </a:xfrm>
          <a:prstGeom prst="ellipse">
            <a:avLst/>
          </a:prstGeom>
          <a:solidFill>
            <a:srgbClr val="142847"/>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77440" y="2011680"/>
            <a:ext cx="1828800" cy="457200"/>
          </a:xfrm>
          <a:prstGeom prst="rect">
            <a:avLst/>
          </a:prstGeom>
          <a:noFill/>
        </p:spPr>
        <p:txBody>
          <a:bodyPr wrap="square" anchor="ctr" lIns="0" rIns="0" tIns="0" bIns="0">
            <a:spAutoFit/>
          </a:bodyPr>
          <a:lstStyle/>
          <a:p>
            <a:pPr algn="ctr"/>
            <a:r>
              <a:rPr sz="1700" b="1" i="0">
                <a:solidFill>
                  <a:srgbClr val="FFFFFF"/>
                </a:solidFill>
                <a:latin typeface="Segoe UI"/>
              </a:rPr>
              <a:t>Chrome</a:t>
            </a:r>
          </a:p>
        </p:txBody>
      </p:sp>
      <p:sp>
        <p:nvSpPr>
          <p:cNvPr id="12" name="TextBox 11"/>
          <p:cNvSpPr txBox="1"/>
          <p:nvPr/>
        </p:nvSpPr>
        <p:spPr>
          <a:xfrm>
            <a:off x="1828800" y="2971800"/>
            <a:ext cx="2926080" cy="457200"/>
          </a:xfrm>
          <a:prstGeom prst="rect">
            <a:avLst/>
          </a:prstGeom>
          <a:noFill/>
        </p:spPr>
        <p:txBody>
          <a:bodyPr wrap="square" anchor="t" lIns="0" rIns="0" tIns="0" bIns="0">
            <a:spAutoFit/>
          </a:bodyPr>
          <a:lstStyle/>
          <a:p>
            <a:pPr algn="ctr"/>
            <a:r>
              <a:rPr sz="1100" b="0" i="1">
                <a:solidFill>
                  <a:srgbClr val="9FB3C8"/>
                </a:solidFill>
                <a:latin typeface="Segoe UI"/>
              </a:rPr>
              <a:t>common software — we don't build our own</a:t>
            </a:r>
          </a:p>
        </p:txBody>
      </p:sp>
      <p:sp>
        <p:nvSpPr>
          <p:cNvPr id="13" name="Oval 12"/>
          <p:cNvSpPr/>
          <p:nvPr/>
        </p:nvSpPr>
        <p:spPr>
          <a:xfrm>
            <a:off x="8298179" y="1668780"/>
            <a:ext cx="1143000" cy="1143000"/>
          </a:xfrm>
          <a:prstGeom prst="ellipse">
            <a:avLst/>
          </a:prstGeom>
          <a:solidFill>
            <a:srgbClr val="142847"/>
          </a:solidFill>
          <a:ln w="1905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011680"/>
            <a:ext cx="1828800" cy="457200"/>
          </a:xfrm>
          <a:prstGeom prst="rect">
            <a:avLst/>
          </a:prstGeom>
          <a:noFill/>
        </p:spPr>
        <p:txBody>
          <a:bodyPr wrap="square" anchor="ctr" lIns="0" rIns="0" tIns="0" bIns="0">
            <a:spAutoFit/>
          </a:bodyPr>
          <a:lstStyle/>
          <a:p>
            <a:pPr algn="ctr"/>
            <a:r>
              <a:rPr sz="1700" b="1" i="0">
                <a:solidFill>
                  <a:srgbClr val="FFFFFF"/>
                </a:solidFill>
                <a:latin typeface="Segoe UI"/>
              </a:rPr>
              <a:t>Chatbot</a:t>
            </a:r>
          </a:p>
        </p:txBody>
      </p:sp>
      <p:sp>
        <p:nvSpPr>
          <p:cNvPr id="15" name="TextBox 14"/>
          <p:cNvSpPr txBox="1"/>
          <p:nvPr/>
        </p:nvSpPr>
        <p:spPr>
          <a:xfrm>
            <a:off x="7406640" y="2971800"/>
            <a:ext cx="2926080" cy="457200"/>
          </a:xfrm>
          <a:prstGeom prst="rect">
            <a:avLst/>
          </a:prstGeom>
          <a:noFill/>
        </p:spPr>
        <p:txBody>
          <a:bodyPr wrap="square" anchor="t" lIns="0" rIns="0" tIns="0" bIns="0">
            <a:spAutoFit/>
          </a:bodyPr>
          <a:lstStyle/>
          <a:p>
            <a:pPr algn="ctr"/>
            <a:r>
              <a:rPr sz="1100" b="0" i="1">
                <a:solidFill>
                  <a:srgbClr val="9FB3C8"/>
                </a:solidFill>
                <a:latin typeface="Segoe UI"/>
              </a:rPr>
              <a:t>...but this, we often build ourselves?</a:t>
            </a:r>
          </a:p>
        </p:txBody>
      </p:sp>
      <p:sp>
        <p:nvSpPr>
          <p:cNvPr id="16" name="TextBox 15"/>
          <p:cNvSpPr txBox="1"/>
          <p:nvPr/>
        </p:nvSpPr>
        <p:spPr>
          <a:xfrm>
            <a:off x="4023360" y="2103120"/>
            <a:ext cx="4114800" cy="457200"/>
          </a:xfrm>
          <a:prstGeom prst="rect">
            <a:avLst/>
          </a:prstGeom>
          <a:noFill/>
        </p:spPr>
        <p:txBody>
          <a:bodyPr wrap="square" anchor="ctr" lIns="0" rIns="0" tIns="0" bIns="0">
            <a:spAutoFit/>
          </a:bodyPr>
          <a:lstStyle/>
          <a:p>
            <a:pPr algn="ctr"/>
            <a:r>
              <a:rPr sz="2200" b="1" i="0">
                <a:solidFill>
                  <a:srgbClr val="9FB3C8"/>
                </a:solidFill>
                <a:latin typeface="Segoe UI"/>
              </a:rPr>
              <a:t>vs.</a:t>
            </a:r>
          </a:p>
        </p:txBody>
      </p:sp>
      <p:sp>
        <p:nvSpPr>
          <p:cNvPr id="17" name="Oval 16"/>
          <p:cNvSpPr/>
          <p:nvPr/>
        </p:nvSpPr>
        <p:spPr>
          <a:xfrm>
            <a:off x="859536" y="360273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B1B33"/>
                </a:solidFill>
                <a:latin typeface="Segoe UI"/>
              </a:rPr>
              <a:t>1</a:t>
            </a:r>
          </a:p>
        </p:txBody>
      </p:sp>
      <p:sp>
        <p:nvSpPr>
          <p:cNvPr id="18" name="TextBox 17"/>
          <p:cNvSpPr txBox="1"/>
          <p:nvPr/>
        </p:nvSpPr>
        <p:spPr>
          <a:xfrm>
            <a:off x="1417320" y="3611880"/>
            <a:ext cx="9418320" cy="457200"/>
          </a:xfrm>
          <a:prstGeom prst="rect">
            <a:avLst/>
          </a:prstGeom>
          <a:noFill/>
        </p:spPr>
        <p:txBody>
          <a:bodyPr wrap="square" anchor="ctr" lIns="0" rIns="0" tIns="0" bIns="0">
            <a:spAutoFit/>
          </a:bodyPr>
          <a:lstStyle/>
          <a:p>
            <a:pPr algn="l"/>
            <a:r>
              <a:rPr sz="1450" b="0" i="0">
                <a:solidFill>
                  <a:srgbClr val="FFFFFF"/>
                </a:solidFill>
                <a:latin typeface="Segoe UI"/>
              </a:rPr>
              <a:t>Expectations are diversified: security, reliability, speed, cost</a:t>
            </a:r>
          </a:p>
        </p:txBody>
      </p:sp>
      <p:sp>
        <p:nvSpPr>
          <p:cNvPr id="19" name="Oval 18"/>
          <p:cNvSpPr/>
          <p:nvPr/>
        </p:nvSpPr>
        <p:spPr>
          <a:xfrm>
            <a:off x="859536" y="4114800"/>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B1B33"/>
                </a:solidFill>
                <a:latin typeface="Segoe UI"/>
              </a:rPr>
              <a:t>2</a:t>
            </a:r>
          </a:p>
        </p:txBody>
      </p:sp>
      <p:sp>
        <p:nvSpPr>
          <p:cNvPr id="20" name="TextBox 19"/>
          <p:cNvSpPr txBox="1"/>
          <p:nvPr/>
        </p:nvSpPr>
        <p:spPr>
          <a:xfrm>
            <a:off x="1417320" y="4123944"/>
            <a:ext cx="9418320" cy="457200"/>
          </a:xfrm>
          <a:prstGeom prst="rect">
            <a:avLst/>
          </a:prstGeom>
          <a:noFill/>
        </p:spPr>
        <p:txBody>
          <a:bodyPr wrap="square" anchor="ctr" lIns="0" rIns="0" tIns="0" bIns="0">
            <a:spAutoFit/>
          </a:bodyPr>
          <a:lstStyle/>
          <a:p>
            <a:pPr algn="l"/>
            <a:r>
              <a:rPr sz="1450" b="0" i="0">
                <a:solidFill>
                  <a:srgbClr val="FFFFFF"/>
                </a:solidFill>
                <a:latin typeface="Segoe UI"/>
              </a:rPr>
              <a:t>The field is young — common expectations aren't well defined yet</a:t>
            </a:r>
          </a:p>
        </p:txBody>
      </p:sp>
      <p:sp>
        <p:nvSpPr>
          <p:cNvPr id="21" name="Oval 20"/>
          <p:cNvSpPr/>
          <p:nvPr/>
        </p:nvSpPr>
        <p:spPr>
          <a:xfrm>
            <a:off x="859536" y="4626864"/>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B1B33"/>
                </a:solidFill>
                <a:latin typeface="Segoe UI"/>
              </a:rPr>
              <a:t>3</a:t>
            </a:r>
          </a:p>
        </p:txBody>
      </p:sp>
      <p:sp>
        <p:nvSpPr>
          <p:cNvPr id="22" name="TextBox 21"/>
          <p:cNvSpPr txBox="1"/>
          <p:nvPr/>
        </p:nvSpPr>
        <p:spPr>
          <a:xfrm>
            <a:off x="1417320" y="4636008"/>
            <a:ext cx="9418320" cy="457200"/>
          </a:xfrm>
          <a:prstGeom prst="rect">
            <a:avLst/>
          </a:prstGeom>
          <a:noFill/>
        </p:spPr>
        <p:txBody>
          <a:bodyPr wrap="square" anchor="ctr" lIns="0" rIns="0" tIns="0" bIns="0">
            <a:spAutoFit/>
          </a:bodyPr>
          <a:lstStyle/>
          <a:p>
            <a:pPr algn="l"/>
            <a:r>
              <a:rPr sz="1450" b="0" i="0">
                <a:solidFill>
                  <a:srgbClr val="FFFFFF"/>
                </a:solidFill>
                <a:latin typeface="Segoe UI"/>
              </a:rPr>
              <a:t>"No-code" builders exist — more complicated in practice, limited customisation</a:t>
            </a:r>
          </a:p>
        </p:txBody>
      </p:sp>
      <p:sp>
        <p:nvSpPr>
          <p:cNvPr id="23" name="Oval 22"/>
          <p:cNvSpPr/>
          <p:nvPr/>
        </p:nvSpPr>
        <p:spPr>
          <a:xfrm>
            <a:off x="859536" y="5138928"/>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B1B33"/>
                </a:solidFill>
                <a:latin typeface="Segoe UI"/>
              </a:rPr>
              <a:t>4</a:t>
            </a:r>
          </a:p>
        </p:txBody>
      </p:sp>
      <p:sp>
        <p:nvSpPr>
          <p:cNvPr id="24" name="TextBox 23"/>
          <p:cNvSpPr txBox="1"/>
          <p:nvPr/>
        </p:nvSpPr>
        <p:spPr>
          <a:xfrm>
            <a:off x="1417320" y="5148072"/>
            <a:ext cx="9418320" cy="457200"/>
          </a:xfrm>
          <a:prstGeom prst="rect">
            <a:avLst/>
          </a:prstGeom>
          <a:noFill/>
        </p:spPr>
        <p:txBody>
          <a:bodyPr wrap="square" anchor="ctr" lIns="0" rIns="0" tIns="0" bIns="0">
            <a:spAutoFit/>
          </a:bodyPr>
          <a:lstStyle/>
          <a:p>
            <a:pPr algn="l"/>
            <a:r>
              <a:rPr sz="1450" b="0" i="0">
                <a:solidFill>
                  <a:srgbClr val="FFFFFF"/>
                </a:solidFill>
                <a:latin typeface="Segoe UI"/>
              </a:rPr>
              <a:t>It moves so fast, check again tomorrow</a:t>
            </a:r>
          </a:p>
        </p:txBody>
      </p:sp>
      <p:sp>
        <p:nvSpPr>
          <p:cNvPr id="25" name="TextBox 24"/>
          <p:cNvSpPr txBox="1"/>
          <p:nvPr/>
        </p:nvSpPr>
        <p:spPr>
          <a:xfrm>
            <a:off x="1051560" y="5806440"/>
            <a:ext cx="10058400" cy="411480"/>
          </a:xfrm>
          <a:prstGeom prst="rect">
            <a:avLst/>
          </a:prstGeom>
          <a:noFill/>
        </p:spPr>
        <p:txBody>
          <a:bodyPr wrap="square" anchor="t" lIns="0" rIns="0" tIns="0" bIns="0">
            <a:spAutoFit/>
          </a:bodyPr>
          <a:lstStyle/>
          <a:p>
            <a:pPr algn="l"/>
            <a:r>
              <a:rPr sz="1250" b="0" i="1">
                <a:solidFill>
                  <a:srgbClr val="F5B342"/>
                </a:solidFill>
                <a:latin typeface="Segoe UI"/>
              </a:rPr>
              <a:t>...and beyond these: every domain adds needs of its own — hold that thought for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THE MAP</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MetMate at a glance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TextBox 9"/>
          <p:cNvSpPr txBox="1"/>
          <p:nvPr/>
        </p:nvSpPr>
        <p:spPr>
          <a:xfrm>
            <a:off x="822960" y="1764791"/>
            <a:ext cx="7315200" cy="292608"/>
          </a:xfrm>
          <a:prstGeom prst="rect">
            <a:avLst/>
          </a:prstGeom>
          <a:noFill/>
        </p:spPr>
        <p:txBody>
          <a:bodyPr wrap="square" anchor="t" lIns="0" rIns="0" tIns="0" bIns="0">
            <a:spAutoFit/>
          </a:bodyPr>
          <a:lstStyle/>
          <a:p>
            <a:pPr algn="l"/>
            <a:r>
              <a:rPr sz="1100" b="1" i="0">
                <a:solidFill>
                  <a:srgbClr val="9FB3C8"/>
                </a:solidFill>
                <a:latin typeface="Segoe UI"/>
              </a:rPr>
              <a:t>BUILT ONCE, BEFORE ANY QUESTION</a:t>
            </a:r>
          </a:p>
        </p:txBody>
      </p:sp>
      <p:sp>
        <p:nvSpPr>
          <p:cNvPr id="11" name="Rounded Rectangle 10"/>
          <p:cNvSpPr/>
          <p:nvPr/>
        </p:nvSpPr>
        <p:spPr>
          <a:xfrm>
            <a:off x="822960" y="2103120"/>
            <a:ext cx="1926275" cy="731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03120"/>
            <a:ext cx="1743395" cy="731520"/>
          </a:xfrm>
          <a:prstGeom prst="rect">
            <a:avLst/>
          </a:prstGeom>
          <a:noFill/>
        </p:spPr>
        <p:txBody>
          <a:bodyPr wrap="square" anchor="ctr" lIns="0" rIns="0" tIns="0" bIns="0">
            <a:spAutoFit/>
          </a:bodyPr>
          <a:lstStyle/>
          <a:p>
            <a:pPr algn="ctr"/>
            <a:r>
              <a:rPr sz="1350" b="1" i="0">
                <a:solidFill>
                  <a:srgbClr val="FFFFFF"/>
                </a:solidFill>
                <a:latin typeface="Segoe UI"/>
              </a:rPr>
              <a:t>Documents</a:t>
            </a:r>
          </a:p>
        </p:txBody>
      </p:sp>
      <p:sp>
        <p:nvSpPr>
          <p:cNvPr id="13" name="Right Arrow 12"/>
          <p:cNvSpPr/>
          <p:nvPr/>
        </p:nvSpPr>
        <p:spPr>
          <a:xfrm>
            <a:off x="2730947" y="2377439"/>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977835" y="2103120"/>
            <a:ext cx="1926275" cy="73152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69275" y="2103120"/>
            <a:ext cx="1743395" cy="73152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Index
(searchable form)</a:t>
            </a:r>
          </a:p>
        </p:txBody>
      </p:sp>
      <p:cxnSp>
        <p:nvCxnSpPr>
          <p:cNvPr id="16" name="Connector 15"/>
          <p:cNvCxnSpPr/>
          <p:nvPr/>
        </p:nvCxnSpPr>
        <p:spPr>
          <a:xfrm>
            <a:off x="3940972" y="2880359"/>
            <a:ext cx="0" cy="411480"/>
          </a:xfrm>
          <a:prstGeom prst="line">
            <a:avLst/>
          </a:prstGeom>
          <a:ln w="28575">
            <a:solidFill>
              <a:srgbClr val="2DD4B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279392"/>
            <a:ext cx="7315200" cy="292608"/>
          </a:xfrm>
          <a:prstGeom prst="rect">
            <a:avLst/>
          </a:prstGeom>
          <a:noFill/>
        </p:spPr>
        <p:txBody>
          <a:bodyPr wrap="square" anchor="t" lIns="0" rIns="0" tIns="0" bIns="0">
            <a:spAutoFit/>
          </a:bodyPr>
          <a:lstStyle/>
          <a:p>
            <a:pPr algn="l"/>
            <a:r>
              <a:rPr sz="1100" b="1" i="0">
                <a:solidFill>
                  <a:srgbClr val="9FB3C8"/>
                </a:solidFill>
                <a:latin typeface="Segoe UI"/>
              </a:rPr>
              <a:t>EVERY QUESTION, LIVE</a:t>
            </a:r>
          </a:p>
        </p:txBody>
      </p:sp>
      <p:sp>
        <p:nvSpPr>
          <p:cNvPr id="18" name="Rounded Rectangle 17"/>
          <p:cNvSpPr/>
          <p:nvPr/>
        </p:nvSpPr>
        <p:spPr>
          <a:xfrm>
            <a:off x="822960" y="3383279"/>
            <a:ext cx="1926275" cy="8229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3383279"/>
            <a:ext cx="1779971" cy="82296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Student
question</a:t>
            </a:r>
          </a:p>
        </p:txBody>
      </p:sp>
      <p:sp>
        <p:nvSpPr>
          <p:cNvPr id="20" name="Right Arrow 19"/>
          <p:cNvSpPr/>
          <p:nvPr/>
        </p:nvSpPr>
        <p:spPr>
          <a:xfrm>
            <a:off x="2730947" y="370332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77835" y="3383279"/>
            <a:ext cx="1926275"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050987" y="3383279"/>
            <a:ext cx="1779971" cy="82296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Search the
index</a:t>
            </a:r>
          </a:p>
        </p:txBody>
      </p:sp>
      <p:sp>
        <p:nvSpPr>
          <p:cNvPr id="23" name="Right Arrow 22"/>
          <p:cNvSpPr/>
          <p:nvPr/>
        </p:nvSpPr>
        <p:spPr>
          <a:xfrm>
            <a:off x="4885822" y="370332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132710" y="3383279"/>
            <a:ext cx="1926275" cy="8229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05862" y="3383279"/>
            <a:ext cx="1779971" cy="82296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Draft
answer</a:t>
            </a:r>
          </a:p>
        </p:txBody>
      </p:sp>
      <p:sp>
        <p:nvSpPr>
          <p:cNvPr id="26" name="Right Arrow 25"/>
          <p:cNvSpPr/>
          <p:nvPr/>
        </p:nvSpPr>
        <p:spPr>
          <a:xfrm>
            <a:off x="7040697" y="370332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287585" y="3383279"/>
            <a:ext cx="1926275" cy="822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737" y="3383279"/>
            <a:ext cx="1779971" cy="82296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Check the
answer</a:t>
            </a:r>
          </a:p>
        </p:txBody>
      </p:sp>
      <p:sp>
        <p:nvSpPr>
          <p:cNvPr id="29" name="Right Arrow 28"/>
          <p:cNvSpPr/>
          <p:nvPr/>
        </p:nvSpPr>
        <p:spPr>
          <a:xfrm>
            <a:off x="9195572" y="3703320"/>
            <a:ext cx="265176" cy="18288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42460" y="3383279"/>
            <a:ext cx="1926275" cy="8229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15612" y="3383279"/>
            <a:ext cx="1779971" cy="822960"/>
          </a:xfrm>
          <a:prstGeom prst="rect">
            <a:avLst/>
          </a:prstGeom>
          <a:noFill/>
        </p:spPr>
        <p:txBody>
          <a:bodyPr wrap="square" anchor="ctr" lIns="0" rIns="0" tIns="0" bIns="0">
            <a:spAutoFit/>
          </a:bodyPr>
          <a:lstStyle/>
          <a:p>
            <a:pPr algn="ctr">
              <a:lnSpc>
                <a:spcPct val="110000"/>
              </a:lnSpc>
            </a:pPr>
            <a:r>
              <a:rPr sz="1300" b="1" i="0">
                <a:solidFill>
                  <a:srgbClr val="FFFFFF"/>
                </a:solidFill>
                <a:latin typeface="Segoe UI"/>
              </a:rPr>
              <a:t>Reply</a:t>
            </a:r>
          </a:p>
        </p:txBody>
      </p:sp>
      <p:sp>
        <p:nvSpPr>
          <p:cNvPr id="32" name="Rounded Rectangle 31"/>
          <p:cNvSpPr/>
          <p:nvPr/>
        </p:nvSpPr>
        <p:spPr>
          <a:xfrm>
            <a:off x="822960" y="4892040"/>
            <a:ext cx="3381146" cy="11430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001768"/>
            <a:ext cx="3015386" cy="320040"/>
          </a:xfrm>
          <a:prstGeom prst="rect">
            <a:avLst/>
          </a:prstGeom>
          <a:noFill/>
        </p:spPr>
        <p:txBody>
          <a:bodyPr wrap="square" anchor="t" lIns="0" rIns="0" tIns="0" bIns="0">
            <a:spAutoFit/>
          </a:bodyPr>
          <a:lstStyle/>
          <a:p>
            <a:pPr algn="l"/>
            <a:r>
              <a:rPr sz="1250" b="1" i="0">
                <a:solidFill>
                  <a:srgbClr val="2DD4BF"/>
                </a:solidFill>
                <a:latin typeface="Segoe UI"/>
              </a:rPr>
              <a:t>The classic first project</a:t>
            </a:r>
          </a:p>
        </p:txBody>
      </p:sp>
      <p:sp>
        <p:nvSpPr>
          <p:cNvPr id="34" name="TextBox 33"/>
          <p:cNvSpPr txBox="1"/>
          <p:nvPr/>
        </p:nvSpPr>
        <p:spPr>
          <a:xfrm>
            <a:off x="1005840" y="5330952"/>
            <a:ext cx="3015386" cy="640080"/>
          </a:xfrm>
          <a:prstGeom prst="rect">
            <a:avLst/>
          </a:prstGeom>
          <a:noFill/>
        </p:spPr>
        <p:txBody>
          <a:bodyPr wrap="square" anchor="t" lIns="0" rIns="0" tIns="0" bIns="0">
            <a:spAutoFit/>
          </a:bodyPr>
          <a:lstStyle/>
          <a:p>
            <a:pPr algn="l">
              <a:lnSpc>
                <a:spcPct val="115000"/>
              </a:lnSpc>
            </a:pPr>
            <a:r>
              <a:rPr sz="1000" b="0" i="0">
                <a:solidFill>
                  <a:srgbClr val="9FB3C8"/>
                </a:solidFill>
                <a:latin typeface="Segoe UI"/>
              </a:rPr>
              <a:t>every LLM course starts with a chatbot — with decent hardware you can build one fully on your own machine</a:t>
            </a:r>
          </a:p>
        </p:txBody>
      </p:sp>
      <p:sp>
        <p:nvSpPr>
          <p:cNvPr id="35" name="Rounded Rectangle 34"/>
          <p:cNvSpPr/>
          <p:nvPr/>
        </p:nvSpPr>
        <p:spPr>
          <a:xfrm>
            <a:off x="4405274" y="4892040"/>
            <a:ext cx="3381146" cy="11430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88154" y="5001768"/>
            <a:ext cx="3015386" cy="320040"/>
          </a:xfrm>
          <a:prstGeom prst="rect">
            <a:avLst/>
          </a:prstGeom>
          <a:noFill/>
        </p:spPr>
        <p:txBody>
          <a:bodyPr wrap="square" anchor="t" lIns="0" rIns="0" tIns="0" bIns="0">
            <a:spAutoFit/>
          </a:bodyPr>
          <a:lstStyle/>
          <a:p>
            <a:pPr algn="l"/>
            <a:r>
              <a:rPr sz="1250" b="1" i="0">
                <a:solidFill>
                  <a:srgbClr val="2DD4BF"/>
                </a:solidFill>
                <a:latin typeface="Segoe UI"/>
              </a:rPr>
              <a:t>No standard blueprint yet</a:t>
            </a:r>
          </a:p>
        </p:txBody>
      </p:sp>
      <p:sp>
        <p:nvSpPr>
          <p:cNvPr id="37" name="TextBox 36"/>
          <p:cNvSpPr txBox="1"/>
          <p:nvPr/>
        </p:nvSpPr>
        <p:spPr>
          <a:xfrm>
            <a:off x="4588154" y="5330952"/>
            <a:ext cx="3015386" cy="640080"/>
          </a:xfrm>
          <a:prstGeom prst="rect">
            <a:avLst/>
          </a:prstGeom>
          <a:noFill/>
        </p:spPr>
        <p:txBody>
          <a:bodyPr wrap="square" anchor="t" lIns="0" rIns="0" tIns="0" bIns="0">
            <a:spAutoFit/>
          </a:bodyPr>
          <a:lstStyle/>
          <a:p>
            <a:pPr algn="l">
              <a:lnSpc>
                <a:spcPct val="115000"/>
              </a:lnSpc>
            </a:pPr>
            <a:r>
              <a:rPr sz="1000" b="0" i="0">
                <a:solidFill>
                  <a:srgbClr val="9FB3C8"/>
                </a:solidFill>
                <a:latin typeface="Segoe UI"/>
              </a:rPr>
              <a:t>a young, fast-growing field with many designs — this diagram is one way: the way we built it</a:t>
            </a:r>
          </a:p>
        </p:txBody>
      </p:sp>
      <p:sp>
        <p:nvSpPr>
          <p:cNvPr id="38" name="Rounded Rectangle 37"/>
          <p:cNvSpPr/>
          <p:nvPr/>
        </p:nvSpPr>
        <p:spPr>
          <a:xfrm>
            <a:off x="7987588" y="4892040"/>
            <a:ext cx="3381146" cy="114300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70468" y="5001768"/>
            <a:ext cx="3015386" cy="320040"/>
          </a:xfrm>
          <a:prstGeom prst="rect">
            <a:avLst/>
          </a:prstGeom>
          <a:noFill/>
        </p:spPr>
        <p:txBody>
          <a:bodyPr wrap="square" anchor="t" lIns="0" rIns="0" tIns="0" bIns="0">
            <a:spAutoFit/>
          </a:bodyPr>
          <a:lstStyle/>
          <a:p>
            <a:pPr algn="l"/>
            <a:r>
              <a:rPr sz="1250" b="1" i="0">
                <a:solidFill>
                  <a:srgbClr val="2DD4BF"/>
                </a:solidFill>
                <a:latin typeface="Segoe UI"/>
              </a:rPr>
              <a:t>Real users → real APIs</a:t>
            </a:r>
          </a:p>
        </p:txBody>
      </p:sp>
      <p:sp>
        <p:nvSpPr>
          <p:cNvPr id="40" name="TextBox 39"/>
          <p:cNvSpPr txBox="1"/>
          <p:nvPr/>
        </p:nvSpPr>
        <p:spPr>
          <a:xfrm>
            <a:off x="8170468" y="5330952"/>
            <a:ext cx="3015386" cy="640080"/>
          </a:xfrm>
          <a:prstGeom prst="rect">
            <a:avLst/>
          </a:prstGeom>
          <a:noFill/>
        </p:spPr>
        <p:txBody>
          <a:bodyPr wrap="square" anchor="t" lIns="0" rIns="0" tIns="0" bIns="0">
            <a:spAutoFit/>
          </a:bodyPr>
          <a:lstStyle/>
          <a:p>
            <a:pPr algn="l">
              <a:lnSpc>
                <a:spcPct val="115000"/>
              </a:lnSpc>
            </a:pPr>
            <a:r>
              <a:rPr sz="1000" b="0" i="0">
                <a:solidFill>
                  <a:srgbClr val="9FB3C8"/>
                </a:solidFill>
                <a:latin typeface="Segoe UI"/>
              </a:rPr>
              <a:t>OpenAI: text into meaning-points + fast chores  ·  Anthropic: writes the answers  ·  Cohere: re-ranks results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PHASE 1 — BUILD</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Phase 1 — just match the words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Index</a:t>
            </a:r>
          </a:p>
        </p:txBody>
      </p:sp>
      <p:cxnSp>
        <p:nvCxnSpPr>
          <p:cNvPr id="12" name="Connector 11"/>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Question</a:t>
            </a:r>
          </a:p>
        </p:txBody>
      </p:sp>
      <p:sp>
        <p:nvSpPr>
          <p:cNvPr id="14" name="Rounded Rectangle 13"/>
          <p:cNvSpPr/>
          <p:nvPr/>
        </p:nvSpPr>
        <p:spPr>
          <a:xfrm>
            <a:off x="9180576" y="786384"/>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0B1B33"/>
                </a:solidFill>
                <a:latin typeface="Segoe UI"/>
              </a:rPr>
              <a:t>Search</a:t>
            </a:r>
          </a:p>
        </p:txBody>
      </p:sp>
      <p:sp>
        <p:nvSpPr>
          <p:cNvPr id="15" name="Oval 14"/>
          <p:cNvSpPr/>
          <p:nvPr/>
        </p:nvSpPr>
        <p:spPr>
          <a:xfrm>
            <a:off x="9089136" y="694944"/>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9711476" y="1115568"/>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Draft</a:t>
            </a:r>
          </a:p>
        </p:txBody>
      </p:sp>
      <p:sp>
        <p:nvSpPr>
          <p:cNvPr id="18" name="Rounded Rectangle 17"/>
          <p:cNvSpPr/>
          <p:nvPr/>
        </p:nvSpPr>
        <p:spPr>
          <a:xfrm>
            <a:off x="10442448"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Check</a:t>
            </a:r>
          </a:p>
        </p:txBody>
      </p:sp>
      <p:sp>
        <p:nvSpPr>
          <p:cNvPr id="19" name="Rounded Rectangle 18"/>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Reply</a:t>
            </a:r>
          </a:p>
        </p:txBody>
      </p:sp>
      <p:sp>
        <p:nvSpPr>
          <p:cNvPr id="20" name="TextBox 19"/>
          <p:cNvSpPr txBox="1"/>
          <p:nvPr/>
        </p:nvSpPr>
        <p:spPr>
          <a:xfrm>
            <a:off x="1005840" y="2103120"/>
            <a:ext cx="7315200" cy="411480"/>
          </a:xfrm>
          <a:prstGeom prst="rect">
            <a:avLst/>
          </a:prstGeom>
          <a:noFill/>
        </p:spPr>
        <p:txBody>
          <a:bodyPr wrap="square" anchor="t" lIns="0" rIns="0" tIns="0" bIns="0">
            <a:spAutoFit/>
          </a:bodyPr>
          <a:lstStyle/>
          <a:p>
            <a:pPr algn="l"/>
            <a:r>
              <a:rPr sz="1400" b="0" i="1">
                <a:solidFill>
                  <a:srgbClr val="9FB3C8"/>
                </a:solidFill>
                <a:latin typeface="Segoe UI"/>
              </a:rPr>
              <a:t>Search = count the words a passage shares with the question. Most overlap wins.</a:t>
            </a:r>
          </a:p>
        </p:txBody>
      </p:sp>
      <p:sp>
        <p:nvSpPr>
          <p:cNvPr id="21" name="Rounded Rectangle 20"/>
          <p:cNvSpPr/>
          <p:nvPr/>
        </p:nvSpPr>
        <p:spPr>
          <a:xfrm>
            <a:off x="1005840" y="2651760"/>
            <a:ext cx="6766560" cy="548640"/>
          </a:xfrm>
          <a:prstGeom prst="roundRect">
            <a:avLst>
              <a:gd name="adj" fmla="val 30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2651760"/>
            <a:ext cx="6309360" cy="548640"/>
          </a:xfrm>
          <a:prstGeom prst="rect">
            <a:avLst/>
          </a:prstGeom>
          <a:noFill/>
        </p:spPr>
        <p:txBody>
          <a:bodyPr wrap="square" anchor="ctr" lIns="0" rIns="0" tIns="0" bIns="0">
            <a:spAutoFit/>
          </a:bodyPr>
          <a:lstStyle/>
          <a:p>
            <a:pPr algn="l"/>
            <a:r>
              <a:rPr sz="1400" b="1" i="1">
                <a:solidFill>
                  <a:srgbClr val="FFFFFF"/>
                </a:solidFill>
                <a:latin typeface="Segoe UI"/>
              </a:rPr>
              <a:t>“When is the library open?”</a:t>
            </a:r>
          </a:p>
        </p:txBody>
      </p:sp>
      <p:sp>
        <p:nvSpPr>
          <p:cNvPr id="23" name="Rounded Rectangle 22"/>
          <p:cNvSpPr/>
          <p:nvPr/>
        </p:nvSpPr>
        <p:spPr>
          <a:xfrm>
            <a:off x="1005840" y="3474720"/>
            <a:ext cx="6766560" cy="5486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34440" y="3474720"/>
            <a:ext cx="1463040" cy="548640"/>
          </a:xfrm>
          <a:prstGeom prst="rect">
            <a:avLst/>
          </a:prstGeom>
          <a:noFill/>
        </p:spPr>
        <p:txBody>
          <a:bodyPr wrap="square" anchor="ctr" lIns="0" rIns="0" tIns="0" bIns="0">
            <a:spAutoFit/>
          </a:bodyPr>
          <a:lstStyle/>
          <a:p>
            <a:pPr algn="l"/>
            <a:r>
              <a:rPr sz="1250" b="1" i="0">
                <a:solidFill>
                  <a:srgbClr val="FFFFFF"/>
                </a:solidFill>
                <a:latin typeface="Segoe UI"/>
              </a:rPr>
              <a:t>Passage A</a:t>
            </a:r>
          </a:p>
        </p:txBody>
      </p:sp>
      <p:sp>
        <p:nvSpPr>
          <p:cNvPr id="25" name="Rounded Rectangle 24"/>
          <p:cNvSpPr/>
          <p:nvPr/>
        </p:nvSpPr>
        <p:spPr>
          <a:xfrm>
            <a:off x="2743200" y="3648456"/>
            <a:ext cx="2194560" cy="201168"/>
          </a:xfrm>
          <a:prstGeom prst="roundRect">
            <a:avLst>
              <a:gd name="adj" fmla="val 50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0" y="3474720"/>
            <a:ext cx="2560320" cy="548640"/>
          </a:xfrm>
          <a:prstGeom prst="rect">
            <a:avLst/>
          </a:prstGeom>
          <a:noFill/>
        </p:spPr>
        <p:txBody>
          <a:bodyPr wrap="square" anchor="ctr" lIns="0" rIns="0" tIns="0" bIns="0">
            <a:spAutoFit/>
          </a:bodyPr>
          <a:lstStyle/>
          <a:p>
            <a:pPr algn="l"/>
            <a:r>
              <a:rPr sz="1150" b="1" i="0">
                <a:solidFill>
                  <a:srgbClr val="FFFFFF"/>
                </a:solidFill>
                <a:latin typeface="Segoe UI"/>
              </a:rPr>
              <a:t>shares 4 words — top result ✓</a:t>
            </a:r>
          </a:p>
        </p:txBody>
      </p:sp>
      <p:sp>
        <p:nvSpPr>
          <p:cNvPr id="27" name="Rounded Rectangle 26"/>
          <p:cNvSpPr/>
          <p:nvPr/>
        </p:nvSpPr>
        <p:spPr>
          <a:xfrm>
            <a:off x="1005840" y="4160520"/>
            <a:ext cx="6766560" cy="5486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34440" y="4160520"/>
            <a:ext cx="1463040" cy="548640"/>
          </a:xfrm>
          <a:prstGeom prst="rect">
            <a:avLst/>
          </a:prstGeom>
          <a:noFill/>
        </p:spPr>
        <p:txBody>
          <a:bodyPr wrap="square" anchor="ctr" lIns="0" rIns="0" tIns="0" bIns="0">
            <a:spAutoFit/>
          </a:bodyPr>
          <a:lstStyle/>
          <a:p>
            <a:pPr algn="l"/>
            <a:r>
              <a:rPr sz="1250" b="1" i="0">
                <a:solidFill>
                  <a:srgbClr val="FFFFFF"/>
                </a:solidFill>
                <a:latin typeface="Segoe UI"/>
              </a:rPr>
              <a:t>Passage B</a:t>
            </a:r>
          </a:p>
        </p:txBody>
      </p:sp>
      <p:sp>
        <p:nvSpPr>
          <p:cNvPr id="29" name="Rounded Rectangle 28"/>
          <p:cNvSpPr/>
          <p:nvPr/>
        </p:nvSpPr>
        <p:spPr>
          <a:xfrm>
            <a:off x="2743200" y="4334256"/>
            <a:ext cx="1097280" cy="201168"/>
          </a:xfrm>
          <a:prstGeom prst="roundRect">
            <a:avLst>
              <a:gd name="adj" fmla="val 50000"/>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0640" y="4160520"/>
            <a:ext cx="2560320" cy="548640"/>
          </a:xfrm>
          <a:prstGeom prst="rect">
            <a:avLst/>
          </a:prstGeom>
          <a:noFill/>
        </p:spPr>
        <p:txBody>
          <a:bodyPr wrap="square" anchor="ctr" lIns="0" rIns="0" tIns="0" bIns="0">
            <a:spAutoFit/>
          </a:bodyPr>
          <a:lstStyle/>
          <a:p>
            <a:pPr algn="l"/>
            <a:r>
              <a:rPr sz="1150" b="1" i="0">
                <a:solidFill>
                  <a:srgbClr val="9FB3C8"/>
                </a:solidFill>
                <a:latin typeface="Segoe UI"/>
              </a:rPr>
              <a:t>shares 2 words</a:t>
            </a:r>
          </a:p>
        </p:txBody>
      </p:sp>
      <p:sp>
        <p:nvSpPr>
          <p:cNvPr id="31" name="Rounded Rectangle 30"/>
          <p:cNvSpPr/>
          <p:nvPr/>
        </p:nvSpPr>
        <p:spPr>
          <a:xfrm>
            <a:off x="1005840" y="4846320"/>
            <a:ext cx="6766560" cy="5486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34440" y="4846320"/>
            <a:ext cx="1463040" cy="548640"/>
          </a:xfrm>
          <a:prstGeom prst="rect">
            <a:avLst/>
          </a:prstGeom>
          <a:noFill/>
        </p:spPr>
        <p:txBody>
          <a:bodyPr wrap="square" anchor="ctr" lIns="0" rIns="0" tIns="0" bIns="0">
            <a:spAutoFit/>
          </a:bodyPr>
          <a:lstStyle/>
          <a:p>
            <a:pPr algn="l"/>
            <a:r>
              <a:rPr sz="1250" b="1" i="0">
                <a:solidFill>
                  <a:srgbClr val="FFFFFF"/>
                </a:solidFill>
                <a:latin typeface="Segoe UI"/>
              </a:rPr>
              <a:t>Passage C</a:t>
            </a:r>
          </a:p>
        </p:txBody>
      </p:sp>
      <p:sp>
        <p:nvSpPr>
          <p:cNvPr id="33" name="Rounded Rectangle 32"/>
          <p:cNvSpPr/>
          <p:nvPr/>
        </p:nvSpPr>
        <p:spPr>
          <a:xfrm>
            <a:off x="2743200" y="5020056"/>
            <a:ext cx="73152" cy="201168"/>
          </a:xfrm>
          <a:prstGeom prst="roundRect">
            <a:avLst>
              <a:gd name="adj" fmla="val 50000"/>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4846320"/>
            <a:ext cx="2560320" cy="548640"/>
          </a:xfrm>
          <a:prstGeom prst="rect">
            <a:avLst/>
          </a:prstGeom>
          <a:noFill/>
        </p:spPr>
        <p:txBody>
          <a:bodyPr wrap="square" anchor="ctr" lIns="0" rIns="0" tIns="0" bIns="0">
            <a:spAutoFit/>
          </a:bodyPr>
          <a:lstStyle/>
          <a:p>
            <a:pPr algn="l"/>
            <a:r>
              <a:rPr sz="1150" b="1" i="0">
                <a:solidFill>
                  <a:srgbClr val="9FB3C8"/>
                </a:solidFill>
                <a:latin typeface="Segoe UI"/>
              </a:rPr>
              <a:t>shares 0 words</a:t>
            </a:r>
          </a:p>
        </p:txBody>
      </p:sp>
      <p:sp>
        <p:nvSpPr>
          <p:cNvPr id="35" name="TextBox 34"/>
          <p:cNvSpPr txBox="1"/>
          <p:nvPr/>
        </p:nvSpPr>
        <p:spPr>
          <a:xfrm>
            <a:off x="8229600" y="3108960"/>
            <a:ext cx="3337560" cy="2377440"/>
          </a:xfrm>
          <a:prstGeom prst="rect">
            <a:avLst/>
          </a:prstGeom>
          <a:noFill/>
        </p:spPr>
        <p:txBody>
          <a:bodyPr wrap="square" anchor="t" lIns="0" rIns="0" tIns="0" bIns="0">
            <a:spAutoFit/>
          </a:bodyPr>
          <a:lstStyle/>
          <a:p>
            <a:pPr algn="l">
              <a:lnSpc>
                <a:spcPct val="130000"/>
              </a:lnSpc>
            </a:pPr>
            <a:r>
              <a:rPr sz="1350" b="1" i="0">
                <a:solidFill>
                  <a:srgbClr val="2DD4BF"/>
                </a:solidFill>
                <a:latin typeface="Segoe UI"/>
              </a:rPr>
              <a:t>Decades-old search:</a:t>
            </a:r>
          </a:p>
          <a:p>
            <a:pPr algn="l">
              <a:lnSpc>
                <a:spcPct val="135000"/>
              </a:lnSpc>
            </a:pPr>
            <a:r>
              <a:rPr sz="1250" b="0" i="0">
                <a:solidFill>
                  <a:srgbClr val="FFFFFF"/>
                </a:solidFill>
                <a:latin typeface="Segoe UI"/>
              </a:rPr>
              <a:t>fast, simple, no AI needed.</a:t>
            </a:r>
          </a:p>
          <a:p>
            <a:pPr algn="l">
              <a:lnSpc>
                <a:spcPct val="135000"/>
              </a:lnSpc>
            </a:pPr>
            <a:r>
              <a:rPr sz="1250" b="0" i="0">
                <a:solidFill>
                  <a:srgbClr val="FFFFFF"/>
                </a:solidFill>
                <a:latin typeface="Segoe UI"/>
              </a:rPr>
              <a:t>Rare words count extra;</a:t>
            </a:r>
          </a:p>
          <a:p>
            <a:pPr algn="l"/>
            <a:r>
              <a:rPr sz="1250" b="0" i="0">
                <a:solidFill>
                  <a:srgbClr val="FFFFFF"/>
                </a:solidFill>
                <a:latin typeface="Segoe UI"/>
              </a:rPr>
              <a:t>best overlap wins.</a:t>
            </a:r>
          </a:p>
        </p:txBody>
      </p:sp>
      <p:sp>
        <p:nvSpPr>
          <p:cNvPr id="36" name="TextBox 35"/>
          <p:cNvSpPr txBox="1"/>
          <p:nvPr/>
        </p:nvSpPr>
        <p:spPr>
          <a:xfrm>
            <a:off x="1005840" y="5669280"/>
            <a:ext cx="10241280" cy="457200"/>
          </a:xfrm>
          <a:prstGeom prst="rect">
            <a:avLst/>
          </a:prstGeom>
          <a:noFill/>
        </p:spPr>
        <p:txBody>
          <a:bodyPr wrap="square" anchor="t" lIns="0" rIns="0" tIns="0" bIns="0">
            <a:spAutoFit/>
          </a:bodyPr>
          <a:lstStyle/>
          <a:p>
            <a:pPr algn="l"/>
            <a:r>
              <a:rPr sz="1250" b="0" i="1">
                <a:solidFill>
                  <a:srgbClr val="9FB3C8"/>
                </a:solidFill>
                <a:latin typeface="Segoe UI"/>
              </a:rPr>
              <a:t>The winning passages go to the language model to phrase a reply — that's the whole phase-1 bot.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PHASE 1 — IT BREAKS</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Phase 1 breaks: right words, wrong rule</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Index</a:t>
            </a:r>
          </a:p>
        </p:txBody>
      </p:sp>
      <p:cxnSp>
        <p:nvCxnSpPr>
          <p:cNvPr id="12" name="Connector 11"/>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Question</a:t>
            </a:r>
          </a:p>
        </p:txBody>
      </p:sp>
      <p:sp>
        <p:nvSpPr>
          <p:cNvPr id="14" name="Rounded Rectangle 13"/>
          <p:cNvSpPr/>
          <p:nvPr/>
        </p:nvSpPr>
        <p:spPr>
          <a:xfrm>
            <a:off x="9180576" y="786384"/>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0B1B33"/>
                </a:solidFill>
                <a:latin typeface="Segoe UI"/>
              </a:rPr>
              <a:t>Search</a:t>
            </a:r>
          </a:p>
        </p:txBody>
      </p:sp>
      <p:sp>
        <p:nvSpPr>
          <p:cNvPr id="15" name="Oval 14"/>
          <p:cNvSpPr/>
          <p:nvPr/>
        </p:nvSpPr>
        <p:spPr>
          <a:xfrm>
            <a:off x="9089136" y="694944"/>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9711476" y="1115568"/>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Draft</a:t>
            </a:r>
          </a:p>
        </p:txBody>
      </p:sp>
      <p:sp>
        <p:nvSpPr>
          <p:cNvPr id="18" name="Rounded Rectangle 17"/>
          <p:cNvSpPr/>
          <p:nvPr/>
        </p:nvSpPr>
        <p:spPr>
          <a:xfrm>
            <a:off x="10442448"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Check</a:t>
            </a:r>
          </a:p>
        </p:txBody>
      </p:sp>
      <p:sp>
        <p:nvSpPr>
          <p:cNvPr id="19" name="Rounded Rectangle 18"/>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Reply</a:t>
            </a:r>
          </a:p>
        </p:txBody>
      </p:sp>
      <p:sp>
        <p:nvSpPr>
          <p:cNvPr id="20" name="Rounded Rectangle 19"/>
          <p:cNvSpPr/>
          <p:nvPr/>
        </p:nvSpPr>
        <p:spPr>
          <a:xfrm>
            <a:off x="1005840" y="1810512"/>
            <a:ext cx="3017520" cy="50292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1810512"/>
            <a:ext cx="2743200" cy="502920"/>
          </a:xfrm>
          <a:prstGeom prst="rect">
            <a:avLst/>
          </a:prstGeom>
          <a:noFill/>
        </p:spPr>
        <p:txBody>
          <a:bodyPr wrap="square" anchor="ctr" lIns="0" rIns="0" tIns="0" bIns="0">
            <a:spAutoFit/>
          </a:bodyPr>
          <a:lstStyle/>
          <a:p>
            <a:pPr algn="l"/>
            <a:r>
              <a:rPr sz="1150" b="1" i="1">
                <a:solidFill>
                  <a:srgbClr val="E06C6C"/>
                </a:solidFill>
                <a:latin typeface="Segoe UI"/>
              </a:rPr>
              <a:t>✗ high score, wrong rule</a:t>
            </a:r>
          </a:p>
        </p:txBody>
      </p:sp>
      <p:sp>
        <p:nvSpPr>
          <p:cNvPr id="22" name="Rounded Rectangle 21"/>
          <p:cNvSpPr/>
          <p:nvPr/>
        </p:nvSpPr>
        <p:spPr>
          <a:xfrm>
            <a:off x="1005840" y="2487168"/>
            <a:ext cx="10149840" cy="640080"/>
          </a:xfrm>
          <a:prstGeom prst="roundRect">
            <a:avLst>
              <a:gd name="adj" fmla="val 30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0160" y="2487168"/>
            <a:ext cx="9601200" cy="640080"/>
          </a:xfrm>
          <a:prstGeom prst="rect">
            <a:avLst/>
          </a:prstGeom>
          <a:noFill/>
        </p:spPr>
        <p:txBody>
          <a:bodyPr wrap="square" anchor="ctr" lIns="0" rIns="0" tIns="0" bIns="0">
            <a:spAutoFit/>
          </a:bodyPr>
          <a:lstStyle/>
          <a:p>
            <a:pPr algn="l"/>
            <a:r>
              <a:rPr sz="1500" b="1" i="1">
                <a:solidFill>
                  <a:srgbClr val="FFFFFF"/>
                </a:solidFill>
                <a:latin typeface="Segoe UI"/>
              </a:rPr>
              <a:t>Student asks: “Can I access the library 24/7?”</a:t>
            </a:r>
          </a:p>
        </p:txBody>
      </p:sp>
      <p:sp>
        <p:nvSpPr>
          <p:cNvPr id="24" name="Rounded Rectangle 23"/>
          <p:cNvSpPr/>
          <p:nvPr/>
        </p:nvSpPr>
        <p:spPr>
          <a:xfrm>
            <a:off x="1463040" y="3429000"/>
            <a:ext cx="4572000" cy="214884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737360" y="3611880"/>
            <a:ext cx="4023360" cy="365760"/>
          </a:xfrm>
          <a:prstGeom prst="rect">
            <a:avLst/>
          </a:prstGeom>
          <a:noFill/>
        </p:spPr>
        <p:txBody>
          <a:bodyPr wrap="square" anchor="t" lIns="0" rIns="0" tIns="0" bIns="0">
            <a:spAutoFit/>
          </a:bodyPr>
          <a:lstStyle/>
          <a:p>
            <a:pPr algn="l"/>
            <a:r>
              <a:rPr sz="1300" b="1" i="0">
                <a:solidFill>
                  <a:srgbClr val="E06C6C"/>
                </a:solidFill>
                <a:latin typeface="Segoe UI"/>
              </a:rPr>
              <a:t>Exam Period Appendix</a:t>
            </a:r>
          </a:p>
        </p:txBody>
      </p:sp>
      <p:sp>
        <p:nvSpPr>
          <p:cNvPr id="26" name="TextBox 25"/>
          <p:cNvSpPr txBox="1"/>
          <p:nvPr/>
        </p:nvSpPr>
        <p:spPr>
          <a:xfrm>
            <a:off x="1737360" y="4023360"/>
            <a:ext cx="4023360" cy="822960"/>
          </a:xfrm>
          <a:prstGeom prst="rect">
            <a:avLst/>
          </a:prstGeom>
          <a:noFill/>
        </p:spPr>
        <p:txBody>
          <a:bodyPr wrap="square" anchor="t" lIns="0" rIns="0" tIns="0" bIns="0">
            <a:spAutoFit/>
          </a:bodyPr>
          <a:lstStyle/>
          <a:p>
            <a:pPr algn="l">
              <a:lnSpc>
                <a:spcPct val="120000"/>
              </a:lnSpc>
            </a:pPr>
            <a:r>
              <a:rPr sz="1250" b="0" i="1">
                <a:solidFill>
                  <a:srgbClr val="FFFFFF"/>
                </a:solidFill>
                <a:latin typeface="Segoe UI"/>
              </a:rPr>
              <a:t>“library access is 24/7 during exam period”</a:t>
            </a:r>
          </a:p>
        </p:txBody>
      </p:sp>
      <p:sp>
        <p:nvSpPr>
          <p:cNvPr id="27" name="TextBox 26"/>
          <p:cNvSpPr txBox="1"/>
          <p:nvPr/>
        </p:nvSpPr>
        <p:spPr>
          <a:xfrm>
            <a:off x="1737360" y="4892040"/>
            <a:ext cx="4023360" cy="457200"/>
          </a:xfrm>
          <a:prstGeom prst="rect">
            <a:avLst/>
          </a:prstGeom>
          <a:noFill/>
        </p:spPr>
        <p:txBody>
          <a:bodyPr wrap="square" anchor="t" lIns="0" rIns="0" tIns="0" bIns="0">
            <a:spAutoFit/>
          </a:bodyPr>
          <a:lstStyle/>
          <a:p>
            <a:pPr algn="l"/>
            <a:r>
              <a:rPr sz="1150" b="1" i="0">
                <a:solidFill>
                  <a:srgbClr val="E06C6C"/>
                </a:solidFill>
                <a:latin typeface="Segoe UI"/>
              </a:rPr>
              <a:t>shares 3 words → top result ✗</a:t>
            </a:r>
          </a:p>
        </p:txBody>
      </p:sp>
      <p:sp>
        <p:nvSpPr>
          <p:cNvPr id="28" name="Rounded Rectangle 27"/>
          <p:cNvSpPr/>
          <p:nvPr/>
        </p:nvSpPr>
        <p:spPr>
          <a:xfrm>
            <a:off x="6309360" y="3429000"/>
            <a:ext cx="4572000" cy="21488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0" y="3611880"/>
            <a:ext cx="4023360" cy="365760"/>
          </a:xfrm>
          <a:prstGeom prst="rect">
            <a:avLst/>
          </a:prstGeom>
          <a:noFill/>
        </p:spPr>
        <p:txBody>
          <a:bodyPr wrap="square" anchor="t" lIns="0" rIns="0" tIns="0" bIns="0">
            <a:spAutoFit/>
          </a:bodyPr>
          <a:lstStyle/>
          <a:p>
            <a:pPr algn="l"/>
            <a:r>
              <a:rPr sz="1300" b="1" i="0">
                <a:solidFill>
                  <a:srgbClr val="2DD4BF"/>
                </a:solidFill>
                <a:latin typeface="Segoe UI"/>
              </a:rPr>
              <a:t>General Library Hours</a:t>
            </a:r>
          </a:p>
        </p:txBody>
      </p:sp>
      <p:sp>
        <p:nvSpPr>
          <p:cNvPr id="30" name="TextBox 29"/>
          <p:cNvSpPr txBox="1"/>
          <p:nvPr/>
        </p:nvSpPr>
        <p:spPr>
          <a:xfrm>
            <a:off x="6583680" y="4023360"/>
            <a:ext cx="4023360" cy="822960"/>
          </a:xfrm>
          <a:prstGeom prst="rect">
            <a:avLst/>
          </a:prstGeom>
          <a:noFill/>
        </p:spPr>
        <p:txBody>
          <a:bodyPr wrap="square" anchor="t" lIns="0" rIns="0" tIns="0" bIns="0">
            <a:spAutoFit/>
          </a:bodyPr>
          <a:lstStyle/>
          <a:p>
            <a:pPr algn="l">
              <a:lnSpc>
                <a:spcPct val="120000"/>
              </a:lnSpc>
            </a:pPr>
            <a:r>
              <a:rPr sz="1250" b="0" i="0">
                <a:solidFill>
                  <a:srgbClr val="FFFFFF"/>
                </a:solidFill>
                <a:latin typeface="Segoe UI"/>
              </a:rPr>
              <a:t>“open 8am–10pm, term time” — the rule that</a:t>
            </a:r>
          </a:p>
          <a:p>
            <a:pPr algn="l"/>
            <a:r>
              <a:rPr sz="1250" b="0" i="0">
                <a:solidFill>
                  <a:srgbClr val="FFFFFF"/>
                </a:solidFill>
                <a:latin typeface="Segoe UI"/>
              </a:rPr>
              <a:t>actually governs an ordinary week</a:t>
            </a:r>
          </a:p>
        </p:txBody>
      </p:sp>
      <p:sp>
        <p:nvSpPr>
          <p:cNvPr id="31" name="TextBox 30"/>
          <p:cNvSpPr txBox="1"/>
          <p:nvPr/>
        </p:nvSpPr>
        <p:spPr>
          <a:xfrm>
            <a:off x="6583680" y="4892040"/>
            <a:ext cx="4023360" cy="457200"/>
          </a:xfrm>
          <a:prstGeom prst="rect">
            <a:avLst/>
          </a:prstGeom>
          <a:noFill/>
        </p:spPr>
        <p:txBody>
          <a:bodyPr wrap="square" anchor="t" lIns="0" rIns="0" tIns="0" bIns="0">
            <a:spAutoFit/>
          </a:bodyPr>
          <a:lstStyle/>
          <a:p>
            <a:pPr algn="l"/>
            <a:r>
              <a:rPr sz="1150" b="1" i="0">
                <a:solidFill>
                  <a:srgbClr val="9FB3C8"/>
                </a:solidFill>
                <a:latin typeface="Segoe UI"/>
              </a:rPr>
              <a:t>shares 1 word → ranked low</a:t>
            </a:r>
          </a:p>
        </p:txBody>
      </p:sp>
      <p:sp>
        <p:nvSpPr>
          <p:cNvPr id="32" name="TextBox 31"/>
          <p:cNvSpPr txBox="1"/>
          <p:nvPr/>
        </p:nvSpPr>
        <p:spPr>
          <a:xfrm>
            <a:off x="1463040" y="5760720"/>
            <a:ext cx="9418320" cy="457200"/>
          </a:xfrm>
          <a:prstGeom prst="rect">
            <a:avLst/>
          </a:prstGeom>
          <a:noFill/>
        </p:spPr>
        <p:txBody>
          <a:bodyPr wrap="square" anchor="t" lIns="0" rIns="0" tIns="0" bIns="0">
            <a:spAutoFit/>
          </a:bodyPr>
          <a:lstStyle/>
          <a:p>
            <a:pPr algn="l"/>
            <a:r>
              <a:rPr sz="1300" b="0" i="0">
                <a:solidFill>
                  <a:srgbClr val="FFFFFF"/>
                </a:solidFill>
                <a:latin typeface="Segoe UI"/>
              </a:rPr>
              <a:t>Every word came from a real document — and the answer is still wrong. Phase 1 is dead.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PHASE 2 — THE FIX</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Phase 2 — search by meaning</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0B1B33"/>
                </a:solidFill>
                <a:latin typeface="Segoe UI"/>
              </a:rPr>
              <a:t>Index</a:t>
            </a:r>
          </a:p>
        </p:txBody>
      </p:sp>
      <p:sp>
        <p:nvSpPr>
          <p:cNvPr id="12" name="Oval 11"/>
          <p:cNvSpPr/>
          <p:nvPr/>
        </p:nvSpPr>
        <p:spPr>
          <a:xfrm>
            <a:off x="9089136" y="292607"/>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711476" y="713231"/>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Question</a:t>
            </a:r>
          </a:p>
        </p:txBody>
      </p:sp>
      <p:sp>
        <p:nvSpPr>
          <p:cNvPr id="16" name="Rounded Rectangle 15"/>
          <p:cNvSpPr/>
          <p:nvPr/>
        </p:nvSpPr>
        <p:spPr>
          <a:xfrm>
            <a:off x="9180576" y="786384"/>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0B1B33"/>
                </a:solidFill>
                <a:latin typeface="Segoe UI"/>
              </a:rPr>
              <a:t>Search</a:t>
            </a:r>
          </a:p>
        </p:txBody>
      </p:sp>
      <p:sp>
        <p:nvSpPr>
          <p:cNvPr id="17" name="Oval 16"/>
          <p:cNvSpPr/>
          <p:nvPr/>
        </p:nvSpPr>
        <p:spPr>
          <a:xfrm>
            <a:off x="9089136" y="694944"/>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711476" y="1115568"/>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Draft</a:t>
            </a:r>
          </a:p>
        </p:txBody>
      </p:sp>
      <p:sp>
        <p:nvSpPr>
          <p:cNvPr id="20" name="Rounded Rectangle 19"/>
          <p:cNvSpPr/>
          <p:nvPr/>
        </p:nvSpPr>
        <p:spPr>
          <a:xfrm>
            <a:off x="10442448"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Check</a:t>
            </a:r>
          </a:p>
        </p:txBody>
      </p:sp>
      <p:sp>
        <p:nvSpPr>
          <p:cNvPr id="21" name="Rounded Rectangle 20"/>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Reply</a:t>
            </a:r>
          </a:p>
        </p:txBody>
      </p:sp>
      <p:sp>
        <p:nvSpPr>
          <p:cNvPr id="22" name="TextBox 21"/>
          <p:cNvSpPr txBox="1"/>
          <p:nvPr/>
        </p:nvSpPr>
        <p:spPr>
          <a:xfrm>
            <a:off x="1005840" y="2148840"/>
            <a:ext cx="5943600" cy="457200"/>
          </a:xfrm>
          <a:prstGeom prst="rect">
            <a:avLst/>
          </a:prstGeom>
          <a:noFill/>
        </p:spPr>
        <p:txBody>
          <a:bodyPr wrap="square" anchor="t" lIns="0" rIns="0" tIns="0" bIns="0">
            <a:spAutoFit/>
          </a:bodyPr>
          <a:lstStyle/>
          <a:p>
            <a:pPr algn="l"/>
            <a:r>
              <a:rPr sz="1500" b="0" i="1">
                <a:solidFill>
                  <a:srgbClr val="9FB3C8"/>
                </a:solidFill>
                <a:latin typeface="Segoe UI"/>
              </a:rPr>
              <a:t>Text → a point in "meaning space"</a:t>
            </a:r>
          </a:p>
        </p:txBody>
      </p:sp>
      <p:sp>
        <p:nvSpPr>
          <p:cNvPr id="23" name="Rounded Rectangle 22"/>
          <p:cNvSpPr/>
          <p:nvPr/>
        </p:nvSpPr>
        <p:spPr>
          <a:xfrm>
            <a:off x="1005840" y="2697480"/>
            <a:ext cx="6035040" cy="301752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304288" y="331012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737360" y="3621024"/>
            <a:ext cx="1463040" cy="320040"/>
          </a:xfrm>
          <a:prstGeom prst="rect">
            <a:avLst/>
          </a:prstGeom>
          <a:noFill/>
        </p:spPr>
        <p:txBody>
          <a:bodyPr wrap="square" anchor="t" lIns="0" rIns="0" tIns="0" bIns="0">
            <a:spAutoFit/>
          </a:bodyPr>
          <a:lstStyle/>
          <a:p>
            <a:pPr algn="ctr"/>
            <a:r>
              <a:rPr sz="1250" b="1" i="0">
                <a:solidFill>
                  <a:srgbClr val="FFFFFF"/>
                </a:solidFill>
                <a:latin typeface="Segoe UI"/>
              </a:rPr>
              <a:t>queen</a:t>
            </a:r>
          </a:p>
        </p:txBody>
      </p:sp>
      <p:sp>
        <p:nvSpPr>
          <p:cNvPr id="26" name="Oval 25"/>
          <p:cNvSpPr/>
          <p:nvPr/>
        </p:nvSpPr>
        <p:spPr>
          <a:xfrm>
            <a:off x="3127248" y="468172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60320" y="4992624"/>
            <a:ext cx="1463040" cy="320040"/>
          </a:xfrm>
          <a:prstGeom prst="rect">
            <a:avLst/>
          </a:prstGeom>
          <a:noFill/>
        </p:spPr>
        <p:txBody>
          <a:bodyPr wrap="square" anchor="t" lIns="0" rIns="0" tIns="0" bIns="0">
            <a:spAutoFit/>
          </a:bodyPr>
          <a:lstStyle/>
          <a:p>
            <a:pPr algn="ctr"/>
            <a:r>
              <a:rPr sz="1250" b="1" i="0">
                <a:solidFill>
                  <a:srgbClr val="FFFFFF"/>
                </a:solidFill>
                <a:latin typeface="Segoe UI"/>
              </a:rPr>
              <a:t>female</a:t>
            </a:r>
          </a:p>
        </p:txBody>
      </p:sp>
      <p:sp>
        <p:nvSpPr>
          <p:cNvPr id="28" name="Oval 27"/>
          <p:cNvSpPr/>
          <p:nvPr/>
        </p:nvSpPr>
        <p:spPr>
          <a:xfrm>
            <a:off x="5321808" y="317296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4880" y="3483863"/>
            <a:ext cx="1463040" cy="320040"/>
          </a:xfrm>
          <a:prstGeom prst="rect">
            <a:avLst/>
          </a:prstGeom>
          <a:noFill/>
        </p:spPr>
        <p:txBody>
          <a:bodyPr wrap="square" anchor="t" lIns="0" rIns="0" tIns="0" bIns="0">
            <a:spAutoFit/>
          </a:bodyPr>
          <a:lstStyle/>
          <a:p>
            <a:pPr algn="ctr"/>
            <a:r>
              <a:rPr sz="1250" b="1" i="0">
                <a:solidFill>
                  <a:srgbClr val="FFFFFF"/>
                </a:solidFill>
                <a:latin typeface="Segoe UI"/>
              </a:rPr>
              <a:t>king</a:t>
            </a:r>
          </a:p>
        </p:txBody>
      </p:sp>
      <p:sp>
        <p:nvSpPr>
          <p:cNvPr id="30" name="Oval 29"/>
          <p:cNvSpPr/>
          <p:nvPr/>
        </p:nvSpPr>
        <p:spPr>
          <a:xfrm>
            <a:off x="6053328" y="445312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0" y="4764024"/>
            <a:ext cx="1463040" cy="320040"/>
          </a:xfrm>
          <a:prstGeom prst="rect">
            <a:avLst/>
          </a:prstGeom>
          <a:noFill/>
        </p:spPr>
        <p:txBody>
          <a:bodyPr wrap="square" anchor="t" lIns="0" rIns="0" tIns="0" bIns="0">
            <a:spAutoFit/>
          </a:bodyPr>
          <a:lstStyle/>
          <a:p>
            <a:pPr algn="ctr"/>
            <a:r>
              <a:rPr sz="1250" b="1" i="0">
                <a:solidFill>
                  <a:srgbClr val="FFFFFF"/>
                </a:solidFill>
                <a:latin typeface="Segoe UI"/>
              </a:rPr>
              <a:t>male</a:t>
            </a:r>
          </a:p>
        </p:txBody>
      </p:sp>
      <p:cxnSp>
        <p:nvCxnSpPr>
          <p:cNvPr id="32" name="Connector 31"/>
          <p:cNvCxnSpPr/>
          <p:nvPr/>
        </p:nvCxnSpPr>
        <p:spPr>
          <a:xfrm>
            <a:off x="2377440" y="3383280"/>
            <a:ext cx="822960" cy="1371600"/>
          </a:xfrm>
          <a:prstGeom prst="line">
            <a:avLst/>
          </a:prstGeom>
          <a:ln w="28575">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5394960" y="3246120"/>
            <a:ext cx="731520" cy="1280160"/>
          </a:xfrm>
          <a:prstGeom prst="line">
            <a:avLst/>
          </a:prstGeom>
          <a:ln w="28575">
            <a:solidFill>
              <a:srgbClr val="9FB3C8"/>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360920" y="2743200"/>
            <a:ext cx="4160520" cy="3017520"/>
          </a:xfrm>
          <a:prstGeom prst="rect">
            <a:avLst/>
          </a:prstGeom>
          <a:noFill/>
        </p:spPr>
        <p:txBody>
          <a:bodyPr wrap="square" anchor="t" lIns="0" rIns="0" tIns="0" bIns="0">
            <a:spAutoFit/>
          </a:bodyPr>
          <a:lstStyle/>
          <a:p>
            <a:pPr algn="l">
              <a:lnSpc>
                <a:spcPct val="135000"/>
              </a:lnSpc>
            </a:pPr>
            <a:r>
              <a:rPr sz="2000" b="1" i="0">
                <a:solidFill>
                  <a:srgbClr val="FFFFFF"/>
                </a:solidFill>
                <a:latin typeface="Segoe UI"/>
              </a:rPr>
              <a:t>queen − female + male ≈ king</a:t>
            </a:r>
          </a:p>
          <a:p>
            <a:pPr algn="l">
              <a:lnSpc>
                <a:spcPct val="140000"/>
              </a:lnSpc>
            </a:pPr>
            <a:r>
              <a:rPr sz="1350" b="0" i="0">
                <a:solidFill>
                  <a:srgbClr val="9FB3C8"/>
                </a:solidFill>
                <a:latin typeface="Segoe UI"/>
              </a:rPr>
              <a:t>Similar meaning → nearby points,</a:t>
            </a:r>
          </a:p>
          <a:p>
            <a:pPr algn="l">
              <a:lnSpc>
                <a:spcPct val="135000"/>
              </a:lnSpc>
            </a:pPr>
            <a:r>
              <a:rPr sz="1350" b="0" i="0">
                <a:solidFill>
                  <a:srgbClr val="9FB3C8"/>
                </a:solidFill>
                <a:latin typeface="Segoe UI"/>
              </a:rPr>
              <a:t>even with zero shared words.</a:t>
            </a:r>
          </a:p>
          <a:p>
            <a:pPr algn="l">
              <a:lnSpc>
                <a:spcPct val="140000"/>
              </a:lnSpc>
            </a:pPr>
            <a:r>
              <a:rPr sz="1350" b="0" i="0">
                <a:solidFill>
                  <a:srgbClr val="9FB3C8"/>
                </a:solidFill>
                <a:latin typeface="Segoe UI"/>
              </a:rPr>
              <a:t>Every passage becomes a point;</a:t>
            </a:r>
          </a:p>
          <a:p>
            <a:pPr algn="l">
              <a:lnSpc>
                <a:spcPct val="135000"/>
              </a:lnSpc>
            </a:pPr>
            <a:r>
              <a:rPr sz="1350" b="0" i="0">
                <a:solidFill>
                  <a:srgbClr val="9FB3C8"/>
                </a:solidFill>
                <a:latin typeface="Segoe UI"/>
              </a:rPr>
              <a:t>the question becomes a point;</a:t>
            </a:r>
          </a:p>
          <a:p>
            <a:pPr algn="l">
              <a:lnSpc>
                <a:spcPct val="150000"/>
              </a:lnSpc>
            </a:pPr>
            <a:r>
              <a:rPr sz="1350" b="0" i="0">
                <a:solidFill>
                  <a:srgbClr val="9FB3C8"/>
                </a:solidFill>
                <a:latin typeface="Segoe UI"/>
              </a:rPr>
              <a:t>search = find the nearby points.</a:t>
            </a:r>
          </a:p>
          <a:p>
            <a:pPr algn="l"/>
            <a:r>
              <a:rPr sz="1300" b="0" i="1">
                <a:solidFill>
                  <a:srgbClr val="F5B342"/>
                </a:solidFill>
                <a:latin typeface="Segoe UI"/>
              </a:rPr>
              <a:t>That's half the fix.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PHASE 2 — THE FIX</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Phase 2 — say when each rule applies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0B1B33"/>
                </a:solidFill>
                <a:latin typeface="Segoe UI"/>
              </a:rPr>
              <a:t>Index</a:t>
            </a:r>
          </a:p>
        </p:txBody>
      </p:sp>
      <p:sp>
        <p:nvSpPr>
          <p:cNvPr id="12" name="Oval 11"/>
          <p:cNvSpPr/>
          <p:nvPr/>
        </p:nvSpPr>
        <p:spPr>
          <a:xfrm>
            <a:off x="9089136" y="292607"/>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711476" y="713231"/>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Question</a:t>
            </a:r>
          </a:p>
        </p:txBody>
      </p:sp>
      <p:sp>
        <p:nvSpPr>
          <p:cNvPr id="16" name="Rounded Rectangle 15"/>
          <p:cNvSpPr/>
          <p:nvPr/>
        </p:nvSpPr>
        <p:spPr>
          <a:xfrm>
            <a:off x="9180576"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Search</a:t>
            </a:r>
          </a:p>
        </p:txBody>
      </p:sp>
      <p:sp>
        <p:nvSpPr>
          <p:cNvPr id="17" name="Rounded Rectangle 16"/>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Draft</a:t>
            </a:r>
          </a:p>
        </p:txBody>
      </p:sp>
      <p:sp>
        <p:nvSpPr>
          <p:cNvPr id="18" name="Rounded Rectangle 17"/>
          <p:cNvSpPr/>
          <p:nvPr/>
        </p:nvSpPr>
        <p:spPr>
          <a:xfrm>
            <a:off x="10442448"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Check</a:t>
            </a:r>
          </a:p>
        </p:txBody>
      </p:sp>
      <p:sp>
        <p:nvSpPr>
          <p:cNvPr id="19" name="Rounded Rectangle 18"/>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Reply</a:t>
            </a:r>
          </a:p>
        </p:txBody>
      </p:sp>
      <p:sp>
        <p:nvSpPr>
          <p:cNvPr id="20" name="TextBox 19"/>
          <p:cNvSpPr txBox="1"/>
          <p:nvPr/>
        </p:nvSpPr>
        <p:spPr>
          <a:xfrm>
            <a:off x="1005840" y="2103120"/>
            <a:ext cx="10058400" cy="411480"/>
          </a:xfrm>
          <a:prstGeom prst="rect">
            <a:avLst/>
          </a:prstGeom>
          <a:noFill/>
        </p:spPr>
        <p:txBody>
          <a:bodyPr wrap="square" anchor="t" lIns="0" rIns="0" tIns="0" bIns="0">
            <a:spAutoFit/>
          </a:bodyPr>
          <a:lstStyle/>
          <a:p>
            <a:pPr algn="l"/>
            <a:r>
              <a:rPr sz="1350" b="0" i="1">
                <a:solidFill>
                  <a:srgbClr val="9FB3C8"/>
                </a:solidFill>
                <a:latin typeface="Segoe UI"/>
              </a:rPr>
              <a:t>Meaning search still finds the exam-period passage — it IS about library access. So store every rule with its scope.</a:t>
            </a:r>
          </a:p>
        </p:txBody>
      </p:sp>
      <p:sp>
        <p:nvSpPr>
          <p:cNvPr id="21" name="Rounded Rectangle 20"/>
          <p:cNvSpPr/>
          <p:nvPr/>
        </p:nvSpPr>
        <p:spPr>
          <a:xfrm>
            <a:off x="1005840" y="2743200"/>
            <a:ext cx="1783080" cy="384048"/>
          </a:xfrm>
          <a:prstGeom prst="roundRect">
            <a:avLst>
              <a:gd name="adj" fmla="val 50000"/>
            </a:avLst>
          </a:prstGeom>
          <a:solidFill>
            <a:srgbClr val="F5B342"/>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a:solidFill>
                  <a:srgbClr val="0B1B33"/>
                </a:solidFill>
                <a:latin typeface="Segoe UI"/>
              </a:rPr>
              <a:t>EXAM PERIOD ONLY</a:t>
            </a:r>
          </a:p>
        </p:txBody>
      </p:sp>
      <p:sp>
        <p:nvSpPr>
          <p:cNvPr id="22" name="Rounded Rectangle 21"/>
          <p:cNvSpPr/>
          <p:nvPr/>
        </p:nvSpPr>
        <p:spPr>
          <a:xfrm>
            <a:off x="1005840" y="3127248"/>
            <a:ext cx="512064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127248"/>
            <a:ext cx="4663440" cy="868680"/>
          </a:xfrm>
          <a:prstGeom prst="rect">
            <a:avLst/>
          </a:prstGeom>
          <a:noFill/>
        </p:spPr>
        <p:txBody>
          <a:bodyPr wrap="square" anchor="ctr" lIns="0" rIns="0" tIns="0" bIns="0">
            <a:spAutoFit/>
          </a:bodyPr>
          <a:lstStyle/>
          <a:p>
            <a:pPr algn="l"/>
            <a:r>
              <a:rPr sz="1250" b="0" i="1">
                <a:solidFill>
                  <a:srgbClr val="FFFFFF"/>
                </a:solidFill>
                <a:latin typeface="Segoe UI"/>
              </a:rPr>
              <a:t>“library access is 24/7 during exam period”</a:t>
            </a:r>
          </a:p>
        </p:txBody>
      </p:sp>
      <p:sp>
        <p:nvSpPr>
          <p:cNvPr id="24" name="Rounded Rectangle 23"/>
          <p:cNvSpPr/>
          <p:nvPr/>
        </p:nvSpPr>
        <p:spPr>
          <a:xfrm>
            <a:off x="1005840" y="4343400"/>
            <a:ext cx="1280160" cy="384048"/>
          </a:xfrm>
          <a:prstGeom prst="roundRect">
            <a:avLst>
              <a:gd name="adj" fmla="val 50000"/>
            </a:avLst>
          </a:prstGeom>
          <a:solidFill>
            <a:srgbClr val="F5B342"/>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a:solidFill>
                  <a:srgbClr val="0B1B33"/>
                </a:solidFill>
                <a:latin typeface="Segoe UI"/>
              </a:rPr>
              <a:t>TERM TIME</a:t>
            </a:r>
          </a:p>
        </p:txBody>
      </p:sp>
      <p:sp>
        <p:nvSpPr>
          <p:cNvPr id="25" name="Rounded Rectangle 24"/>
          <p:cNvSpPr/>
          <p:nvPr/>
        </p:nvSpPr>
        <p:spPr>
          <a:xfrm>
            <a:off x="1005840" y="4727448"/>
            <a:ext cx="5120640" cy="86868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727448"/>
            <a:ext cx="4663440" cy="868680"/>
          </a:xfrm>
          <a:prstGeom prst="rect">
            <a:avLst/>
          </a:prstGeom>
          <a:noFill/>
        </p:spPr>
        <p:txBody>
          <a:bodyPr wrap="square" anchor="ctr" lIns="0" rIns="0" tIns="0" bIns="0">
            <a:spAutoFit/>
          </a:bodyPr>
          <a:lstStyle/>
          <a:p>
            <a:pPr algn="l"/>
            <a:r>
              <a:rPr sz="1250" b="0" i="1">
                <a:solidFill>
                  <a:srgbClr val="FFFFFF"/>
                </a:solidFill>
                <a:latin typeface="Segoe UI"/>
              </a:rPr>
              <a:t>“open 8am–10pm, term time”</a:t>
            </a:r>
          </a:p>
        </p:txBody>
      </p:sp>
      <p:sp>
        <p:nvSpPr>
          <p:cNvPr id="27" name="Right Arrow 26"/>
          <p:cNvSpPr/>
          <p:nvPr/>
        </p:nvSpPr>
        <p:spPr>
          <a:xfrm>
            <a:off x="6400800" y="4023359"/>
            <a:ext cx="822960" cy="274320"/>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06640" y="3291840"/>
            <a:ext cx="4160520" cy="178308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35240" y="3474720"/>
            <a:ext cx="3703320" cy="365760"/>
          </a:xfrm>
          <a:prstGeom prst="rect">
            <a:avLst/>
          </a:prstGeom>
          <a:noFill/>
        </p:spPr>
        <p:txBody>
          <a:bodyPr wrap="square" anchor="t" lIns="0" rIns="0" tIns="0" bIns="0">
            <a:spAutoFit/>
          </a:bodyPr>
          <a:lstStyle/>
          <a:p>
            <a:pPr algn="l"/>
            <a:r>
              <a:rPr sz="1300" b="1" i="0">
                <a:solidFill>
                  <a:srgbClr val="2DD4BF"/>
                </a:solidFill>
                <a:latin typeface="Segoe UI"/>
              </a:rPr>
              <a:t>MetMate now answers:</a:t>
            </a:r>
          </a:p>
        </p:txBody>
      </p:sp>
      <p:sp>
        <p:nvSpPr>
          <p:cNvPr id="30" name="TextBox 29"/>
          <p:cNvSpPr txBox="1"/>
          <p:nvPr/>
        </p:nvSpPr>
        <p:spPr>
          <a:xfrm>
            <a:off x="7635240" y="3886200"/>
            <a:ext cx="3703320" cy="1097280"/>
          </a:xfrm>
          <a:prstGeom prst="rect">
            <a:avLst/>
          </a:prstGeom>
          <a:noFill/>
        </p:spPr>
        <p:txBody>
          <a:bodyPr wrap="square" anchor="t" lIns="0" rIns="0" tIns="0" bIns="0">
            <a:spAutoFit/>
          </a:bodyPr>
          <a:lstStyle/>
          <a:p>
            <a:pPr algn="l">
              <a:lnSpc>
                <a:spcPct val="130000"/>
              </a:lnSpc>
            </a:pPr>
            <a:r>
              <a:rPr sz="1350" b="0" i="0">
                <a:solidFill>
                  <a:srgbClr val="FFFFFF"/>
                </a:solidFill>
                <a:latin typeface="Segoe UI"/>
              </a:rPr>
              <a:t>“8am–10pm in term time;</a:t>
            </a:r>
          </a:p>
          <a:p>
            <a:pPr algn="l"/>
            <a:r>
              <a:rPr sz="1350" b="0" i="0">
                <a:solidFill>
                  <a:srgbClr val="FFFFFF"/>
                </a:solidFill>
                <a:latin typeface="Segoe UI"/>
              </a:rPr>
              <a:t>24/7 only during exam period.” ✓</a:t>
            </a:r>
          </a:p>
        </p:txBody>
      </p:sp>
      <p:sp>
        <p:nvSpPr>
          <p:cNvPr id="31" name="TextBox 30"/>
          <p:cNvSpPr txBox="1"/>
          <p:nvPr/>
        </p:nvSpPr>
        <p:spPr>
          <a:xfrm>
            <a:off x="1005840" y="5715000"/>
            <a:ext cx="10424160" cy="457200"/>
          </a:xfrm>
          <a:prstGeom prst="rect">
            <a:avLst/>
          </a:prstGeom>
          <a:noFill/>
        </p:spPr>
        <p:txBody>
          <a:bodyPr wrap="square" anchor="t" lIns="0" rIns="0" tIns="0" bIns="0">
            <a:spAutoFit/>
          </a:bodyPr>
          <a:lstStyle/>
          <a:p>
            <a:pPr algn="l"/>
            <a:r>
              <a:rPr sz="1250" b="0" i="1">
                <a:solidFill>
                  <a:srgbClr val="9FB3C8"/>
                </a:solidFill>
                <a:latin typeface="Segoe UI"/>
              </a:rPr>
              <a:t>A rule that carries its own scope can be set aside when its conditions don't hold. Phase 2 answers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PHASE 3 — IT BREAKS</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Phase 3 — it refuses what it knows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Index</a:t>
            </a:r>
          </a:p>
        </p:txBody>
      </p:sp>
      <p:cxnSp>
        <p:nvCxnSpPr>
          <p:cNvPr id="12" name="Connector 11"/>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Question</a:t>
            </a:r>
          </a:p>
        </p:txBody>
      </p:sp>
      <p:sp>
        <p:nvSpPr>
          <p:cNvPr id="14" name="Rounded Rectangle 13"/>
          <p:cNvSpPr/>
          <p:nvPr/>
        </p:nvSpPr>
        <p:spPr>
          <a:xfrm>
            <a:off x="9180576"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Search</a:t>
            </a:r>
          </a:p>
        </p:txBody>
      </p:sp>
      <p:sp>
        <p:nvSpPr>
          <p:cNvPr id="15" name="Rounded Rectangle 14"/>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Draft</a:t>
            </a:r>
          </a:p>
        </p:txBody>
      </p:sp>
      <p:sp>
        <p:nvSpPr>
          <p:cNvPr id="16" name="Rounded Rectangle 15"/>
          <p:cNvSpPr/>
          <p:nvPr/>
        </p:nvSpPr>
        <p:spPr>
          <a:xfrm>
            <a:off x="10442448" y="786384"/>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0B1B33"/>
                </a:solidFill>
                <a:latin typeface="Segoe UI"/>
              </a:rPr>
              <a:t>Check</a:t>
            </a:r>
          </a:p>
        </p:txBody>
      </p:sp>
      <p:sp>
        <p:nvSpPr>
          <p:cNvPr id="17" name="Oval 16"/>
          <p:cNvSpPr/>
          <p:nvPr/>
        </p:nvSpPr>
        <p:spPr>
          <a:xfrm>
            <a:off x="10351008" y="694944"/>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973348" y="1115568"/>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Reply</a:t>
            </a:r>
          </a:p>
        </p:txBody>
      </p:sp>
      <p:sp>
        <p:nvSpPr>
          <p:cNvPr id="20" name="Rounded Rectangle 19"/>
          <p:cNvSpPr/>
          <p:nvPr/>
        </p:nvSpPr>
        <p:spPr>
          <a:xfrm>
            <a:off x="1005840" y="1810512"/>
            <a:ext cx="3383280" cy="50292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1810512"/>
            <a:ext cx="3108960" cy="502920"/>
          </a:xfrm>
          <a:prstGeom prst="rect">
            <a:avLst/>
          </a:prstGeom>
          <a:noFill/>
        </p:spPr>
        <p:txBody>
          <a:bodyPr wrap="square" anchor="ctr" lIns="0" rIns="0" tIns="0" bIns="0">
            <a:spAutoFit/>
          </a:bodyPr>
          <a:lstStyle/>
          <a:p>
            <a:pPr algn="l"/>
            <a:r>
              <a:rPr sz="1150" b="1" i="1">
                <a:solidFill>
                  <a:srgbClr val="E06C6C"/>
                </a:solidFill>
                <a:latin typeface="Segoe UI"/>
              </a:rPr>
              <a:t>✗ threw away a correct answer</a:t>
            </a:r>
          </a:p>
        </p:txBody>
      </p:sp>
      <p:sp>
        <p:nvSpPr>
          <p:cNvPr id="22" name="Rounded Rectangle 21"/>
          <p:cNvSpPr/>
          <p:nvPr/>
        </p:nvSpPr>
        <p:spPr>
          <a:xfrm>
            <a:off x="1005840" y="2487168"/>
            <a:ext cx="10149840" cy="640080"/>
          </a:xfrm>
          <a:prstGeom prst="roundRect">
            <a:avLst>
              <a:gd name="adj" fmla="val 30000"/>
            </a:avLst>
          </a:prstGeom>
          <a:solidFill>
            <a:srgbClr val="142847"/>
          </a:solidFill>
          <a:ln w="15875">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0160" y="2487168"/>
            <a:ext cx="9601200" cy="640080"/>
          </a:xfrm>
          <a:prstGeom prst="rect">
            <a:avLst/>
          </a:prstGeom>
          <a:noFill/>
        </p:spPr>
        <p:txBody>
          <a:bodyPr wrap="square" anchor="ctr" lIns="0" rIns="0" tIns="0" bIns="0">
            <a:spAutoFit/>
          </a:bodyPr>
          <a:lstStyle/>
          <a:p>
            <a:pPr algn="l"/>
            <a:r>
              <a:rPr sz="1500" b="1" i="1">
                <a:solidFill>
                  <a:srgbClr val="FFFFFF"/>
                </a:solidFill>
                <a:latin typeface="Segoe UI"/>
              </a:rPr>
              <a:t>Student asks: “How many kinds of special consideration are there?”</a:t>
            </a:r>
          </a:p>
        </p:txBody>
      </p:sp>
      <p:sp>
        <p:nvSpPr>
          <p:cNvPr id="24" name="Rounded Rectangle 23"/>
          <p:cNvSpPr/>
          <p:nvPr/>
        </p:nvSpPr>
        <p:spPr>
          <a:xfrm>
            <a:off x="1463040" y="3383280"/>
            <a:ext cx="4572000" cy="22860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737360" y="3520440"/>
            <a:ext cx="4023360" cy="365760"/>
          </a:xfrm>
          <a:prstGeom prst="rect">
            <a:avLst/>
          </a:prstGeom>
          <a:noFill/>
        </p:spPr>
        <p:txBody>
          <a:bodyPr wrap="square" anchor="t" lIns="0" rIns="0" tIns="0" bIns="0">
            <a:spAutoFit/>
          </a:bodyPr>
          <a:lstStyle/>
          <a:p>
            <a:pPr algn="l"/>
            <a:r>
              <a:rPr sz="1250" b="1" i="0">
                <a:solidFill>
                  <a:srgbClr val="2DD4BF"/>
                </a:solidFill>
                <a:latin typeface="Segoe UI"/>
              </a:rPr>
              <a:t>Master list (built from the documents)</a:t>
            </a:r>
          </a:p>
        </p:txBody>
      </p:sp>
      <p:sp>
        <p:nvSpPr>
          <p:cNvPr id="26" name="TextBox 25"/>
          <p:cNvSpPr txBox="1"/>
          <p:nvPr/>
        </p:nvSpPr>
        <p:spPr>
          <a:xfrm>
            <a:off x="1737360" y="3913632"/>
            <a:ext cx="3840480" cy="274320"/>
          </a:xfrm>
          <a:prstGeom prst="rect">
            <a:avLst/>
          </a:prstGeom>
          <a:noFill/>
        </p:spPr>
        <p:txBody>
          <a:bodyPr wrap="square" anchor="t" lIns="0" rIns="0" tIns="0" bIns="0">
            <a:spAutoFit/>
          </a:bodyPr>
          <a:lstStyle/>
          <a:p>
            <a:pPr algn="l"/>
            <a:r>
              <a:rPr sz="1150" b="0" i="0">
                <a:solidFill>
                  <a:srgbClr val="FFFFFF"/>
                </a:solidFill>
                <a:latin typeface="Segoe UI"/>
              </a:rPr>
              <a:t>✓ Medical</a:t>
            </a:r>
          </a:p>
        </p:txBody>
      </p:sp>
      <p:sp>
        <p:nvSpPr>
          <p:cNvPr id="27" name="TextBox 26"/>
          <p:cNvSpPr txBox="1"/>
          <p:nvPr/>
        </p:nvSpPr>
        <p:spPr>
          <a:xfrm>
            <a:off x="1737360" y="4197096"/>
            <a:ext cx="3840480" cy="274320"/>
          </a:xfrm>
          <a:prstGeom prst="rect">
            <a:avLst/>
          </a:prstGeom>
          <a:noFill/>
        </p:spPr>
        <p:txBody>
          <a:bodyPr wrap="square" anchor="t" lIns="0" rIns="0" tIns="0" bIns="0">
            <a:spAutoFit/>
          </a:bodyPr>
          <a:lstStyle/>
          <a:p>
            <a:pPr algn="l"/>
            <a:r>
              <a:rPr sz="1150" b="0" i="0">
                <a:solidFill>
                  <a:srgbClr val="FFFFFF"/>
                </a:solidFill>
                <a:latin typeface="Segoe UI"/>
              </a:rPr>
              <a:t>✓ Bereavement</a:t>
            </a:r>
          </a:p>
        </p:txBody>
      </p:sp>
      <p:sp>
        <p:nvSpPr>
          <p:cNvPr id="28" name="TextBox 27"/>
          <p:cNvSpPr txBox="1"/>
          <p:nvPr/>
        </p:nvSpPr>
        <p:spPr>
          <a:xfrm>
            <a:off x="1737360" y="4480560"/>
            <a:ext cx="3840480" cy="274320"/>
          </a:xfrm>
          <a:prstGeom prst="rect">
            <a:avLst/>
          </a:prstGeom>
          <a:noFill/>
        </p:spPr>
        <p:txBody>
          <a:bodyPr wrap="square" anchor="t" lIns="0" rIns="0" tIns="0" bIns="0">
            <a:spAutoFit/>
          </a:bodyPr>
          <a:lstStyle/>
          <a:p>
            <a:pPr algn="l"/>
            <a:r>
              <a:rPr sz="1150" b="0" i="0">
                <a:solidFill>
                  <a:srgbClr val="FFFFFF"/>
                </a:solidFill>
                <a:latin typeface="Segoe UI"/>
              </a:rPr>
              <a:t>✓ Carer</a:t>
            </a:r>
          </a:p>
        </p:txBody>
      </p:sp>
      <p:sp>
        <p:nvSpPr>
          <p:cNvPr id="29" name="TextBox 28"/>
          <p:cNvSpPr txBox="1"/>
          <p:nvPr/>
        </p:nvSpPr>
        <p:spPr>
          <a:xfrm>
            <a:off x="1737360" y="4764024"/>
            <a:ext cx="3840480" cy="274320"/>
          </a:xfrm>
          <a:prstGeom prst="rect">
            <a:avLst/>
          </a:prstGeom>
          <a:noFill/>
        </p:spPr>
        <p:txBody>
          <a:bodyPr wrap="square" anchor="t" lIns="0" rIns="0" tIns="0" bIns="0">
            <a:spAutoFit/>
          </a:bodyPr>
          <a:lstStyle/>
          <a:p>
            <a:pPr algn="l"/>
            <a:r>
              <a:rPr sz="1150" b="0" i="0">
                <a:solidFill>
                  <a:srgbClr val="FFFFFF"/>
                </a:solidFill>
                <a:latin typeface="Segoe UI"/>
              </a:rPr>
              <a:t>✓ Equipment fault</a:t>
            </a:r>
          </a:p>
        </p:txBody>
      </p:sp>
      <p:sp>
        <p:nvSpPr>
          <p:cNvPr id="30" name="TextBox 29"/>
          <p:cNvSpPr txBox="1"/>
          <p:nvPr/>
        </p:nvSpPr>
        <p:spPr>
          <a:xfrm>
            <a:off x="1737360" y="5047488"/>
            <a:ext cx="3840480" cy="274320"/>
          </a:xfrm>
          <a:prstGeom prst="rect">
            <a:avLst/>
          </a:prstGeom>
          <a:noFill/>
        </p:spPr>
        <p:txBody>
          <a:bodyPr wrap="square" anchor="t" lIns="0" rIns="0" tIns="0" bIns="0">
            <a:spAutoFit/>
          </a:bodyPr>
          <a:lstStyle/>
          <a:p>
            <a:pPr algn="l"/>
            <a:r>
              <a:rPr sz="1150" b="0" i="0">
                <a:solidFill>
                  <a:srgbClr val="FFFFFF"/>
                </a:solidFill>
                <a:latin typeface="Segoe UI"/>
              </a:rPr>
              <a:t>✓ Misadventure</a:t>
            </a:r>
          </a:p>
        </p:txBody>
      </p:sp>
      <p:sp>
        <p:nvSpPr>
          <p:cNvPr id="31" name="TextBox 30"/>
          <p:cNvSpPr txBox="1"/>
          <p:nvPr/>
        </p:nvSpPr>
        <p:spPr>
          <a:xfrm>
            <a:off x="1737360" y="5330952"/>
            <a:ext cx="3840480" cy="274320"/>
          </a:xfrm>
          <a:prstGeom prst="rect">
            <a:avLst/>
          </a:prstGeom>
          <a:noFill/>
        </p:spPr>
        <p:txBody>
          <a:bodyPr wrap="square" anchor="t" lIns="0" rIns="0" tIns="0" bIns="0">
            <a:spAutoFit/>
          </a:bodyPr>
          <a:lstStyle/>
          <a:p>
            <a:pPr algn="l"/>
            <a:r>
              <a:rPr sz="1150" b="0" i="0">
                <a:solidFill>
                  <a:srgbClr val="FFFFFF"/>
                </a:solidFill>
                <a:latin typeface="Segoe UI"/>
              </a:rPr>
              <a:t>✓ Religious</a:t>
            </a:r>
          </a:p>
        </p:txBody>
      </p:sp>
      <p:sp>
        <p:nvSpPr>
          <p:cNvPr id="32" name="Rounded Rectangle 31"/>
          <p:cNvSpPr/>
          <p:nvPr/>
        </p:nvSpPr>
        <p:spPr>
          <a:xfrm>
            <a:off x="6309360" y="3383280"/>
            <a:ext cx="4572000" cy="2286000"/>
          </a:xfrm>
          <a:prstGeom prst="roundRect">
            <a:avLst>
              <a:gd name="adj" fmla="val 6000"/>
            </a:avLst>
          </a:prstGeom>
          <a:solidFill>
            <a:srgbClr val="142847"/>
          </a:solidFill>
          <a:ln w="12700">
            <a:solidFill>
              <a:srgbClr val="E06C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3520440"/>
            <a:ext cx="4023360" cy="365760"/>
          </a:xfrm>
          <a:prstGeom prst="rect">
            <a:avLst/>
          </a:prstGeom>
          <a:noFill/>
        </p:spPr>
        <p:txBody>
          <a:bodyPr wrap="square" anchor="t" lIns="0" rIns="0" tIns="0" bIns="0">
            <a:spAutoFit/>
          </a:bodyPr>
          <a:lstStyle/>
          <a:p>
            <a:pPr algn="l"/>
            <a:r>
              <a:rPr sz="1250" b="1" i="0">
                <a:solidFill>
                  <a:srgbClr val="E06C6C"/>
                </a:solidFill>
                <a:latin typeface="Segoe UI"/>
              </a:rPr>
              <a:t>Passages the search pulled this turn</a:t>
            </a:r>
          </a:p>
        </p:txBody>
      </p:sp>
      <p:sp>
        <p:nvSpPr>
          <p:cNvPr id="34" name="TextBox 33"/>
          <p:cNvSpPr txBox="1"/>
          <p:nvPr/>
        </p:nvSpPr>
        <p:spPr>
          <a:xfrm>
            <a:off x="6583680" y="3913632"/>
            <a:ext cx="3840480" cy="274320"/>
          </a:xfrm>
          <a:prstGeom prst="rect">
            <a:avLst/>
          </a:prstGeom>
          <a:noFill/>
        </p:spPr>
        <p:txBody>
          <a:bodyPr wrap="square" anchor="t" lIns="0" rIns="0" tIns="0" bIns="0">
            <a:spAutoFit/>
          </a:bodyPr>
          <a:lstStyle/>
          <a:p>
            <a:pPr algn="l"/>
            <a:r>
              <a:rPr sz="1150" b="0" i="0">
                <a:solidFill>
                  <a:srgbClr val="FFFFFF"/>
                </a:solidFill>
                <a:latin typeface="Segoe UI"/>
              </a:rPr>
              <a:t>✓ Medical</a:t>
            </a:r>
          </a:p>
        </p:txBody>
      </p:sp>
      <p:sp>
        <p:nvSpPr>
          <p:cNvPr id="35" name="TextBox 34"/>
          <p:cNvSpPr txBox="1"/>
          <p:nvPr/>
        </p:nvSpPr>
        <p:spPr>
          <a:xfrm>
            <a:off x="6583680" y="4197096"/>
            <a:ext cx="3840480" cy="274320"/>
          </a:xfrm>
          <a:prstGeom prst="rect">
            <a:avLst/>
          </a:prstGeom>
          <a:noFill/>
        </p:spPr>
        <p:txBody>
          <a:bodyPr wrap="square" anchor="t" lIns="0" rIns="0" tIns="0" bIns="0">
            <a:spAutoFit/>
          </a:bodyPr>
          <a:lstStyle/>
          <a:p>
            <a:pPr algn="l"/>
            <a:r>
              <a:rPr sz="1150" b="0" i="0">
                <a:solidFill>
                  <a:srgbClr val="FFFFFF"/>
                </a:solidFill>
                <a:latin typeface="Segoe UI"/>
              </a:rPr>
              <a:t>✓ Bereavement</a:t>
            </a:r>
          </a:p>
        </p:txBody>
      </p:sp>
      <p:sp>
        <p:nvSpPr>
          <p:cNvPr id="36" name="TextBox 35"/>
          <p:cNvSpPr txBox="1"/>
          <p:nvPr/>
        </p:nvSpPr>
        <p:spPr>
          <a:xfrm>
            <a:off x="6583680" y="4480560"/>
            <a:ext cx="3840480" cy="274320"/>
          </a:xfrm>
          <a:prstGeom prst="rect">
            <a:avLst/>
          </a:prstGeom>
          <a:noFill/>
        </p:spPr>
        <p:txBody>
          <a:bodyPr wrap="square" anchor="t" lIns="0" rIns="0" tIns="0" bIns="0">
            <a:spAutoFit/>
          </a:bodyPr>
          <a:lstStyle/>
          <a:p>
            <a:pPr algn="l"/>
            <a:r>
              <a:rPr sz="1150" b="0" i="1">
                <a:solidFill>
                  <a:srgbClr val="9FB3C8"/>
                </a:solidFill>
                <a:latin typeface="Segoe UI"/>
              </a:rPr>
              <a:t>✗ Carer — “unsupported”</a:t>
            </a:r>
          </a:p>
        </p:txBody>
      </p:sp>
      <p:sp>
        <p:nvSpPr>
          <p:cNvPr id="37" name="TextBox 36"/>
          <p:cNvSpPr txBox="1"/>
          <p:nvPr/>
        </p:nvSpPr>
        <p:spPr>
          <a:xfrm>
            <a:off x="6583680" y="4764024"/>
            <a:ext cx="3840480" cy="274320"/>
          </a:xfrm>
          <a:prstGeom prst="rect">
            <a:avLst/>
          </a:prstGeom>
          <a:noFill/>
        </p:spPr>
        <p:txBody>
          <a:bodyPr wrap="square" anchor="t" lIns="0" rIns="0" tIns="0" bIns="0">
            <a:spAutoFit/>
          </a:bodyPr>
          <a:lstStyle/>
          <a:p>
            <a:pPr algn="l"/>
            <a:r>
              <a:rPr sz="1150" b="0" i="1">
                <a:solidFill>
                  <a:srgbClr val="9FB3C8"/>
                </a:solidFill>
                <a:latin typeface="Segoe UI"/>
              </a:rPr>
              <a:t>✗ Equipment fault — “unsupported”</a:t>
            </a:r>
          </a:p>
        </p:txBody>
      </p:sp>
      <p:sp>
        <p:nvSpPr>
          <p:cNvPr id="38" name="TextBox 37"/>
          <p:cNvSpPr txBox="1"/>
          <p:nvPr/>
        </p:nvSpPr>
        <p:spPr>
          <a:xfrm>
            <a:off x="6583680" y="5047488"/>
            <a:ext cx="3840480" cy="274320"/>
          </a:xfrm>
          <a:prstGeom prst="rect">
            <a:avLst/>
          </a:prstGeom>
          <a:noFill/>
        </p:spPr>
        <p:txBody>
          <a:bodyPr wrap="square" anchor="t" lIns="0" rIns="0" tIns="0" bIns="0">
            <a:spAutoFit/>
          </a:bodyPr>
          <a:lstStyle/>
          <a:p>
            <a:pPr algn="l"/>
            <a:r>
              <a:rPr sz="1150" b="0" i="1">
                <a:solidFill>
                  <a:srgbClr val="9FB3C8"/>
                </a:solidFill>
                <a:latin typeface="Segoe UI"/>
              </a:rPr>
              <a:t>✗ Misadventure — “unsupported”</a:t>
            </a:r>
          </a:p>
        </p:txBody>
      </p:sp>
      <p:sp>
        <p:nvSpPr>
          <p:cNvPr id="39" name="TextBox 38"/>
          <p:cNvSpPr txBox="1"/>
          <p:nvPr/>
        </p:nvSpPr>
        <p:spPr>
          <a:xfrm>
            <a:off x="6583680" y="5330952"/>
            <a:ext cx="3840480" cy="274320"/>
          </a:xfrm>
          <a:prstGeom prst="rect">
            <a:avLst/>
          </a:prstGeom>
          <a:noFill/>
        </p:spPr>
        <p:txBody>
          <a:bodyPr wrap="square" anchor="t" lIns="0" rIns="0" tIns="0" bIns="0">
            <a:spAutoFit/>
          </a:bodyPr>
          <a:lstStyle/>
          <a:p>
            <a:pPr algn="l"/>
            <a:r>
              <a:rPr sz="1150" b="0" i="1">
                <a:solidFill>
                  <a:srgbClr val="9FB3C8"/>
                </a:solidFill>
                <a:latin typeface="Segoe UI"/>
              </a:rPr>
              <a:t>✗ Religious — “unsupported”</a:t>
            </a:r>
          </a:p>
        </p:txBody>
      </p:sp>
      <p:sp>
        <p:nvSpPr>
          <p:cNvPr id="40" name="TextBox 39"/>
          <p:cNvSpPr txBox="1"/>
          <p:nvPr/>
        </p:nvSpPr>
        <p:spPr>
          <a:xfrm>
            <a:off x="1463040" y="5806440"/>
            <a:ext cx="9418320" cy="457200"/>
          </a:xfrm>
          <a:prstGeom prst="rect">
            <a:avLst/>
          </a:prstGeom>
          <a:noFill/>
        </p:spPr>
        <p:txBody>
          <a:bodyPr wrap="square" anchor="t" lIns="0" rIns="0" tIns="0" bIns="0">
            <a:spAutoFit/>
          </a:bodyPr>
          <a:lstStyle/>
          <a:p>
            <a:pPr algn="l"/>
            <a:r>
              <a:rPr sz="1300" b="0" i="0">
                <a:solidFill>
                  <a:srgbClr val="FFFFFF"/>
                </a:solidFill>
                <a:latin typeface="Segoe UI"/>
              </a:rPr>
              <a:t>The checker kills the whole answer: “I couldn't confidently find this.” Too shy is a failure too.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PHASE 3 — THE FIX</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Phase 3 — the right evidence per claim</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Rounded Rectangle 9"/>
          <p:cNvSpPr/>
          <p:nvPr/>
        </p:nvSpPr>
        <p:spPr>
          <a:xfrm>
            <a:off x="8549640"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Docs</a:t>
            </a:r>
          </a:p>
        </p:txBody>
      </p:sp>
      <p:sp>
        <p:nvSpPr>
          <p:cNvPr id="11" name="Rounded Rectangle 10"/>
          <p:cNvSpPr/>
          <p:nvPr/>
        </p:nvSpPr>
        <p:spPr>
          <a:xfrm>
            <a:off x="9180576" y="384048"/>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Index</a:t>
            </a:r>
          </a:p>
        </p:txBody>
      </p:sp>
      <p:cxnSp>
        <p:nvCxnSpPr>
          <p:cNvPr id="12" name="Connector 11"/>
          <p:cNvCxnSpPr/>
          <p:nvPr/>
        </p:nvCxnSpPr>
        <p:spPr>
          <a:xfrm>
            <a:off x="9464040" y="658368"/>
            <a:ext cx="0" cy="128016"/>
          </a:xfrm>
          <a:prstGeom prst="line">
            <a:avLst/>
          </a:prstGeom>
          <a:ln w="12700">
            <a:solidFill>
              <a:srgbClr val="9FB3C8"/>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549640"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Question</a:t>
            </a:r>
          </a:p>
        </p:txBody>
      </p:sp>
      <p:sp>
        <p:nvSpPr>
          <p:cNvPr id="14" name="Rounded Rectangle 13"/>
          <p:cNvSpPr/>
          <p:nvPr/>
        </p:nvSpPr>
        <p:spPr>
          <a:xfrm>
            <a:off x="9180576"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Search</a:t>
            </a:r>
          </a:p>
        </p:txBody>
      </p:sp>
      <p:sp>
        <p:nvSpPr>
          <p:cNvPr id="15" name="Rounded Rectangle 14"/>
          <p:cNvSpPr/>
          <p:nvPr/>
        </p:nvSpPr>
        <p:spPr>
          <a:xfrm>
            <a:off x="9811512"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Draft</a:t>
            </a:r>
          </a:p>
        </p:txBody>
      </p:sp>
      <p:sp>
        <p:nvSpPr>
          <p:cNvPr id="16" name="Rounded Rectangle 15"/>
          <p:cNvSpPr/>
          <p:nvPr/>
        </p:nvSpPr>
        <p:spPr>
          <a:xfrm>
            <a:off x="10442448" y="786384"/>
            <a:ext cx="566928" cy="274320"/>
          </a:xfrm>
          <a:prstGeom prst="roundRect">
            <a:avLst>
              <a:gd name="adj" fmla="val 18000"/>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0B1B33"/>
                </a:solidFill>
                <a:latin typeface="Segoe UI"/>
              </a:rPr>
              <a:t>Check</a:t>
            </a:r>
          </a:p>
        </p:txBody>
      </p:sp>
      <p:sp>
        <p:nvSpPr>
          <p:cNvPr id="17" name="Oval 16"/>
          <p:cNvSpPr/>
          <p:nvPr/>
        </p:nvSpPr>
        <p:spPr>
          <a:xfrm>
            <a:off x="10351008" y="694944"/>
            <a:ext cx="749808" cy="457200"/>
          </a:xfrm>
          <a:prstGeom prst="ellipse">
            <a:avLst/>
          </a:prstGeom>
          <a:noFill/>
          <a:ln w="22225">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973348" y="1115568"/>
            <a:ext cx="118872" cy="118872"/>
          </a:xfrm>
          <a:prstGeom prst="line">
            <a:avLst/>
          </a:prstGeom>
          <a:ln w="28575">
            <a:solidFill>
              <a:srgbClr val="F5B342"/>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1073384" y="786384"/>
            <a:ext cx="566928" cy="274320"/>
          </a:xfrm>
          <a:prstGeom prst="roundRect">
            <a:avLst>
              <a:gd name="adj" fmla="val 18000"/>
            </a:avLst>
          </a:prstGeom>
          <a:solidFill>
            <a:srgbClr val="142847"/>
          </a:solidFill>
          <a:ln w="9525">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0">
                <a:solidFill>
                  <a:srgbClr val="9FB3C8"/>
                </a:solidFill>
                <a:latin typeface="Segoe UI"/>
              </a:rPr>
              <a:t>Reply</a:t>
            </a:r>
          </a:p>
        </p:txBody>
      </p:sp>
      <p:sp>
        <p:nvSpPr>
          <p:cNvPr id="20" name="Rounded Rectangle 19"/>
          <p:cNvSpPr/>
          <p:nvPr/>
        </p:nvSpPr>
        <p:spPr>
          <a:xfrm>
            <a:off x="1005840" y="2240280"/>
            <a:ext cx="5120640" cy="13716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2395728"/>
            <a:ext cx="4663440" cy="365760"/>
          </a:xfrm>
          <a:prstGeom prst="rect">
            <a:avLst/>
          </a:prstGeom>
          <a:noFill/>
        </p:spPr>
        <p:txBody>
          <a:bodyPr wrap="square" anchor="t" lIns="0" rIns="0" tIns="0" bIns="0">
            <a:spAutoFit/>
          </a:bodyPr>
          <a:lstStyle/>
          <a:p>
            <a:pPr algn="l"/>
            <a:r>
              <a:rPr sz="1400" b="1" i="0">
                <a:solidFill>
                  <a:srgbClr val="2DD4BF"/>
                </a:solidFill>
                <a:latin typeface="Segoe UI"/>
              </a:rPr>
              <a:t>What exists / how many</a:t>
            </a:r>
          </a:p>
        </p:txBody>
      </p:sp>
      <p:sp>
        <p:nvSpPr>
          <p:cNvPr id="22" name="TextBox 21"/>
          <p:cNvSpPr txBox="1"/>
          <p:nvPr/>
        </p:nvSpPr>
        <p:spPr>
          <a:xfrm>
            <a:off x="1234440" y="2788920"/>
            <a:ext cx="4663440" cy="731520"/>
          </a:xfrm>
          <a:prstGeom prst="rect">
            <a:avLst/>
          </a:prstGeom>
          <a:noFill/>
        </p:spPr>
        <p:txBody>
          <a:bodyPr wrap="square" anchor="t" lIns="0" rIns="0" tIns="0" bIns="0">
            <a:spAutoFit/>
          </a:bodyPr>
          <a:lstStyle/>
          <a:p>
            <a:pPr algn="l">
              <a:lnSpc>
                <a:spcPct val="125000"/>
              </a:lnSpc>
            </a:pPr>
            <a:r>
              <a:rPr sz="1250" b="0" i="0">
                <a:solidFill>
                  <a:srgbClr val="FFFFFF"/>
                </a:solidFill>
                <a:latin typeface="Segoe UI"/>
              </a:rPr>
              <a:t>Trust the master list — it was built</a:t>
            </a:r>
          </a:p>
          <a:p>
            <a:pPr algn="l"/>
            <a:r>
              <a:rPr sz="1250" b="0" i="0">
                <a:solidFill>
                  <a:srgbClr val="FFFFFF"/>
                </a:solidFill>
                <a:latin typeface="Segoe UI"/>
              </a:rPr>
              <a:t>directly from the documents.</a:t>
            </a:r>
          </a:p>
        </p:txBody>
      </p:sp>
      <p:sp>
        <p:nvSpPr>
          <p:cNvPr id="23" name="Rounded Rectangle 22"/>
          <p:cNvSpPr/>
          <p:nvPr/>
        </p:nvSpPr>
        <p:spPr>
          <a:xfrm>
            <a:off x="6400800" y="2240280"/>
            <a:ext cx="5120640" cy="13716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395728"/>
            <a:ext cx="4663440" cy="365760"/>
          </a:xfrm>
          <a:prstGeom prst="rect">
            <a:avLst/>
          </a:prstGeom>
          <a:noFill/>
        </p:spPr>
        <p:txBody>
          <a:bodyPr wrap="square" anchor="t" lIns="0" rIns="0" tIns="0" bIns="0">
            <a:spAutoFit/>
          </a:bodyPr>
          <a:lstStyle/>
          <a:p>
            <a:pPr algn="l"/>
            <a:r>
              <a:rPr sz="1400" b="1" i="0">
                <a:solidFill>
                  <a:srgbClr val="F5B342"/>
                </a:solidFill>
                <a:latin typeface="Segoe UI"/>
              </a:rPr>
              <a:t>Details of one specific rule</a:t>
            </a:r>
          </a:p>
        </p:txBody>
      </p:sp>
      <p:sp>
        <p:nvSpPr>
          <p:cNvPr id="25" name="TextBox 24"/>
          <p:cNvSpPr txBox="1"/>
          <p:nvPr/>
        </p:nvSpPr>
        <p:spPr>
          <a:xfrm>
            <a:off x="6629400" y="2788920"/>
            <a:ext cx="4663440" cy="731520"/>
          </a:xfrm>
          <a:prstGeom prst="rect">
            <a:avLst/>
          </a:prstGeom>
          <a:noFill/>
        </p:spPr>
        <p:txBody>
          <a:bodyPr wrap="square" anchor="t" lIns="0" rIns="0" tIns="0" bIns="0">
            <a:spAutoFit/>
          </a:bodyPr>
          <a:lstStyle/>
          <a:p>
            <a:pPr algn="l">
              <a:lnSpc>
                <a:spcPct val="125000"/>
              </a:lnSpc>
            </a:pPr>
            <a:r>
              <a:rPr sz="1250" b="0" i="0">
                <a:solidFill>
                  <a:srgbClr val="FFFFFF"/>
                </a:solidFill>
                <a:latin typeface="Segoe UI"/>
              </a:rPr>
              <a:t>Require the actual passage.</a:t>
            </a:r>
          </a:p>
          <a:p>
            <a:pPr algn="l"/>
            <a:r>
              <a:rPr sz="1250" b="0" i="0">
                <a:solidFill>
                  <a:srgbClr val="FFFFFF"/>
                </a:solidFill>
                <a:latin typeface="Segoe UI"/>
              </a:rPr>
              <a:t>No passage, no claim.</a:t>
            </a:r>
          </a:p>
        </p:txBody>
      </p:sp>
      <p:sp>
        <p:nvSpPr>
          <p:cNvPr id="26" name="TextBox 25"/>
          <p:cNvSpPr txBox="1"/>
          <p:nvPr/>
        </p:nvSpPr>
        <p:spPr>
          <a:xfrm>
            <a:off x="1005840" y="3886200"/>
            <a:ext cx="10058400" cy="365760"/>
          </a:xfrm>
          <a:prstGeom prst="rect">
            <a:avLst/>
          </a:prstGeom>
          <a:noFill/>
        </p:spPr>
        <p:txBody>
          <a:bodyPr wrap="square" anchor="t" lIns="0" rIns="0" tIns="0" bIns="0">
            <a:spAutoFit/>
          </a:bodyPr>
          <a:lstStyle/>
          <a:p>
            <a:pPr algn="l"/>
            <a:r>
              <a:rPr sz="1300" b="0" i="1">
                <a:solidFill>
                  <a:srgbClr val="9FB3C8"/>
                </a:solidFill>
                <a:latin typeface="Segoe UI"/>
              </a:rPr>
              <a:t>And when a claim truly has neither:</a:t>
            </a:r>
          </a:p>
        </p:txBody>
      </p:sp>
      <p:sp>
        <p:nvSpPr>
          <p:cNvPr id="27" name="Rounded Rectangle 26"/>
          <p:cNvSpPr/>
          <p:nvPr/>
        </p:nvSpPr>
        <p:spPr>
          <a:xfrm>
            <a:off x="1005840" y="4343400"/>
            <a:ext cx="320040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43000" y="4343400"/>
            <a:ext cx="2926080" cy="777240"/>
          </a:xfrm>
          <a:prstGeom prst="rect">
            <a:avLst/>
          </a:prstGeom>
          <a:noFill/>
        </p:spPr>
        <p:txBody>
          <a:bodyPr wrap="square" anchor="ctr" lIns="0" rIns="0" tIns="0" bIns="0">
            <a:spAutoFit/>
          </a:bodyPr>
          <a:lstStyle/>
          <a:p>
            <a:pPr algn="ctr">
              <a:lnSpc>
                <a:spcPct val="115000"/>
              </a:lnSpc>
            </a:pPr>
            <a:r>
              <a:rPr sz="1200" b="1" i="0">
                <a:solidFill>
                  <a:srgbClr val="FFFFFF"/>
                </a:solidFill>
                <a:latin typeface="Segoe UI"/>
              </a:rPr>
              <a:t>Claim still unsupported</a:t>
            </a:r>
          </a:p>
        </p:txBody>
      </p:sp>
      <p:sp>
        <p:nvSpPr>
          <p:cNvPr id="29" name="Right Arrow 28"/>
          <p:cNvSpPr/>
          <p:nvPr/>
        </p:nvSpPr>
        <p:spPr>
          <a:xfrm>
            <a:off x="4251959" y="4631436"/>
            <a:ext cx="320040" cy="201168"/>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617720" y="4343400"/>
            <a:ext cx="3200400" cy="7772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54880" y="4343400"/>
            <a:ext cx="2926080" cy="777240"/>
          </a:xfrm>
          <a:prstGeom prst="rect">
            <a:avLst/>
          </a:prstGeom>
          <a:noFill/>
        </p:spPr>
        <p:txBody>
          <a:bodyPr wrap="square" anchor="ctr" lIns="0" rIns="0" tIns="0" bIns="0">
            <a:spAutoFit/>
          </a:bodyPr>
          <a:lstStyle/>
          <a:p>
            <a:pPr algn="ctr">
              <a:lnSpc>
                <a:spcPct val="115000"/>
              </a:lnSpc>
            </a:pPr>
            <a:r>
              <a:rPr sz="1200" b="1" i="0">
                <a:solidFill>
                  <a:srgbClr val="FFFFFF"/>
                </a:solidFill>
                <a:latin typeface="Segoe UI"/>
              </a:rPr>
              <a:t>Search once more, sharper</a:t>
            </a:r>
          </a:p>
        </p:txBody>
      </p:sp>
      <p:sp>
        <p:nvSpPr>
          <p:cNvPr id="32" name="Right Arrow 31"/>
          <p:cNvSpPr/>
          <p:nvPr/>
        </p:nvSpPr>
        <p:spPr>
          <a:xfrm>
            <a:off x="7863840" y="4631436"/>
            <a:ext cx="320040" cy="201168"/>
          </a:xfrm>
          <a:prstGeom prst="rightArrow">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229600" y="4343400"/>
            <a:ext cx="3337560" cy="7772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66760" y="4343400"/>
            <a:ext cx="3063240" cy="777240"/>
          </a:xfrm>
          <a:prstGeom prst="rect">
            <a:avLst/>
          </a:prstGeom>
          <a:noFill/>
        </p:spPr>
        <p:txBody>
          <a:bodyPr wrap="square" anchor="ctr" lIns="0" rIns="0" tIns="0" bIns="0">
            <a:spAutoFit/>
          </a:bodyPr>
          <a:lstStyle/>
          <a:p>
            <a:pPr algn="ctr">
              <a:lnSpc>
                <a:spcPct val="115000"/>
              </a:lnSpc>
            </a:pPr>
            <a:r>
              <a:rPr sz="1200" b="1" i="0">
                <a:solidFill>
                  <a:srgbClr val="FFFFFF"/>
                </a:solidFill>
                <a:latin typeface="Segoe UI"/>
              </a:rPr>
              <a:t>Answer — or an honest “I don't know”</a:t>
            </a:r>
          </a:p>
        </p:txBody>
      </p:sp>
      <p:sp>
        <p:nvSpPr>
          <p:cNvPr id="35" name="TextBox 34"/>
          <p:cNvSpPr txBox="1"/>
          <p:nvPr/>
        </p:nvSpPr>
        <p:spPr>
          <a:xfrm>
            <a:off x="1005840" y="5577840"/>
            <a:ext cx="10424160" cy="548640"/>
          </a:xfrm>
          <a:prstGeom prst="rect">
            <a:avLst/>
          </a:prstGeom>
          <a:noFill/>
        </p:spPr>
        <p:txBody>
          <a:bodyPr wrap="square" anchor="t" lIns="0" rIns="0" tIns="0" bIns="0">
            <a:spAutoFit/>
          </a:bodyPr>
          <a:lstStyle/>
          <a:p>
            <a:pPr algn="l"/>
            <a:r>
              <a:rPr sz="1350" b="1" i="0">
                <a:solidFill>
                  <a:srgbClr val="FFFFFF"/>
                </a:solidFill>
                <a:latin typeface="Segoe UI"/>
              </a:rPr>
              <a:t>Never show an unchecked answer. Never refuse what you can prove. When you truly can't — say 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ALL TOGETHER</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The whole system — built by its failures</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TextBox 9"/>
          <p:cNvSpPr txBox="1"/>
          <p:nvPr/>
        </p:nvSpPr>
        <p:spPr>
          <a:xfrm>
            <a:off x="640080" y="1728216"/>
            <a:ext cx="7315200" cy="274320"/>
          </a:xfrm>
          <a:prstGeom prst="rect">
            <a:avLst/>
          </a:prstGeom>
          <a:noFill/>
        </p:spPr>
        <p:txBody>
          <a:bodyPr wrap="square" anchor="t" lIns="0" rIns="0" tIns="0" bIns="0">
            <a:spAutoFit/>
          </a:bodyPr>
          <a:lstStyle/>
          <a:p>
            <a:pPr algn="l"/>
            <a:r>
              <a:rPr sz="1050" b="1" i="0">
                <a:solidFill>
                  <a:srgbClr val="9FB3C8"/>
                </a:solidFill>
                <a:latin typeface="Segoe UI"/>
              </a:rPr>
              <a:t>BUILT ONCE</a:t>
            </a:r>
          </a:p>
        </p:txBody>
      </p:sp>
      <p:sp>
        <p:nvSpPr>
          <p:cNvPr id="11" name="Rounded Rectangle 10"/>
          <p:cNvSpPr/>
          <p:nvPr/>
        </p:nvSpPr>
        <p:spPr>
          <a:xfrm>
            <a:off x="640080" y="2057400"/>
            <a:ext cx="2021372" cy="777240"/>
          </a:xfrm>
          <a:prstGeom prst="roundRect">
            <a:avLst>
              <a:gd name="adj" fmla="val 6000"/>
            </a:avLst>
          </a:prstGeom>
          <a:solidFill>
            <a:srgbClr val="142847"/>
          </a:solidFill>
          <a:ln w="12700">
            <a:solidFill>
              <a:srgbClr val="9FB3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1" y="2057400"/>
            <a:ext cx="1875068" cy="777240"/>
          </a:xfrm>
          <a:prstGeom prst="rect">
            <a:avLst/>
          </a:prstGeom>
          <a:noFill/>
        </p:spPr>
        <p:txBody>
          <a:bodyPr wrap="square" anchor="ctr" lIns="0" rIns="0" tIns="0" bIns="0">
            <a:spAutoFit/>
          </a:bodyPr>
          <a:lstStyle/>
          <a:p>
            <a:pPr algn="ctr">
              <a:lnSpc>
                <a:spcPct val="110000"/>
              </a:lnSpc>
            </a:pPr>
            <a:r>
              <a:rPr sz="1100" b="1" i="0">
                <a:solidFill>
                  <a:srgbClr val="FFFFFF"/>
                </a:solidFill>
                <a:latin typeface="Segoe UI"/>
              </a:rPr>
              <a:t>Documents</a:t>
            </a:r>
          </a:p>
        </p:txBody>
      </p:sp>
      <p:sp>
        <p:nvSpPr>
          <p:cNvPr id="13" name="Right Arrow 12"/>
          <p:cNvSpPr/>
          <p:nvPr/>
        </p:nvSpPr>
        <p:spPr>
          <a:xfrm>
            <a:off x="2643164" y="2372868"/>
            <a:ext cx="237744"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862620" y="2057400"/>
            <a:ext cx="2021372" cy="777240"/>
          </a:xfrm>
          <a:prstGeom prst="roundRect">
            <a:avLst>
              <a:gd name="adj" fmla="val 6000"/>
            </a:avLst>
          </a:prstGeom>
          <a:solidFill>
            <a:srgbClr val="142847"/>
          </a:solidFill>
          <a:ln w="12700">
            <a:solidFill>
              <a:srgbClr val="9FB3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5772" y="2057400"/>
            <a:ext cx="1875068" cy="777240"/>
          </a:xfrm>
          <a:prstGeom prst="rect">
            <a:avLst/>
          </a:prstGeom>
          <a:noFill/>
        </p:spPr>
        <p:txBody>
          <a:bodyPr wrap="square" anchor="ctr" lIns="0" rIns="0" tIns="0" bIns="0">
            <a:spAutoFit/>
          </a:bodyPr>
          <a:lstStyle/>
          <a:p>
            <a:pPr algn="ctr">
              <a:lnSpc>
                <a:spcPct val="110000"/>
              </a:lnSpc>
            </a:pPr>
            <a:r>
              <a:rPr sz="1100" b="1" i="0">
                <a:solidFill>
                  <a:srgbClr val="FFFFFF"/>
                </a:solidFill>
                <a:latin typeface="Segoe UI"/>
              </a:rPr>
              <a:t>Split into passages</a:t>
            </a:r>
          </a:p>
        </p:txBody>
      </p:sp>
      <p:sp>
        <p:nvSpPr>
          <p:cNvPr id="16" name="Right Arrow 15"/>
          <p:cNvSpPr/>
          <p:nvPr/>
        </p:nvSpPr>
        <p:spPr>
          <a:xfrm>
            <a:off x="4865705" y="2372868"/>
            <a:ext cx="237744"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85161" y="2057400"/>
            <a:ext cx="2021372" cy="7772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58313" y="2057400"/>
            <a:ext cx="1875068" cy="777240"/>
          </a:xfrm>
          <a:prstGeom prst="rect">
            <a:avLst/>
          </a:prstGeom>
          <a:noFill/>
        </p:spPr>
        <p:txBody>
          <a:bodyPr wrap="square" anchor="ctr" lIns="0" rIns="0" tIns="0" bIns="0">
            <a:spAutoFit/>
          </a:bodyPr>
          <a:lstStyle/>
          <a:p>
            <a:pPr algn="ctr">
              <a:lnSpc>
                <a:spcPct val="110000"/>
              </a:lnSpc>
            </a:pPr>
            <a:r>
              <a:rPr sz="1100" b="1" i="0">
                <a:solidFill>
                  <a:srgbClr val="FFFFFF"/>
                </a:solidFill>
                <a:latin typeface="Segoe UI"/>
              </a:rPr>
              <a:t>Label: when it applies</a:t>
            </a:r>
          </a:p>
        </p:txBody>
      </p:sp>
      <p:sp>
        <p:nvSpPr>
          <p:cNvPr id="19" name="Right Arrow 18"/>
          <p:cNvSpPr/>
          <p:nvPr/>
        </p:nvSpPr>
        <p:spPr>
          <a:xfrm>
            <a:off x="7088245" y="2372868"/>
            <a:ext cx="237744"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07701" y="2057400"/>
            <a:ext cx="2021372" cy="77724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80853" y="2057400"/>
            <a:ext cx="1875068" cy="777240"/>
          </a:xfrm>
          <a:prstGeom prst="rect">
            <a:avLst/>
          </a:prstGeom>
          <a:noFill/>
        </p:spPr>
        <p:txBody>
          <a:bodyPr wrap="square" anchor="ctr" lIns="0" rIns="0" tIns="0" bIns="0">
            <a:spAutoFit/>
          </a:bodyPr>
          <a:lstStyle/>
          <a:p>
            <a:pPr algn="ctr">
              <a:lnSpc>
                <a:spcPct val="110000"/>
              </a:lnSpc>
            </a:pPr>
            <a:r>
              <a:rPr sz="1100" b="1" i="0">
                <a:solidFill>
                  <a:srgbClr val="FFFFFF"/>
                </a:solidFill>
                <a:latin typeface="Segoe UI"/>
              </a:rPr>
              <a:t>Meaning index</a:t>
            </a:r>
          </a:p>
        </p:txBody>
      </p:sp>
      <p:sp>
        <p:nvSpPr>
          <p:cNvPr id="22" name="Right Arrow 21"/>
          <p:cNvSpPr/>
          <p:nvPr/>
        </p:nvSpPr>
        <p:spPr>
          <a:xfrm>
            <a:off x="9310786" y="2372868"/>
            <a:ext cx="237744"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530242" y="2057400"/>
            <a:ext cx="2021372" cy="77724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3394" y="2057400"/>
            <a:ext cx="1875068" cy="777240"/>
          </a:xfrm>
          <a:prstGeom prst="rect">
            <a:avLst/>
          </a:prstGeom>
          <a:noFill/>
        </p:spPr>
        <p:txBody>
          <a:bodyPr wrap="square" anchor="ctr" lIns="0" rIns="0" tIns="0" bIns="0">
            <a:spAutoFit/>
          </a:bodyPr>
          <a:lstStyle/>
          <a:p>
            <a:pPr algn="ctr">
              <a:lnSpc>
                <a:spcPct val="110000"/>
              </a:lnSpc>
            </a:pPr>
            <a:r>
              <a:rPr sz="1100" b="1" i="0">
                <a:solidFill>
                  <a:srgbClr val="FFFFFF"/>
                </a:solidFill>
                <a:latin typeface="Segoe UI"/>
              </a:rPr>
              <a:t>Master list of rules</a:t>
            </a:r>
          </a:p>
        </p:txBody>
      </p:sp>
      <p:sp>
        <p:nvSpPr>
          <p:cNvPr id="25" name="TextBox 24"/>
          <p:cNvSpPr txBox="1"/>
          <p:nvPr/>
        </p:nvSpPr>
        <p:spPr>
          <a:xfrm>
            <a:off x="640080" y="3602736"/>
            <a:ext cx="7315200" cy="274320"/>
          </a:xfrm>
          <a:prstGeom prst="rect">
            <a:avLst/>
          </a:prstGeom>
          <a:noFill/>
        </p:spPr>
        <p:txBody>
          <a:bodyPr wrap="square" anchor="t" lIns="0" rIns="0" tIns="0" bIns="0">
            <a:spAutoFit/>
          </a:bodyPr>
          <a:lstStyle/>
          <a:p>
            <a:pPr algn="l"/>
            <a:r>
              <a:rPr sz="1050" b="1" i="0">
                <a:solidFill>
                  <a:srgbClr val="9FB3C8"/>
                </a:solidFill>
                <a:latin typeface="Segoe UI"/>
              </a:rPr>
              <a:t>EVERY QUESTION, LIVE</a:t>
            </a:r>
          </a:p>
        </p:txBody>
      </p:sp>
      <p:sp>
        <p:nvSpPr>
          <p:cNvPr id="26" name="Rounded Rectangle 25"/>
          <p:cNvSpPr/>
          <p:nvPr/>
        </p:nvSpPr>
        <p:spPr>
          <a:xfrm>
            <a:off x="640080" y="3931920"/>
            <a:ext cx="1417711" cy="914400"/>
          </a:xfrm>
          <a:prstGeom prst="roundRect">
            <a:avLst>
              <a:gd name="adj" fmla="val 6000"/>
            </a:avLst>
          </a:prstGeom>
          <a:solidFill>
            <a:srgbClr val="142847"/>
          </a:solidFill>
          <a:ln w="12700">
            <a:solidFill>
              <a:srgbClr val="9FB3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931920"/>
            <a:ext cx="1289695" cy="914400"/>
          </a:xfrm>
          <a:prstGeom prst="rect">
            <a:avLst/>
          </a:prstGeom>
          <a:noFill/>
        </p:spPr>
        <p:txBody>
          <a:bodyPr wrap="square" anchor="ctr" lIns="0" rIns="0" tIns="0" bIns="0">
            <a:spAutoFit/>
          </a:bodyPr>
          <a:lstStyle/>
          <a:p>
            <a:pPr algn="ctr">
              <a:lnSpc>
                <a:spcPct val="110000"/>
              </a:lnSpc>
            </a:pPr>
            <a:r>
              <a:rPr sz="1050" b="1" i="0">
                <a:solidFill>
                  <a:srgbClr val="FFFFFF"/>
                </a:solidFill>
                <a:latin typeface="Segoe UI"/>
              </a:rPr>
              <a:t>Student question</a:t>
            </a:r>
          </a:p>
        </p:txBody>
      </p:sp>
      <p:sp>
        <p:nvSpPr>
          <p:cNvPr id="28" name="Right Arrow 27"/>
          <p:cNvSpPr/>
          <p:nvPr/>
        </p:nvSpPr>
        <p:spPr>
          <a:xfrm>
            <a:off x="2039503"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222383" y="3931920"/>
            <a:ext cx="141771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86391" y="3931920"/>
            <a:ext cx="1289695" cy="914400"/>
          </a:xfrm>
          <a:prstGeom prst="rect">
            <a:avLst/>
          </a:prstGeom>
          <a:noFill/>
        </p:spPr>
        <p:txBody>
          <a:bodyPr wrap="square" anchor="ctr" lIns="0" rIns="0" tIns="0" bIns="0">
            <a:spAutoFit/>
          </a:bodyPr>
          <a:lstStyle/>
          <a:p>
            <a:pPr algn="ctr">
              <a:lnSpc>
                <a:spcPct val="110000"/>
              </a:lnSpc>
            </a:pPr>
            <a:r>
              <a:rPr sz="1050" b="1" i="0">
                <a:solidFill>
                  <a:srgbClr val="FFFFFF"/>
                </a:solidFill>
                <a:latin typeface="Segoe UI"/>
              </a:rPr>
              <a:t>Search by meaning</a:t>
            </a:r>
          </a:p>
        </p:txBody>
      </p:sp>
      <p:sp>
        <p:nvSpPr>
          <p:cNvPr id="31" name="Right Arrow 30"/>
          <p:cNvSpPr/>
          <p:nvPr/>
        </p:nvSpPr>
        <p:spPr>
          <a:xfrm>
            <a:off x="3621807"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804687" y="3931920"/>
            <a:ext cx="1417711" cy="91440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868695" y="3931920"/>
            <a:ext cx="1289695" cy="914400"/>
          </a:xfrm>
          <a:prstGeom prst="rect">
            <a:avLst/>
          </a:prstGeom>
          <a:noFill/>
        </p:spPr>
        <p:txBody>
          <a:bodyPr wrap="square" anchor="ctr" lIns="0" rIns="0" tIns="0" bIns="0">
            <a:spAutoFit/>
          </a:bodyPr>
          <a:lstStyle/>
          <a:p>
            <a:pPr algn="ctr">
              <a:lnSpc>
                <a:spcPct val="110000"/>
              </a:lnSpc>
            </a:pPr>
            <a:r>
              <a:rPr sz="1050" b="1" i="0">
                <a:solidFill>
                  <a:srgbClr val="FFFFFF"/>
                </a:solidFill>
                <a:latin typeface="Segoe UI"/>
              </a:rPr>
              <a:t>Keep rules that apply now</a:t>
            </a:r>
          </a:p>
        </p:txBody>
      </p:sp>
      <p:sp>
        <p:nvSpPr>
          <p:cNvPr id="34" name="Right Arrow 33"/>
          <p:cNvSpPr/>
          <p:nvPr/>
        </p:nvSpPr>
        <p:spPr>
          <a:xfrm>
            <a:off x="5204111"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386991" y="3931920"/>
            <a:ext cx="1417711" cy="914400"/>
          </a:xfrm>
          <a:prstGeom prst="roundRect">
            <a:avLst>
              <a:gd name="adj" fmla="val 6000"/>
            </a:avLst>
          </a:prstGeom>
          <a:solidFill>
            <a:srgbClr val="142847"/>
          </a:solidFill>
          <a:ln w="12700">
            <a:solidFill>
              <a:srgbClr val="9FB3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50999" y="3931920"/>
            <a:ext cx="1289695" cy="914400"/>
          </a:xfrm>
          <a:prstGeom prst="rect">
            <a:avLst/>
          </a:prstGeom>
          <a:noFill/>
        </p:spPr>
        <p:txBody>
          <a:bodyPr wrap="square" anchor="ctr" lIns="0" rIns="0" tIns="0" bIns="0">
            <a:spAutoFit/>
          </a:bodyPr>
          <a:lstStyle/>
          <a:p>
            <a:pPr algn="ctr">
              <a:lnSpc>
                <a:spcPct val="110000"/>
              </a:lnSpc>
            </a:pPr>
            <a:r>
              <a:rPr sz="1050" b="1" i="0">
                <a:solidFill>
                  <a:srgbClr val="FFFFFF"/>
                </a:solidFill>
                <a:latin typeface="Segoe UI"/>
              </a:rPr>
              <a:t>Draft answer</a:t>
            </a:r>
          </a:p>
        </p:txBody>
      </p:sp>
      <p:sp>
        <p:nvSpPr>
          <p:cNvPr id="37" name="Right Arrow 36"/>
          <p:cNvSpPr/>
          <p:nvPr/>
        </p:nvSpPr>
        <p:spPr>
          <a:xfrm>
            <a:off x="6786415"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969295" y="3931920"/>
            <a:ext cx="1417711" cy="914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33303" y="3931920"/>
            <a:ext cx="1289695" cy="914400"/>
          </a:xfrm>
          <a:prstGeom prst="rect">
            <a:avLst/>
          </a:prstGeom>
          <a:noFill/>
        </p:spPr>
        <p:txBody>
          <a:bodyPr wrap="square" anchor="ctr" lIns="0" rIns="0" tIns="0" bIns="0">
            <a:spAutoFit/>
          </a:bodyPr>
          <a:lstStyle/>
          <a:p>
            <a:pPr algn="ctr">
              <a:lnSpc>
                <a:spcPct val="110000"/>
              </a:lnSpc>
            </a:pPr>
            <a:r>
              <a:rPr sz="1050" b="1" i="0">
                <a:solidFill>
                  <a:srgbClr val="FFFFFF"/>
                </a:solidFill>
                <a:latin typeface="Segoe UI"/>
              </a:rPr>
              <a:t>Check every claim</a:t>
            </a:r>
          </a:p>
        </p:txBody>
      </p:sp>
      <p:sp>
        <p:nvSpPr>
          <p:cNvPr id="40" name="Right Arrow 39"/>
          <p:cNvSpPr/>
          <p:nvPr/>
        </p:nvSpPr>
        <p:spPr>
          <a:xfrm>
            <a:off x="8368719"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551599" y="3931920"/>
            <a:ext cx="1417711" cy="914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15607" y="3931920"/>
            <a:ext cx="1289695" cy="914400"/>
          </a:xfrm>
          <a:prstGeom prst="rect">
            <a:avLst/>
          </a:prstGeom>
          <a:noFill/>
        </p:spPr>
        <p:txBody>
          <a:bodyPr wrap="square" anchor="ctr" lIns="0" rIns="0" tIns="0" bIns="0">
            <a:spAutoFit/>
          </a:bodyPr>
          <a:lstStyle/>
          <a:p>
            <a:pPr algn="ctr">
              <a:lnSpc>
                <a:spcPct val="110000"/>
              </a:lnSpc>
            </a:pPr>
            <a:r>
              <a:rPr sz="1050" b="1" i="0">
                <a:solidFill>
                  <a:srgbClr val="FFFFFF"/>
                </a:solidFill>
                <a:latin typeface="Segoe UI"/>
              </a:rPr>
              <a:t>Weak? search again</a:t>
            </a:r>
          </a:p>
        </p:txBody>
      </p:sp>
      <p:sp>
        <p:nvSpPr>
          <p:cNvPr id="43" name="Right Arrow 42"/>
          <p:cNvSpPr/>
          <p:nvPr/>
        </p:nvSpPr>
        <p:spPr>
          <a:xfrm>
            <a:off x="9951023" y="4315968"/>
            <a:ext cx="201168" cy="146304"/>
          </a:xfrm>
          <a:prstGeom prst="rightArrow">
            <a:avLst/>
          </a:prstGeom>
          <a:solidFill>
            <a:srgbClr val="253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0133903" y="3931920"/>
            <a:ext cx="1417711" cy="914400"/>
          </a:xfrm>
          <a:prstGeom prst="roundRect">
            <a:avLst>
              <a:gd name="adj" fmla="val 6000"/>
            </a:avLst>
          </a:prstGeom>
          <a:solidFill>
            <a:srgbClr val="142847"/>
          </a:solidFill>
          <a:ln w="12700">
            <a:solidFill>
              <a:srgbClr val="F5B3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197911" y="3931920"/>
            <a:ext cx="1289695" cy="914400"/>
          </a:xfrm>
          <a:prstGeom prst="rect">
            <a:avLst/>
          </a:prstGeom>
          <a:noFill/>
        </p:spPr>
        <p:txBody>
          <a:bodyPr wrap="square" anchor="ctr" lIns="0" rIns="0" tIns="0" bIns="0">
            <a:spAutoFit/>
          </a:bodyPr>
          <a:lstStyle/>
          <a:p>
            <a:pPr algn="ctr">
              <a:lnSpc>
                <a:spcPct val="110000"/>
              </a:lnSpc>
            </a:pPr>
            <a:r>
              <a:rPr sz="1050" b="1" i="0">
                <a:solidFill>
                  <a:srgbClr val="FFFFFF"/>
                </a:solidFill>
                <a:latin typeface="Segoe UI"/>
              </a:rPr>
              <a:t>Reply — or “I don't know”</a:t>
            </a:r>
          </a:p>
        </p:txBody>
      </p:sp>
      <p:cxnSp>
        <p:nvCxnSpPr>
          <p:cNvPr id="46" name="Connector 45"/>
          <p:cNvCxnSpPr/>
          <p:nvPr/>
        </p:nvCxnSpPr>
        <p:spPr>
          <a:xfrm flipH="1">
            <a:off x="2931239" y="2834640"/>
            <a:ext cx="5387149" cy="1097280"/>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7678151" y="2834640"/>
            <a:ext cx="2862777" cy="1097280"/>
          </a:xfrm>
          <a:prstGeom prst="line">
            <a:avLst/>
          </a:prstGeom>
          <a:ln w="15875">
            <a:solidFill>
              <a:srgbClr val="9FB3C8"/>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40080" y="5230368"/>
            <a:ext cx="146304" cy="146304"/>
          </a:xfrm>
          <a:prstGeom prst="ellipse">
            <a:avLst/>
          </a:prstGeom>
          <a:solidFill>
            <a:srgbClr val="9FB3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77824" y="5166360"/>
            <a:ext cx="3566160" cy="320040"/>
          </a:xfrm>
          <a:prstGeom prst="rect">
            <a:avLst/>
          </a:prstGeom>
          <a:noFill/>
        </p:spPr>
        <p:txBody>
          <a:bodyPr wrap="square" anchor="t" lIns="0" rIns="0" tIns="0" bIns="0">
            <a:spAutoFit/>
          </a:bodyPr>
          <a:lstStyle/>
          <a:p>
            <a:pPr algn="l"/>
            <a:r>
              <a:rPr sz="1150" b="0" i="0">
                <a:solidFill>
                  <a:srgbClr val="FFFFFF"/>
                </a:solidFill>
                <a:latin typeface="Segoe UI"/>
              </a:rPr>
              <a:t>Phase 1 — the bare skeleton</a:t>
            </a:r>
          </a:p>
        </p:txBody>
      </p:sp>
      <p:sp>
        <p:nvSpPr>
          <p:cNvPr id="50" name="Oval 49"/>
          <p:cNvSpPr/>
          <p:nvPr/>
        </p:nvSpPr>
        <p:spPr>
          <a:xfrm>
            <a:off x="4480560" y="5230368"/>
            <a:ext cx="146304" cy="146304"/>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718304" y="5166360"/>
            <a:ext cx="3566160" cy="320040"/>
          </a:xfrm>
          <a:prstGeom prst="rect">
            <a:avLst/>
          </a:prstGeom>
          <a:noFill/>
        </p:spPr>
        <p:txBody>
          <a:bodyPr wrap="square" anchor="t" lIns="0" rIns="0" tIns="0" bIns="0">
            <a:spAutoFit/>
          </a:bodyPr>
          <a:lstStyle/>
          <a:p>
            <a:pPr algn="l"/>
            <a:r>
              <a:rPr sz="1150" b="0" i="0">
                <a:solidFill>
                  <a:srgbClr val="FFFFFF"/>
                </a:solidFill>
                <a:latin typeface="Segoe UI"/>
              </a:rPr>
              <a:t>Phase 2 — meaning + applicability</a:t>
            </a:r>
          </a:p>
        </p:txBody>
      </p:sp>
      <p:sp>
        <p:nvSpPr>
          <p:cNvPr id="52" name="Oval 51"/>
          <p:cNvSpPr/>
          <p:nvPr/>
        </p:nvSpPr>
        <p:spPr>
          <a:xfrm>
            <a:off x="8321040" y="5230368"/>
            <a:ext cx="146304" cy="146304"/>
          </a:xfrm>
          <a:prstGeom prst="ellipse">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58784" y="5166360"/>
            <a:ext cx="3566160" cy="320040"/>
          </a:xfrm>
          <a:prstGeom prst="rect">
            <a:avLst/>
          </a:prstGeom>
          <a:noFill/>
        </p:spPr>
        <p:txBody>
          <a:bodyPr wrap="square" anchor="t" lIns="0" rIns="0" tIns="0" bIns="0">
            <a:spAutoFit/>
          </a:bodyPr>
          <a:lstStyle/>
          <a:p>
            <a:pPr algn="l"/>
            <a:r>
              <a:rPr sz="1150" b="0" i="0">
                <a:solidFill>
                  <a:srgbClr val="FFFFFF"/>
                </a:solidFill>
                <a:latin typeface="Segoe UI"/>
              </a:rPr>
              <a:t>Phase 3 — verification + honesty</a:t>
            </a:r>
          </a:p>
        </p:txBody>
      </p:sp>
      <p:sp>
        <p:nvSpPr>
          <p:cNvPr id="54" name="TextBox 53"/>
          <p:cNvSpPr txBox="1"/>
          <p:nvPr/>
        </p:nvSpPr>
        <p:spPr>
          <a:xfrm>
            <a:off x="640080" y="5715000"/>
            <a:ext cx="10911535" cy="457200"/>
          </a:xfrm>
          <a:prstGeom prst="rect">
            <a:avLst/>
          </a:prstGeom>
          <a:noFill/>
        </p:spPr>
        <p:txBody>
          <a:bodyPr wrap="square" anchor="t" lIns="0" rIns="0" tIns="0" bIns="0">
            <a:spAutoFit/>
          </a:bodyPr>
          <a:lstStyle/>
          <a:p>
            <a:pPr algn="ctr"/>
            <a:r>
              <a:rPr sz="1300" b="0" i="1">
                <a:solidFill>
                  <a:srgbClr val="F5B342"/>
                </a:solidFill>
                <a:latin typeface="Segoe UI"/>
              </a:rPr>
              <a:t>Nothing here was designed up front — every coloured box exists because a failure forced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SKIPPED ON PURPOSE</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What we skipped (look these up later)</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TextBox 9"/>
          <p:cNvSpPr txBox="1"/>
          <p:nvPr/>
        </p:nvSpPr>
        <p:spPr>
          <a:xfrm>
            <a:off x="1005840" y="2011680"/>
            <a:ext cx="10241280" cy="411480"/>
          </a:xfrm>
          <a:prstGeom prst="rect">
            <a:avLst/>
          </a:prstGeom>
          <a:noFill/>
        </p:spPr>
        <p:txBody>
          <a:bodyPr wrap="square" anchor="t" lIns="0" rIns="0" tIns="0" bIns="0">
            <a:spAutoFit/>
          </a:bodyPr>
          <a:lstStyle/>
          <a:p>
            <a:pPr algn="l"/>
            <a:r>
              <a:rPr sz="1350" b="0" i="1">
                <a:solidFill>
                  <a:srgbClr val="9FB3C8"/>
                </a:solidFill>
                <a:latin typeface="Segoe UI"/>
              </a:rPr>
              <a:t>Six things the real system also does. None changes today's story — they squeeze out the last 20%.</a:t>
            </a:r>
          </a:p>
        </p:txBody>
      </p:sp>
      <p:sp>
        <p:nvSpPr>
          <p:cNvPr id="11" name="Rounded Rectangle 10"/>
          <p:cNvSpPr/>
          <p:nvPr/>
        </p:nvSpPr>
        <p:spPr>
          <a:xfrm>
            <a:off x="822960" y="260604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734056"/>
            <a:ext cx="3015386" cy="320040"/>
          </a:xfrm>
          <a:prstGeom prst="rect">
            <a:avLst/>
          </a:prstGeom>
          <a:noFill/>
        </p:spPr>
        <p:txBody>
          <a:bodyPr wrap="square" anchor="t" lIns="0" rIns="0" tIns="0" bIns="0">
            <a:spAutoFit/>
          </a:bodyPr>
          <a:lstStyle/>
          <a:p>
            <a:pPr algn="l"/>
            <a:r>
              <a:rPr sz="1350" b="1" i="0">
                <a:solidFill>
                  <a:srgbClr val="FFFFFF"/>
                </a:solidFill>
                <a:latin typeface="Segoe UI"/>
              </a:rPr>
              <a:t>Hybrid retrieval</a:t>
            </a:r>
          </a:p>
        </p:txBody>
      </p:sp>
      <p:sp>
        <p:nvSpPr>
          <p:cNvPr id="13" name="TextBox 12"/>
          <p:cNvSpPr txBox="1"/>
          <p:nvPr/>
        </p:nvSpPr>
        <p:spPr>
          <a:xfrm>
            <a:off x="1005840" y="3081528"/>
            <a:ext cx="3015386" cy="68580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run word search and meaning search together, merge the results</a:t>
            </a:r>
          </a:p>
        </p:txBody>
      </p:sp>
      <p:sp>
        <p:nvSpPr>
          <p:cNvPr id="14" name="Rounded Rectangle 13"/>
          <p:cNvSpPr/>
          <p:nvPr/>
        </p:nvSpPr>
        <p:spPr>
          <a:xfrm>
            <a:off x="4405274" y="260604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8154" y="2734056"/>
            <a:ext cx="3015386" cy="320040"/>
          </a:xfrm>
          <a:prstGeom prst="rect">
            <a:avLst/>
          </a:prstGeom>
          <a:noFill/>
        </p:spPr>
        <p:txBody>
          <a:bodyPr wrap="square" anchor="t" lIns="0" rIns="0" tIns="0" bIns="0">
            <a:spAutoFit/>
          </a:bodyPr>
          <a:lstStyle/>
          <a:p>
            <a:pPr algn="l"/>
            <a:r>
              <a:rPr sz="1350" b="1" i="0">
                <a:solidFill>
                  <a:srgbClr val="FFFFFF"/>
                </a:solidFill>
                <a:latin typeface="Segoe UI"/>
              </a:rPr>
              <a:t>Reranking</a:t>
            </a:r>
          </a:p>
        </p:txBody>
      </p:sp>
      <p:sp>
        <p:nvSpPr>
          <p:cNvPr id="16" name="TextBox 15"/>
          <p:cNvSpPr txBox="1"/>
          <p:nvPr/>
        </p:nvSpPr>
        <p:spPr>
          <a:xfrm>
            <a:off x="4588154" y="3081528"/>
            <a:ext cx="3015386" cy="68580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a second, smarter pass re-orders the found passages</a:t>
            </a:r>
          </a:p>
        </p:txBody>
      </p:sp>
      <p:sp>
        <p:nvSpPr>
          <p:cNvPr id="17" name="Rounded Rectangle 16"/>
          <p:cNvSpPr/>
          <p:nvPr/>
        </p:nvSpPr>
        <p:spPr>
          <a:xfrm>
            <a:off x="7987588" y="260604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0468" y="2734056"/>
            <a:ext cx="3015386" cy="320040"/>
          </a:xfrm>
          <a:prstGeom prst="rect">
            <a:avLst/>
          </a:prstGeom>
          <a:noFill/>
        </p:spPr>
        <p:txBody>
          <a:bodyPr wrap="square" anchor="t" lIns="0" rIns="0" tIns="0" bIns="0">
            <a:spAutoFit/>
          </a:bodyPr>
          <a:lstStyle/>
          <a:p>
            <a:pPr algn="l"/>
            <a:r>
              <a:rPr sz="1350" b="1" i="0">
                <a:solidFill>
                  <a:srgbClr val="FFFFFF"/>
                </a:solidFill>
                <a:latin typeface="Segoe UI"/>
              </a:rPr>
              <a:t>Query rewriting</a:t>
            </a:r>
          </a:p>
        </p:txBody>
      </p:sp>
      <p:sp>
        <p:nvSpPr>
          <p:cNvPr id="19" name="TextBox 18"/>
          <p:cNvSpPr txBox="1"/>
          <p:nvPr/>
        </p:nvSpPr>
        <p:spPr>
          <a:xfrm>
            <a:off x="8170468" y="3081528"/>
            <a:ext cx="3015386" cy="68580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clean the question into a sharp search query first</a:t>
            </a:r>
          </a:p>
        </p:txBody>
      </p:sp>
      <p:sp>
        <p:nvSpPr>
          <p:cNvPr id="20" name="Rounded Rectangle 19"/>
          <p:cNvSpPr/>
          <p:nvPr/>
        </p:nvSpPr>
        <p:spPr>
          <a:xfrm>
            <a:off x="822960" y="406908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197096"/>
            <a:ext cx="3015386" cy="320040"/>
          </a:xfrm>
          <a:prstGeom prst="rect">
            <a:avLst/>
          </a:prstGeom>
          <a:noFill/>
        </p:spPr>
        <p:txBody>
          <a:bodyPr wrap="square" anchor="t" lIns="0" rIns="0" tIns="0" bIns="0">
            <a:spAutoFit/>
          </a:bodyPr>
          <a:lstStyle/>
          <a:p>
            <a:pPr algn="l"/>
            <a:r>
              <a:rPr sz="1350" b="1" i="0">
                <a:solidFill>
                  <a:srgbClr val="FFFFFF"/>
                </a:solidFill>
                <a:latin typeface="Segoe UI"/>
              </a:rPr>
              <a:t>Question splitting</a:t>
            </a:r>
          </a:p>
        </p:txBody>
      </p:sp>
      <p:sp>
        <p:nvSpPr>
          <p:cNvPr id="22" name="TextBox 21"/>
          <p:cNvSpPr txBox="1"/>
          <p:nvPr/>
        </p:nvSpPr>
        <p:spPr>
          <a:xfrm>
            <a:off x="1005840" y="4544568"/>
            <a:ext cx="3015386" cy="68580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one compound question becomes several simple ones</a:t>
            </a:r>
          </a:p>
        </p:txBody>
      </p:sp>
      <p:sp>
        <p:nvSpPr>
          <p:cNvPr id="23" name="Rounded Rectangle 22"/>
          <p:cNvSpPr/>
          <p:nvPr/>
        </p:nvSpPr>
        <p:spPr>
          <a:xfrm>
            <a:off x="4405274" y="406908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88154" y="4197096"/>
            <a:ext cx="3015386" cy="320040"/>
          </a:xfrm>
          <a:prstGeom prst="rect">
            <a:avLst/>
          </a:prstGeom>
          <a:noFill/>
        </p:spPr>
        <p:txBody>
          <a:bodyPr wrap="square" anchor="t" lIns="0" rIns="0" tIns="0" bIns="0">
            <a:spAutoFit/>
          </a:bodyPr>
          <a:lstStyle/>
          <a:p>
            <a:pPr algn="l"/>
            <a:r>
              <a:rPr sz="1350" b="1" i="0">
                <a:solidFill>
                  <a:srgbClr val="FFFFFF"/>
                </a:solidFill>
                <a:latin typeface="Segoe UI"/>
              </a:rPr>
              <a:t>Conversation memory</a:t>
            </a:r>
          </a:p>
        </p:txBody>
      </p:sp>
      <p:sp>
        <p:nvSpPr>
          <p:cNvPr id="25" name="TextBox 24"/>
          <p:cNvSpPr txBox="1"/>
          <p:nvPr/>
        </p:nvSpPr>
        <p:spPr>
          <a:xfrm>
            <a:off x="4588154" y="4544568"/>
            <a:ext cx="3015386" cy="68580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condense the chat so far into one standalone question</a:t>
            </a:r>
          </a:p>
        </p:txBody>
      </p:sp>
      <p:sp>
        <p:nvSpPr>
          <p:cNvPr id="26" name="Rounded Rectangle 25"/>
          <p:cNvSpPr/>
          <p:nvPr/>
        </p:nvSpPr>
        <p:spPr>
          <a:xfrm>
            <a:off x="7987588" y="4069080"/>
            <a:ext cx="3381146" cy="123444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70468" y="4197096"/>
            <a:ext cx="3015386" cy="320040"/>
          </a:xfrm>
          <a:prstGeom prst="rect">
            <a:avLst/>
          </a:prstGeom>
          <a:noFill/>
        </p:spPr>
        <p:txBody>
          <a:bodyPr wrap="square" anchor="t" lIns="0" rIns="0" tIns="0" bIns="0">
            <a:spAutoFit/>
          </a:bodyPr>
          <a:lstStyle/>
          <a:p>
            <a:pPr algn="l"/>
            <a:r>
              <a:rPr sz="1350" b="1" i="0">
                <a:solidFill>
                  <a:srgbClr val="FFFFFF"/>
                </a:solidFill>
                <a:latin typeface="Segoe UI"/>
              </a:rPr>
              <a:t>Two-model design</a:t>
            </a:r>
          </a:p>
        </p:txBody>
      </p:sp>
      <p:sp>
        <p:nvSpPr>
          <p:cNvPr id="28" name="TextBox 27"/>
          <p:cNvSpPr txBox="1"/>
          <p:nvPr/>
        </p:nvSpPr>
        <p:spPr>
          <a:xfrm>
            <a:off x="8170468" y="4544568"/>
            <a:ext cx="3015386" cy="685800"/>
          </a:xfrm>
          <a:prstGeom prst="rect">
            <a:avLst/>
          </a:prstGeom>
          <a:noFill/>
        </p:spPr>
        <p:txBody>
          <a:bodyPr wrap="square" anchor="t" lIns="0" rIns="0" tIns="0" bIns="0">
            <a:spAutoFit/>
          </a:bodyPr>
          <a:lstStyle/>
          <a:p>
            <a:pPr algn="l">
              <a:lnSpc>
                <a:spcPct val="120000"/>
              </a:lnSpc>
            </a:pPr>
            <a:r>
              <a:rPr sz="1050" b="0" i="0">
                <a:solidFill>
                  <a:srgbClr val="9FB3C8"/>
                </a:solidFill>
                <a:latin typeface="Segoe UI"/>
              </a:rPr>
              <a:t>a cheap fast model does the plumbing; the strong one writes the answer</a:t>
            </a:r>
          </a:p>
        </p:txBody>
      </p:sp>
      <p:sp>
        <p:nvSpPr>
          <p:cNvPr id="29" name="TextBox 28"/>
          <p:cNvSpPr txBox="1"/>
          <p:nvPr/>
        </p:nvSpPr>
        <p:spPr>
          <a:xfrm>
            <a:off x="822960" y="5623560"/>
            <a:ext cx="10515600" cy="411480"/>
          </a:xfrm>
          <a:prstGeom prst="rect">
            <a:avLst/>
          </a:prstGeom>
          <a:noFill/>
        </p:spPr>
        <p:txBody>
          <a:bodyPr wrap="square" anchor="t" lIns="0" rIns="0" tIns="0" bIns="0">
            <a:spAutoFit/>
          </a:bodyPr>
          <a:lstStyle/>
          <a:p>
            <a:pPr algn="ctr"/>
            <a:r>
              <a:rPr sz="1250" b="0" i="1">
                <a:solidFill>
                  <a:srgbClr val="F5B342"/>
                </a:solidFill>
                <a:latin typeface="Segoe UI"/>
              </a:rPr>
              <a:t>The promise from slide 1, kept: skip them today, look them up the day you need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65760"/>
            <a:ext cx="7772400" cy="365760"/>
          </a:xfrm>
          <a:prstGeom prst="rect">
            <a:avLst/>
          </a:prstGeom>
          <a:noFill/>
        </p:spPr>
        <p:txBody>
          <a:bodyPr wrap="square" anchor="t" lIns="0" rIns="0" tIns="0" bIns="0">
            <a:spAutoFit/>
          </a:bodyPr>
          <a:lstStyle/>
          <a:p>
            <a:pPr algn="l"/>
            <a:r>
              <a:rPr sz="1250" b="1" i="0" spc="220">
                <a:solidFill>
                  <a:srgbClr val="2DD4BF"/>
                </a:solidFill>
                <a:latin typeface="Segoe UI"/>
              </a:rPr>
              <a:t>TAKE-AWAY</a:t>
            </a:r>
          </a:p>
        </p:txBody>
      </p:sp>
      <p:sp>
        <p:nvSpPr>
          <p:cNvPr id="5" name="TextBox 4"/>
          <p:cNvSpPr txBox="1"/>
          <p:nvPr/>
        </p:nvSpPr>
        <p:spPr>
          <a:xfrm>
            <a:off x="576072" y="676656"/>
            <a:ext cx="7863840" cy="822960"/>
          </a:xfrm>
          <a:prstGeom prst="rect">
            <a:avLst/>
          </a:prstGeom>
          <a:noFill/>
        </p:spPr>
        <p:txBody>
          <a:bodyPr wrap="square" anchor="t" lIns="0" rIns="0" tIns="0" bIns="0">
            <a:spAutoFit/>
          </a:bodyPr>
          <a:lstStyle/>
          <a:p>
            <a:pPr algn="l">
              <a:lnSpc>
                <a:spcPct val="100000"/>
              </a:lnSpc>
            </a:pPr>
            <a:r>
              <a:rPr sz="3000" b="1" i="0">
                <a:solidFill>
                  <a:srgbClr val="FFFFFF"/>
                </a:solidFill>
                <a:latin typeface="Segoe UI"/>
              </a:rPr>
              <a:t>Make it fit the domain</a:t>
            </a:r>
          </a:p>
        </p:txBody>
      </p:sp>
      <p:sp>
        <p:nvSpPr>
          <p:cNvPr id="6" name="Rounded Rectangle 5"/>
          <p:cNvSpPr/>
          <p:nvPr/>
        </p:nvSpPr>
        <p:spPr>
          <a:xfrm>
            <a:off x="621792" y="1371600"/>
            <a:ext cx="1188720" cy="54864"/>
          </a:xfrm>
          <a:prstGeom prst="roundRect">
            <a:avLst/>
          </a:prstGeom>
          <a:solidFill>
            <a:srgbClr val="F5B3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355080"/>
            <a:ext cx="12191695" cy="502920"/>
          </a:xfrm>
          <a:prstGeom prst="rect">
            <a:avLst/>
          </a:prstGeom>
          <a:solidFill>
            <a:srgbClr val="0F22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355080"/>
            <a:ext cx="12191695" cy="36576"/>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6355080"/>
            <a:ext cx="7315200" cy="502920"/>
          </a:xfrm>
          <a:prstGeom prst="rect">
            <a:avLst/>
          </a:prstGeom>
          <a:noFill/>
        </p:spPr>
        <p:txBody>
          <a:bodyPr wrap="square" anchor="ctr" lIns="0" rIns="0" tIns="0" bIns="0">
            <a:spAutoFit/>
          </a:bodyPr>
          <a:lstStyle/>
          <a:p>
            <a:pPr algn="l"/>
            <a:r>
              <a:rPr sz="1050" b="0" i="0">
                <a:solidFill>
                  <a:srgbClr val="9FB3C8"/>
                </a:solidFill>
                <a:latin typeface="Segoe UI"/>
              </a:rPr>
              <a:t>ICT108  ·  MetMate case study</a:t>
            </a:r>
          </a:p>
        </p:txBody>
      </p:sp>
      <p:sp>
        <p:nvSpPr>
          <p:cNvPr id="10" name="TextBox 9"/>
          <p:cNvSpPr txBox="1"/>
          <p:nvPr/>
        </p:nvSpPr>
        <p:spPr>
          <a:xfrm>
            <a:off x="1005840" y="2011680"/>
            <a:ext cx="10241280" cy="411480"/>
          </a:xfrm>
          <a:prstGeom prst="rect">
            <a:avLst/>
          </a:prstGeom>
          <a:noFill/>
        </p:spPr>
        <p:txBody>
          <a:bodyPr wrap="square" anchor="t" lIns="0" rIns="0" tIns="0" bIns="0">
            <a:spAutoFit/>
          </a:bodyPr>
          <a:lstStyle/>
          <a:p>
            <a:pPr algn="l"/>
            <a:r>
              <a:rPr sz="1350" b="0" i="1">
                <a:solidFill>
                  <a:srgbClr val="9FB3C8"/>
                </a:solidFill>
                <a:latin typeface="Segoe UI"/>
              </a:rPr>
              <a:t>The thought you held from the start: every domain adds needs no generic product anticipates. For example:</a:t>
            </a:r>
          </a:p>
        </p:txBody>
      </p:sp>
      <p:sp>
        <p:nvSpPr>
          <p:cNvPr id="11" name="Rounded Rectangle 10"/>
          <p:cNvSpPr/>
          <p:nvPr/>
        </p:nvSpPr>
        <p:spPr>
          <a:xfrm>
            <a:off x="822960" y="2606040"/>
            <a:ext cx="3362858" cy="1965960"/>
          </a:xfrm>
          <a:prstGeom prst="roundRect">
            <a:avLst>
              <a:gd name="adj" fmla="val 6000"/>
            </a:avLst>
          </a:prstGeom>
          <a:solidFill>
            <a:srgbClr val="142847"/>
          </a:solidFill>
          <a:ln w="1270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788920"/>
            <a:ext cx="2960522" cy="365760"/>
          </a:xfrm>
          <a:prstGeom prst="rect">
            <a:avLst/>
          </a:prstGeom>
          <a:noFill/>
        </p:spPr>
        <p:txBody>
          <a:bodyPr wrap="square" anchor="t" lIns="0" rIns="0" tIns="0" bIns="0">
            <a:spAutoFit/>
          </a:bodyPr>
          <a:lstStyle/>
          <a:p>
            <a:pPr algn="l"/>
            <a:r>
              <a:rPr sz="1500" b="1" i="0">
                <a:solidFill>
                  <a:srgbClr val="2DD4BF"/>
                </a:solidFill>
                <a:latin typeface="Segoe UI"/>
              </a:rPr>
              <a:t>GIS assistant</a:t>
            </a:r>
          </a:p>
        </p:txBody>
      </p:sp>
      <p:sp>
        <p:nvSpPr>
          <p:cNvPr id="13" name="TextBox 12"/>
          <p:cNvSpPr txBox="1"/>
          <p:nvPr/>
        </p:nvSpPr>
        <p:spPr>
          <a:xfrm>
            <a:off x="1024128" y="3246120"/>
            <a:ext cx="2960522" cy="1188720"/>
          </a:xfrm>
          <a:prstGeom prst="rect">
            <a:avLst/>
          </a:prstGeom>
          <a:noFill/>
        </p:spPr>
        <p:txBody>
          <a:bodyPr wrap="square" anchor="t" lIns="0" rIns="0" tIns="0" bIns="0">
            <a:spAutoFit/>
          </a:bodyPr>
          <a:lstStyle/>
          <a:p>
            <a:pPr algn="l">
              <a:lnSpc>
                <a:spcPct val="130000"/>
              </a:lnSpc>
            </a:pPr>
            <a:r>
              <a:rPr sz="1150" b="0" i="0">
                <a:solidFill>
                  <a:srgbClr val="FFFFFF"/>
                </a:solidFill>
                <a:latin typeface="Segoe UI"/>
              </a:rPr>
              <a:t>should know what the user is looking at right now — layers on, zoom, last click — not just answer from documents</a:t>
            </a:r>
          </a:p>
        </p:txBody>
      </p:sp>
      <p:sp>
        <p:nvSpPr>
          <p:cNvPr id="14" name="Rounded Rectangle 13"/>
          <p:cNvSpPr/>
          <p:nvPr/>
        </p:nvSpPr>
        <p:spPr>
          <a:xfrm>
            <a:off x="4414418" y="2606040"/>
            <a:ext cx="3362858" cy="19659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15586" y="2788920"/>
            <a:ext cx="2960522" cy="365760"/>
          </a:xfrm>
          <a:prstGeom prst="rect">
            <a:avLst/>
          </a:prstGeom>
          <a:noFill/>
        </p:spPr>
        <p:txBody>
          <a:bodyPr wrap="square" anchor="t" lIns="0" rIns="0" tIns="0" bIns="0">
            <a:spAutoFit/>
          </a:bodyPr>
          <a:lstStyle/>
          <a:p>
            <a:pPr algn="l"/>
            <a:r>
              <a:rPr sz="1500" b="1" i="0">
                <a:solidFill>
                  <a:srgbClr val="2DD4BF"/>
                </a:solidFill>
                <a:latin typeface="Segoe UI"/>
              </a:rPr>
              <a:t>Weather assistant</a:t>
            </a:r>
          </a:p>
        </p:txBody>
      </p:sp>
      <p:sp>
        <p:nvSpPr>
          <p:cNvPr id="16" name="TextBox 15"/>
          <p:cNvSpPr txBox="1"/>
          <p:nvPr/>
        </p:nvSpPr>
        <p:spPr>
          <a:xfrm>
            <a:off x="4615586" y="3246120"/>
            <a:ext cx="2960522" cy="1188720"/>
          </a:xfrm>
          <a:prstGeom prst="rect">
            <a:avLst/>
          </a:prstGeom>
          <a:noFill/>
        </p:spPr>
        <p:txBody>
          <a:bodyPr wrap="square" anchor="t" lIns="0" rIns="0" tIns="0" bIns="0">
            <a:spAutoFit/>
          </a:bodyPr>
          <a:lstStyle/>
          <a:p>
            <a:pPr algn="l">
              <a:lnSpc>
                <a:spcPct val="130000"/>
              </a:lnSpc>
            </a:pPr>
            <a:r>
              <a:rPr sz="1150" b="0" i="0">
                <a:solidFill>
                  <a:srgbClr val="FFFFFF"/>
                </a:solidFill>
                <a:latin typeface="Segoe UI"/>
              </a:rPr>
              <a:t>documents describe the past; its whole job is the future — forecasting must live inside it</a:t>
            </a:r>
          </a:p>
        </p:txBody>
      </p:sp>
      <p:sp>
        <p:nvSpPr>
          <p:cNvPr id="17" name="Rounded Rectangle 16"/>
          <p:cNvSpPr/>
          <p:nvPr/>
        </p:nvSpPr>
        <p:spPr>
          <a:xfrm>
            <a:off x="8005876" y="2606040"/>
            <a:ext cx="3362858" cy="1965960"/>
          </a:xfrm>
          <a:prstGeom prst="roundRect">
            <a:avLst>
              <a:gd name="adj" fmla="val 6000"/>
            </a:avLst>
          </a:prstGeom>
          <a:solidFill>
            <a:srgbClr val="142847"/>
          </a:solidFill>
          <a:ln w="12700">
            <a:solidFill>
              <a:srgbClr val="253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7044" y="2788920"/>
            <a:ext cx="2960522" cy="365760"/>
          </a:xfrm>
          <a:prstGeom prst="rect">
            <a:avLst/>
          </a:prstGeom>
          <a:noFill/>
        </p:spPr>
        <p:txBody>
          <a:bodyPr wrap="square" anchor="t" lIns="0" rIns="0" tIns="0" bIns="0">
            <a:spAutoFit/>
          </a:bodyPr>
          <a:lstStyle/>
          <a:p>
            <a:pPr algn="l"/>
            <a:r>
              <a:rPr sz="1500" b="1" i="0">
                <a:solidFill>
                  <a:srgbClr val="2DD4BF"/>
                </a:solidFill>
                <a:latin typeface="Segoe UI"/>
              </a:rPr>
              <a:t>Finance assistant</a:t>
            </a:r>
          </a:p>
        </p:txBody>
      </p:sp>
      <p:sp>
        <p:nvSpPr>
          <p:cNvPr id="19" name="TextBox 18"/>
          <p:cNvSpPr txBox="1"/>
          <p:nvPr/>
        </p:nvSpPr>
        <p:spPr>
          <a:xfrm>
            <a:off x="8207044" y="3246120"/>
            <a:ext cx="2960522" cy="1188720"/>
          </a:xfrm>
          <a:prstGeom prst="rect">
            <a:avLst/>
          </a:prstGeom>
          <a:noFill/>
        </p:spPr>
        <p:txBody>
          <a:bodyPr wrap="square" anchor="t" lIns="0" rIns="0" tIns="0" bIns="0">
            <a:spAutoFit/>
          </a:bodyPr>
          <a:lstStyle/>
          <a:p>
            <a:pPr algn="l">
              <a:lnSpc>
                <a:spcPct val="130000"/>
              </a:lnSpc>
            </a:pPr>
            <a:r>
              <a:rPr sz="1150" b="0" i="0">
                <a:solidFill>
                  <a:srgbClr val="FFFFFF"/>
                </a:solidFill>
                <a:latin typeface="Segoe UI"/>
              </a:rPr>
              <a:t>data moves all day — in idle time it analyses what changed and prepares answers people are about to ask</a:t>
            </a:r>
          </a:p>
        </p:txBody>
      </p:sp>
      <p:sp>
        <p:nvSpPr>
          <p:cNvPr id="20" name="TextBox 19"/>
          <p:cNvSpPr txBox="1"/>
          <p:nvPr/>
        </p:nvSpPr>
        <p:spPr>
          <a:xfrm>
            <a:off x="822960" y="4892040"/>
            <a:ext cx="10515600" cy="411480"/>
          </a:xfrm>
          <a:prstGeom prst="rect">
            <a:avLst/>
          </a:prstGeom>
          <a:noFill/>
        </p:spPr>
        <p:txBody>
          <a:bodyPr wrap="square" anchor="t" lIns="0" rIns="0" tIns="0" bIns="0">
            <a:spAutoFit/>
          </a:bodyPr>
          <a:lstStyle/>
          <a:p>
            <a:pPr algn="ctr"/>
            <a:r>
              <a:rPr sz="1400" b="0" i="1">
                <a:solidFill>
                  <a:srgbClr val="F5B342"/>
                </a:solidFill>
                <a:latin typeface="Segoe UI"/>
              </a:rPr>
              <a:t>The recipe is public — fitting it to a domain is the part that's yours to chase.</a:t>
            </a:r>
          </a:p>
        </p:txBody>
      </p:sp>
      <p:sp>
        <p:nvSpPr>
          <p:cNvPr id="21" name="TextBox 20"/>
          <p:cNvSpPr txBox="1"/>
          <p:nvPr/>
        </p:nvSpPr>
        <p:spPr>
          <a:xfrm>
            <a:off x="822960" y="5440680"/>
            <a:ext cx="10515600" cy="640080"/>
          </a:xfrm>
          <a:prstGeom prst="rect">
            <a:avLst/>
          </a:prstGeom>
          <a:noFill/>
        </p:spPr>
        <p:txBody>
          <a:bodyPr wrap="square" anchor="t" lIns="0" rIns="0" tIns="0" bIns="0">
            <a:spAutoFit/>
          </a:bodyPr>
          <a:lstStyle/>
          <a:p>
            <a:pPr algn="ctr"/>
            <a:r>
              <a:rPr sz="2600" b="1" i="0">
                <a:solidFill>
                  <a:srgbClr val="FFFFFF"/>
                </a:solidFill>
                <a:latin typeface="Segoe UI"/>
              </a:rP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