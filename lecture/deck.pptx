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everyone, thanks for having me. I'm Arif, Analyst Programmer at Wimmera CMA in regional Victoria. Over the past year I've built several AI-powered tools for my organisation, but only a handful of them ended up genuinely used to solve a real problem — the rest were experiments. One that's in real daily use is a chatbot. Today I want to walk you through what it actually takes to build one properly, using the real problems I ran into along the way. Since I can't share my workplace's internal documents publicly, we'll use a stand-in case study: imagine a chatbot for Sydney Met itself, answering student questions about enrolment, library, and exam rules. Let's call it MetMate. Same ideas, public-friendly example.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build anything, a fair question: chatbots are common now, so why doesn't everyone just grab one off the shelf, the way we grab Chrome for browsing? Nobody builds their own browser. Four reasons this is different, at least today. First, expectations are actually diversified — one organisation cares most about security and data residency, another about raw speed, another about cost, another about reliability under heavy use. A browser mostly just needs to render a page; a chatbot's bar depends entirely on who's asking. Second, this field is comparatively new, so common expectations aren't even well defined yet — there's no agreed checklist like there is for browsers. Third, 'no-code' chatbot builders exist that promise exactly this, but in my own experience they're more complicated to use well than they claim, and how far you can customise the behaviour is limited. Fourth, and I say this half-joking, this space moves so fast that a genuinely good ready-made bot might exist by the time we finish this lecture — but when I checked before preparing this, it wasn't there yet. So for now, if you want a chatbot that fits your exact constraints, you still have to build one, or at least understand how it's built well enough to steer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build MetMate from scratch, and at every step we'll do the lazy obvious thing first, watch it break, and let that break motivate the next idea. Step one: the laziest possible chatbot. Take an existing product like ChatGPT, upload the student handbook PDF, and start asking it questions. It genuinely works, for one document, one person, one paid seat. But look at what 'just use ChatGPT' actually means for an institution: to give this to every student, Sydney Met would either have to build its own ChatGPT-like product from scratch, or buy a paid subscription seat for every single student — and either way, the documents keep changing and thousands of students need answers at the same time. Neither option scales. We need something that serves everyone at once, from one shared, always-current source of truth. That's the real engineering problem starting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zoom into each concept one at a time, here's the full picture of what we're actually going to build, so you have a map to place each piece on as we go. Two halves. The top half happens once, ahead of time, before any student asks anything: every document gets broken up and organised into an index built around meaning, not exact words — that's what step two is about. The bottom half happens every single time a student asks a question, live: the question searches that index, pulls out a draft answer, and — this is the part that took the most work — checks that draft against the real source before it's ever shown to the student. Steps three, four, and five are really just zooming into different parts of that second row: how search finds the right passage, and how the system checks and knows what it does and doesn't actually know before it speaks. Keep this picture in your head; everything from here is detail on one box of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search across many documents automatically, the computer needs to understand what a question and a passage MEAN, not just whether the words match exactly. That's what an embedding does: it converts a piece of text into a list of numbers — think of it as plotting the text as a point in space, where meaning determines position. Texts about similar things land near each other, even without sharing any words. The classic illustration: take the point for 'queen', subtract the direction for 'female', add the direction for 'male', and you land close to 'king'. The model captured a real relationship purely from patterns in language, as geometry. Once every chunk of every document is turned into one of these points, and the student's question is turned into a point too, finding a relevant passage becomes: find the nearby points. That's the foundation everything else sits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search actually works: a student asks 'can I access the library 24/7?' and the system finds the passage that mentions '24/7' access most closely. But here's the trap: that passage only exists in a rule for exam period, buried in an appendix — the general everyday rule says the library is open 8am to 10pm, term time. Because the exam-period rule contains the exact phrase the question echoes, it gets pulled up and answered as if it always applies — a confident, wrong answer, sourced from a real document, based purely on words matching rather than whether that rule actually governs right now. This is the single most important failure mode of naive AI search: matching on keywords instead of relevance or scope. The fix is to make sure every retrieved passage carries the context of WHEN it applies — attach that condition directly to the passage when it's stored, so retrieval and the model both see it, not just the raw sentence. Get this wrong and your chatbot confidently tells students the wrong thing, which is almost worse than not answering at 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MetMate now avoids the wrong-rule trap. But a new failure shows up: a student asks 'how many kinds of special consideration are there for exams?' MetMate correctly lists them all — say six categories — because it has a master index, a table of contents of every rule section, and that index genuinely lists six. But then a safety check kicks in: a second pass verifies every claim against the actual passages retrieved for search. That check only had snippets for two of the six categories in hand, so it marks the other four 'unsupported' and throws the whole answer away — the bot tells the student 'I couldn't confidently find this', on a question it clearly could answer. The fix is to give that safety check two different sources of truth: use the master index as the authority for what EXISTS or how many there are, since it's built directly from the real documents, but still require an actual retrieved passage before trusting any DETAIL about one specific category. Existence and detail need different evidence. Miss that distinction and your bot becomes needlessly shy on exactly the questions it's best equipped to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steps three and four together and you get the real design principle behind a trustworthy chatbot: never let it show an answer it hasn't checked against the source first. Every draft answer goes through a verifier before the student ever sees it — did every claim actually come from a real, applicable rule? If yes, show it. If a claim doesn't check out, don't show it anyway — try again, maybe search once more with a refined question, and only if it genuinely still can't find solid grounding, tell the student honestly that it doesn't know, rather than guessing. That's the difference between a chatbot that sounds confident and one you can actually rely on. Confidence and correctness are not the same thing for a language model — it will happily generate a fluent, wrong answer unless you build a mechanism that catches it before publishing. This calibrated honesty — answer only when genuinely grounded, admit it when not — is really the whole reliability story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five steps, five instructive failures: uploading one PDF doesn't scale; raw keyword-ish search grabs confident wrong rules; a verifier without the right authority becomes needlessly shy; and the fix running through both is the same idea — give every piece of information the CONTEXT it needs, whether that's when a rule applies, or what actually counts as evidence. That's what took this project from a demo to something people actually rely on daily. Happy to take questions, on any of these five steps, or anything else about how AI systems like this get built in practice.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417320"/>
            <a:ext cx="10515600" cy="365760"/>
          </a:xfrm>
          <a:prstGeom prst="rect">
            <a:avLst/>
          </a:prstGeom>
          <a:noFill/>
        </p:spPr>
        <p:txBody>
          <a:bodyPr wrap="square" anchor="t" lIns="0" rIns="0" tIns="0" bIns="0">
            <a:spAutoFit/>
          </a:bodyPr>
          <a:lstStyle/>
          <a:p>
            <a:pPr algn="l"/>
            <a:r>
              <a:rPr sz="1300" b="1" i="0" spc="240">
                <a:solidFill>
                  <a:srgbClr val="2DD4BF"/>
                </a:solidFill>
                <a:latin typeface="Segoe UI"/>
              </a:rPr>
              <a:t>GUEST LECTURE   ·   ICT108</a:t>
            </a:r>
          </a:p>
        </p:txBody>
      </p:sp>
      <p:sp>
        <p:nvSpPr>
          <p:cNvPr id="5" name="TextBox 4"/>
          <p:cNvSpPr txBox="1"/>
          <p:nvPr/>
        </p:nvSpPr>
        <p:spPr>
          <a:xfrm>
            <a:off x="566928" y="1828800"/>
            <a:ext cx="10972800" cy="1188720"/>
          </a:xfrm>
          <a:prstGeom prst="rect">
            <a:avLst/>
          </a:prstGeom>
          <a:noFill/>
        </p:spPr>
        <p:txBody>
          <a:bodyPr wrap="square" anchor="t" lIns="0" rIns="0" tIns="0" bIns="0">
            <a:spAutoFit/>
          </a:bodyPr>
          <a:lstStyle/>
          <a:p>
            <a:pPr algn="l">
              <a:lnSpc>
                <a:spcPct val="100000"/>
              </a:lnSpc>
            </a:pPr>
            <a:r>
              <a:rPr sz="4800" b="1" i="0">
                <a:solidFill>
                  <a:srgbClr val="FFFFFF"/>
                </a:solidFill>
                <a:latin typeface="Segoe UI"/>
              </a:rPr>
              <a:t>Talk to Your Documents</a:t>
            </a:r>
          </a:p>
        </p:txBody>
      </p:sp>
      <p:sp>
        <p:nvSpPr>
          <p:cNvPr id="6" name="Rounded Rectangle 5"/>
          <p:cNvSpPr/>
          <p:nvPr/>
        </p:nvSpPr>
        <p:spPr>
          <a:xfrm>
            <a:off x="621792" y="2788920"/>
            <a:ext cx="1737360" cy="73152"/>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3017520"/>
            <a:ext cx="10515600" cy="640080"/>
          </a:xfrm>
          <a:prstGeom prst="rect">
            <a:avLst/>
          </a:prstGeom>
          <a:noFill/>
        </p:spPr>
        <p:txBody>
          <a:bodyPr wrap="square" anchor="t" lIns="0" rIns="0" tIns="0" bIns="0">
            <a:spAutoFit/>
          </a:bodyPr>
          <a:lstStyle/>
          <a:p>
            <a:pPr algn="l">
              <a:lnSpc>
                <a:spcPct val="110000"/>
              </a:lnSpc>
            </a:pPr>
            <a:r>
              <a:rPr sz="1800" b="0" i="0">
                <a:solidFill>
                  <a:srgbClr val="9FB3C8"/>
                </a:solidFill>
                <a:latin typeface="Segoe UI"/>
              </a:rPr>
              <a:t>Building an AI assistant that answers only from your documents.</a:t>
            </a:r>
          </a:p>
        </p:txBody>
      </p:sp>
      <p:sp>
        <p:nvSpPr>
          <p:cNvPr id="8" name="TextBox 7"/>
          <p:cNvSpPr txBox="1"/>
          <p:nvPr/>
        </p:nvSpPr>
        <p:spPr>
          <a:xfrm>
            <a:off x="594360" y="3931920"/>
            <a:ext cx="7772400" cy="457200"/>
          </a:xfrm>
          <a:prstGeom prst="rect">
            <a:avLst/>
          </a:prstGeom>
          <a:noFill/>
        </p:spPr>
        <p:txBody>
          <a:bodyPr wrap="square" anchor="t" lIns="0" rIns="0" tIns="0" bIns="0">
            <a:spAutoFit/>
          </a:bodyPr>
          <a:lstStyle/>
          <a:p>
            <a:pPr algn="l"/>
            <a:r>
              <a:rPr sz="1500" b="1" i="0">
                <a:solidFill>
                  <a:srgbClr val="2DD4BF"/>
                </a:solidFill>
                <a:latin typeface="Segoe UI"/>
              </a:rPr>
              <a:t>Case study: MetMate</a:t>
            </a:r>
          </a:p>
        </p:txBody>
      </p:sp>
      <p:sp>
        <p:nvSpPr>
          <p:cNvPr id="9" name="TextBox 8"/>
          <p:cNvSpPr txBox="1"/>
          <p:nvPr/>
        </p:nvSpPr>
        <p:spPr>
          <a:xfrm>
            <a:off x="594360" y="4343400"/>
            <a:ext cx="8686800" cy="457200"/>
          </a:xfrm>
          <a:prstGeom prst="rect">
            <a:avLst/>
          </a:prstGeom>
          <a:noFill/>
        </p:spPr>
        <p:txBody>
          <a:bodyPr wrap="square" anchor="t" lIns="0" rIns="0" tIns="0" bIns="0">
            <a:spAutoFit/>
          </a:bodyPr>
          <a:lstStyle/>
          <a:p>
            <a:pPr algn="l"/>
            <a:r>
              <a:rPr sz="1300" b="0" i="1">
                <a:solidFill>
                  <a:srgbClr val="9FB3C8"/>
                </a:solidFill>
                <a:latin typeface="Segoe UI"/>
              </a:rPr>
              <a:t>A chatbot answering student questions about Sydney Met's rules.</a:t>
            </a:r>
          </a:p>
        </p:txBody>
      </p:sp>
      <p:pic>
        <p:nvPicPr>
          <p:cNvPr id="10" name="Picture 9" descr="logo-wimmera-white.png"/>
          <p:cNvPicPr>
            <a:picLocks noChangeAspect="1"/>
          </p:cNvPicPr>
          <p:nvPr/>
        </p:nvPicPr>
        <p:blipFill>
          <a:blip r:embed="rId2"/>
          <a:stretch>
            <a:fillRect/>
          </a:stretch>
        </p:blipFill>
        <p:spPr>
          <a:xfrm>
            <a:off x="10269748" y="457200"/>
            <a:ext cx="1373307" cy="1005840"/>
          </a:xfrm>
          <a:prstGeom prst="rect">
            <a:avLst/>
          </a:prstGeom>
        </p:spPr>
      </p:pic>
      <p:sp>
        <p:nvSpPr>
          <p:cNvPr id="11" name="Rectangle 10"/>
          <p:cNvSpPr/>
          <p:nvPr/>
        </p:nvSpPr>
        <p:spPr>
          <a:xfrm>
            <a:off x="0" y="6035040"/>
            <a:ext cx="12191695" cy="82296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6035040"/>
            <a:ext cx="12191695" cy="4572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6035040"/>
            <a:ext cx="6400800" cy="822960"/>
          </a:xfrm>
          <a:prstGeom prst="rect">
            <a:avLst/>
          </a:prstGeom>
          <a:noFill/>
        </p:spPr>
        <p:txBody>
          <a:bodyPr wrap="square" anchor="ctr" lIns="0" rIns="0" tIns="0" bIns="0">
            <a:spAutoFit/>
          </a:bodyPr>
          <a:lstStyle/>
          <a:p>
            <a:pPr algn="l"/>
            <a:r>
              <a:rPr sz="1300" b="0" i="0">
                <a:solidFill>
                  <a:srgbClr val="FFFFFF"/>
                </a:solidFill>
                <a:latin typeface="Segoe UI"/>
              </a:rPr>
              <a:t>Tuesday 14 July 2026, 2–3 PM</a:t>
            </a:r>
          </a:p>
        </p:txBody>
      </p:sp>
      <p:sp>
        <p:nvSpPr>
          <p:cNvPr id="14" name="TextBox 13"/>
          <p:cNvSpPr txBox="1"/>
          <p:nvPr/>
        </p:nvSpPr>
        <p:spPr>
          <a:xfrm>
            <a:off x="5486400" y="6035040"/>
            <a:ext cx="6108192" cy="822960"/>
          </a:xfrm>
          <a:prstGeom prst="rect">
            <a:avLst/>
          </a:prstGeom>
          <a:noFill/>
        </p:spPr>
        <p:txBody>
          <a:bodyPr wrap="square" anchor="ctr">
            <a:spAutoFit/>
          </a:bodyPr>
          <a:lstStyle/>
          <a:p>
            <a:pPr algn="r"/>
            <a:r>
              <a:rPr sz="1350" b="1">
                <a:solidFill>
                  <a:srgbClr val="2DD4BF"/>
                </a:solidFill>
                <a:latin typeface="Segoe UI"/>
              </a:rPr>
              <a:t>Dr Mohammad Arifur Rahman</a:t>
            </a:r>
          </a:p>
          <a:p>
            <a:pPr algn="r"/>
            <a:r>
              <a:rPr sz="1050">
                <a:solidFill>
                  <a:srgbClr val="9FB3C8"/>
                </a:solidFill>
                <a:latin typeface="Segoe UI"/>
              </a:rPr>
              <a:t>Analyst Programmer  ·  Wimmera CMA, Victoria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10515600" cy="365760"/>
          </a:xfrm>
          <a:prstGeom prst="rect">
            <a:avLst/>
          </a:prstGeom>
          <a:noFill/>
        </p:spPr>
        <p:txBody>
          <a:bodyPr wrap="square" anchor="t" lIns="0" rIns="0" tIns="0" bIns="0">
            <a:spAutoFit/>
          </a:bodyPr>
          <a:lstStyle/>
          <a:p>
            <a:pPr algn="l"/>
            <a:r>
              <a:rPr sz="1250" b="1" i="0" spc="220">
                <a:solidFill>
                  <a:srgbClr val="2DD4BF"/>
                </a:solidFill>
                <a:latin typeface="Segoe UI"/>
              </a:rPr>
              <a:t>WARM-UP</a:t>
            </a:r>
          </a:p>
        </p:txBody>
      </p:sp>
      <p:sp>
        <p:nvSpPr>
          <p:cNvPr id="5" name="TextBox 4"/>
          <p:cNvSpPr txBox="1"/>
          <p:nvPr/>
        </p:nvSpPr>
        <p:spPr>
          <a:xfrm>
            <a:off x="576072" y="676656"/>
            <a:ext cx="10515600" cy="822960"/>
          </a:xfrm>
          <a:prstGeom prst="rect">
            <a:avLst/>
          </a:prstGeom>
          <a:noFill/>
        </p:spPr>
        <p:txBody>
          <a:bodyPr wrap="square" anchor="t" lIns="0" rIns="0" tIns="0" bIns="0">
            <a:spAutoFit/>
          </a:bodyPr>
          <a:lstStyle/>
          <a:p>
            <a:pPr algn="l">
              <a:lnSpc>
                <a:spcPct val="100000"/>
              </a:lnSpc>
            </a:pPr>
            <a:r>
              <a:rPr sz="3200" b="1" i="0">
                <a:solidFill>
                  <a:srgbClr val="FFFFFF"/>
                </a:solidFill>
                <a:latin typeface="Segoe UI"/>
              </a:rPr>
              <a:t>Why not just use an existing chatbot?</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355080"/>
            <a:ext cx="7315200" cy="502920"/>
          </a:xfrm>
          <a:prstGeom prst="rect">
            <a:avLst/>
          </a:prstGeom>
          <a:noFill/>
        </p:spPr>
        <p:txBody>
          <a:bodyPr wrap="square" anchor="ctr" lIns="0" rIns="0" tIns="0" bIns="0">
            <a:spAutoFit/>
          </a:bodyPr>
          <a:lstStyle/>
          <a:p>
            <a:pPr algn="l"/>
            <a:r>
              <a:rPr sz="1050" b="0" i="0">
                <a:solidFill>
                  <a:srgbClr val="9FB3C8"/>
                </a:solidFill>
                <a:latin typeface="Segoe UI"/>
              </a:rPr>
              <a:t>ICT108  ·  MetMate case study</a:t>
            </a:r>
          </a:p>
        </p:txBody>
      </p:sp>
      <p:sp>
        <p:nvSpPr>
          <p:cNvPr id="10" name="Oval 9"/>
          <p:cNvSpPr/>
          <p:nvPr/>
        </p:nvSpPr>
        <p:spPr>
          <a:xfrm>
            <a:off x="2697480" y="1737360"/>
            <a:ext cx="1188720" cy="1188720"/>
          </a:xfrm>
          <a:prstGeom prst="ellipse">
            <a:avLst/>
          </a:prstGeom>
          <a:solidFill>
            <a:srgbClr val="142847"/>
          </a:solidFill>
          <a:ln w="1905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77440" y="2103120"/>
            <a:ext cx="1828800" cy="457200"/>
          </a:xfrm>
          <a:prstGeom prst="rect">
            <a:avLst/>
          </a:prstGeom>
          <a:noFill/>
        </p:spPr>
        <p:txBody>
          <a:bodyPr wrap="square" anchor="ctr" lIns="0" rIns="0" tIns="0" bIns="0">
            <a:spAutoFit/>
          </a:bodyPr>
          <a:lstStyle/>
          <a:p>
            <a:pPr algn="ctr"/>
            <a:r>
              <a:rPr sz="1800" b="1" i="0">
                <a:solidFill>
                  <a:srgbClr val="FFFFFF"/>
                </a:solidFill>
                <a:latin typeface="Segoe UI"/>
              </a:rPr>
              <a:t>Chrome</a:t>
            </a:r>
          </a:p>
        </p:txBody>
      </p:sp>
      <p:sp>
        <p:nvSpPr>
          <p:cNvPr id="12" name="TextBox 11"/>
          <p:cNvSpPr txBox="1"/>
          <p:nvPr/>
        </p:nvSpPr>
        <p:spPr>
          <a:xfrm>
            <a:off x="1828800" y="3108960"/>
            <a:ext cx="2926080" cy="457200"/>
          </a:xfrm>
          <a:prstGeom prst="rect">
            <a:avLst/>
          </a:prstGeom>
          <a:noFill/>
        </p:spPr>
        <p:txBody>
          <a:bodyPr wrap="square" anchor="t" lIns="0" rIns="0" tIns="0" bIns="0">
            <a:spAutoFit/>
          </a:bodyPr>
          <a:lstStyle/>
          <a:p>
            <a:pPr algn="ctr"/>
            <a:r>
              <a:rPr sz="1100" b="0" i="1">
                <a:solidFill>
                  <a:srgbClr val="9FB3C8"/>
                </a:solidFill>
                <a:latin typeface="Segoe UI"/>
              </a:rPr>
              <a:t>common software — we don't build our own</a:t>
            </a:r>
          </a:p>
        </p:txBody>
      </p:sp>
      <p:sp>
        <p:nvSpPr>
          <p:cNvPr id="13" name="Oval 12"/>
          <p:cNvSpPr/>
          <p:nvPr/>
        </p:nvSpPr>
        <p:spPr>
          <a:xfrm>
            <a:off x="8275319" y="1737360"/>
            <a:ext cx="1188720" cy="1188720"/>
          </a:xfrm>
          <a:prstGeom prst="ellipse">
            <a:avLst/>
          </a:prstGeom>
          <a:solidFill>
            <a:srgbClr val="142847"/>
          </a:solidFill>
          <a:ln w="1905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79" y="2103120"/>
            <a:ext cx="1828800" cy="457200"/>
          </a:xfrm>
          <a:prstGeom prst="rect">
            <a:avLst/>
          </a:prstGeom>
          <a:noFill/>
        </p:spPr>
        <p:txBody>
          <a:bodyPr wrap="square" anchor="ctr" lIns="0" rIns="0" tIns="0" bIns="0">
            <a:spAutoFit/>
          </a:bodyPr>
          <a:lstStyle/>
          <a:p>
            <a:pPr algn="ctr"/>
            <a:r>
              <a:rPr sz="1800" b="1" i="0">
                <a:solidFill>
                  <a:srgbClr val="FFFFFF"/>
                </a:solidFill>
                <a:latin typeface="Segoe UI"/>
              </a:rPr>
              <a:t>Chatbot</a:t>
            </a:r>
          </a:p>
        </p:txBody>
      </p:sp>
      <p:sp>
        <p:nvSpPr>
          <p:cNvPr id="15" name="TextBox 14"/>
          <p:cNvSpPr txBox="1"/>
          <p:nvPr/>
        </p:nvSpPr>
        <p:spPr>
          <a:xfrm>
            <a:off x="7406640" y="3108960"/>
            <a:ext cx="2926080" cy="457200"/>
          </a:xfrm>
          <a:prstGeom prst="rect">
            <a:avLst/>
          </a:prstGeom>
          <a:noFill/>
        </p:spPr>
        <p:txBody>
          <a:bodyPr wrap="square" anchor="t" lIns="0" rIns="0" tIns="0" bIns="0">
            <a:spAutoFit/>
          </a:bodyPr>
          <a:lstStyle/>
          <a:p>
            <a:pPr algn="ctr"/>
            <a:r>
              <a:rPr sz="1100" b="0" i="1">
                <a:solidFill>
                  <a:srgbClr val="9FB3C8"/>
                </a:solidFill>
                <a:latin typeface="Segoe UI"/>
              </a:rPr>
              <a:t>...but this, we often build ourselves?</a:t>
            </a:r>
          </a:p>
        </p:txBody>
      </p:sp>
      <p:sp>
        <p:nvSpPr>
          <p:cNvPr id="16" name="TextBox 15"/>
          <p:cNvSpPr txBox="1"/>
          <p:nvPr/>
        </p:nvSpPr>
        <p:spPr>
          <a:xfrm>
            <a:off x="4023360" y="2194560"/>
            <a:ext cx="4114800" cy="457200"/>
          </a:xfrm>
          <a:prstGeom prst="rect">
            <a:avLst/>
          </a:prstGeom>
          <a:noFill/>
        </p:spPr>
        <p:txBody>
          <a:bodyPr wrap="square" anchor="ctr" lIns="0" rIns="0" tIns="0" bIns="0">
            <a:spAutoFit/>
          </a:bodyPr>
          <a:lstStyle/>
          <a:p>
            <a:pPr algn="ctr"/>
            <a:r>
              <a:rPr sz="2200" b="1" i="0">
                <a:solidFill>
                  <a:srgbClr val="9FB3C8"/>
                </a:solidFill>
                <a:latin typeface="Segoe UI"/>
              </a:rPr>
              <a:t>vs.</a:t>
            </a:r>
          </a:p>
        </p:txBody>
      </p:sp>
      <p:sp>
        <p:nvSpPr>
          <p:cNvPr id="17" name="Oval 16"/>
          <p:cNvSpPr/>
          <p:nvPr/>
        </p:nvSpPr>
        <p:spPr>
          <a:xfrm>
            <a:off x="859536" y="396849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B1B33"/>
                </a:solidFill>
                <a:latin typeface="Segoe UI"/>
              </a:rPr>
              <a:t>1</a:t>
            </a:r>
          </a:p>
        </p:txBody>
      </p:sp>
      <p:sp>
        <p:nvSpPr>
          <p:cNvPr id="18" name="TextBox 17"/>
          <p:cNvSpPr txBox="1"/>
          <p:nvPr/>
        </p:nvSpPr>
        <p:spPr>
          <a:xfrm>
            <a:off x="1417320" y="3977639"/>
            <a:ext cx="9418320" cy="502920"/>
          </a:xfrm>
          <a:prstGeom prst="rect">
            <a:avLst/>
          </a:prstGeom>
          <a:noFill/>
        </p:spPr>
        <p:txBody>
          <a:bodyPr wrap="square" anchor="ctr" lIns="0" rIns="0" tIns="0" bIns="0">
            <a:spAutoFit/>
          </a:bodyPr>
          <a:lstStyle/>
          <a:p>
            <a:pPr algn="l"/>
            <a:r>
              <a:rPr sz="1500" b="0" i="0">
                <a:solidFill>
                  <a:srgbClr val="FFFFFF"/>
                </a:solidFill>
                <a:latin typeface="Segoe UI"/>
              </a:rPr>
              <a:t>Expectations are diversified: security, reliability, speed, cost</a:t>
            </a:r>
          </a:p>
        </p:txBody>
      </p:sp>
      <p:sp>
        <p:nvSpPr>
          <p:cNvPr id="19" name="Oval 18"/>
          <p:cNvSpPr/>
          <p:nvPr/>
        </p:nvSpPr>
        <p:spPr>
          <a:xfrm>
            <a:off x="859536" y="4535424"/>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B1B33"/>
                </a:solidFill>
                <a:latin typeface="Segoe UI"/>
              </a:rPr>
              <a:t>2</a:t>
            </a:r>
          </a:p>
        </p:txBody>
      </p:sp>
      <p:sp>
        <p:nvSpPr>
          <p:cNvPr id="20" name="TextBox 19"/>
          <p:cNvSpPr txBox="1"/>
          <p:nvPr/>
        </p:nvSpPr>
        <p:spPr>
          <a:xfrm>
            <a:off x="1417320" y="4544568"/>
            <a:ext cx="9418320" cy="502920"/>
          </a:xfrm>
          <a:prstGeom prst="rect">
            <a:avLst/>
          </a:prstGeom>
          <a:noFill/>
        </p:spPr>
        <p:txBody>
          <a:bodyPr wrap="square" anchor="ctr" lIns="0" rIns="0" tIns="0" bIns="0">
            <a:spAutoFit/>
          </a:bodyPr>
          <a:lstStyle/>
          <a:p>
            <a:pPr algn="l"/>
            <a:r>
              <a:rPr sz="1500" b="0" i="0">
                <a:solidFill>
                  <a:srgbClr val="FFFFFF"/>
                </a:solidFill>
                <a:latin typeface="Segoe UI"/>
              </a:rPr>
              <a:t>The field is young — common expectations aren't well defined yet</a:t>
            </a:r>
          </a:p>
        </p:txBody>
      </p:sp>
      <p:sp>
        <p:nvSpPr>
          <p:cNvPr id="21" name="Oval 20"/>
          <p:cNvSpPr/>
          <p:nvPr/>
        </p:nvSpPr>
        <p:spPr>
          <a:xfrm>
            <a:off x="859536" y="5102352"/>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B1B33"/>
                </a:solidFill>
                <a:latin typeface="Segoe UI"/>
              </a:rPr>
              <a:t>3</a:t>
            </a:r>
          </a:p>
        </p:txBody>
      </p:sp>
      <p:sp>
        <p:nvSpPr>
          <p:cNvPr id="22" name="TextBox 21"/>
          <p:cNvSpPr txBox="1"/>
          <p:nvPr/>
        </p:nvSpPr>
        <p:spPr>
          <a:xfrm>
            <a:off x="1417320" y="5111496"/>
            <a:ext cx="9418320" cy="502920"/>
          </a:xfrm>
          <a:prstGeom prst="rect">
            <a:avLst/>
          </a:prstGeom>
          <a:noFill/>
        </p:spPr>
        <p:txBody>
          <a:bodyPr wrap="square" anchor="ctr" lIns="0" rIns="0" tIns="0" bIns="0">
            <a:spAutoFit/>
          </a:bodyPr>
          <a:lstStyle/>
          <a:p>
            <a:pPr algn="l"/>
            <a:r>
              <a:rPr sz="1500" b="0" i="0">
                <a:solidFill>
                  <a:srgbClr val="FFFFFF"/>
                </a:solidFill>
                <a:latin typeface="Segoe UI"/>
              </a:rPr>
              <a:t>"No-code" builders exist — more complicated in practice, limited customisation</a:t>
            </a:r>
          </a:p>
        </p:txBody>
      </p:sp>
      <p:sp>
        <p:nvSpPr>
          <p:cNvPr id="23" name="Oval 22"/>
          <p:cNvSpPr/>
          <p:nvPr/>
        </p:nvSpPr>
        <p:spPr>
          <a:xfrm>
            <a:off x="859536" y="5669279"/>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B1B33"/>
                </a:solidFill>
                <a:latin typeface="Segoe UI"/>
              </a:rPr>
              <a:t>4</a:t>
            </a:r>
          </a:p>
        </p:txBody>
      </p:sp>
      <p:sp>
        <p:nvSpPr>
          <p:cNvPr id="24" name="TextBox 23"/>
          <p:cNvSpPr txBox="1"/>
          <p:nvPr/>
        </p:nvSpPr>
        <p:spPr>
          <a:xfrm>
            <a:off x="1417320" y="5678423"/>
            <a:ext cx="9418320" cy="502920"/>
          </a:xfrm>
          <a:prstGeom prst="rect">
            <a:avLst/>
          </a:prstGeom>
          <a:noFill/>
        </p:spPr>
        <p:txBody>
          <a:bodyPr wrap="square" anchor="ctr" lIns="0" rIns="0" tIns="0" bIns="0">
            <a:spAutoFit/>
          </a:bodyPr>
          <a:lstStyle/>
          <a:p>
            <a:pPr algn="l"/>
            <a:r>
              <a:rPr sz="1500" b="0" i="0">
                <a:solidFill>
                  <a:srgbClr val="FFFFFF"/>
                </a:solidFill>
                <a:latin typeface="Segoe UI"/>
              </a:rPr>
              <a:t>It moves so fast, check again tomorrow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10515600" cy="365760"/>
          </a:xfrm>
          <a:prstGeom prst="rect">
            <a:avLst/>
          </a:prstGeom>
          <a:noFill/>
        </p:spPr>
        <p:txBody>
          <a:bodyPr wrap="square" anchor="t" lIns="0" rIns="0" tIns="0" bIns="0">
            <a:spAutoFit/>
          </a:bodyPr>
          <a:lstStyle/>
          <a:p>
            <a:pPr algn="l"/>
            <a:r>
              <a:rPr sz="1250" b="1" i="0" spc="220">
                <a:solidFill>
                  <a:srgbClr val="2DD4BF"/>
                </a:solidFill>
                <a:latin typeface="Segoe UI"/>
              </a:rPr>
              <a:t>STEP 1 OF 5</a:t>
            </a:r>
          </a:p>
        </p:txBody>
      </p:sp>
      <p:sp>
        <p:nvSpPr>
          <p:cNvPr id="5" name="TextBox 4"/>
          <p:cNvSpPr txBox="1"/>
          <p:nvPr/>
        </p:nvSpPr>
        <p:spPr>
          <a:xfrm>
            <a:off x="576072" y="676656"/>
            <a:ext cx="10515600" cy="822960"/>
          </a:xfrm>
          <a:prstGeom prst="rect">
            <a:avLst/>
          </a:prstGeom>
          <a:noFill/>
        </p:spPr>
        <p:txBody>
          <a:bodyPr wrap="square" anchor="t" lIns="0" rIns="0" tIns="0" bIns="0">
            <a:spAutoFit/>
          </a:bodyPr>
          <a:lstStyle/>
          <a:p>
            <a:pPr algn="l">
              <a:lnSpc>
                <a:spcPct val="100000"/>
              </a:lnSpc>
            </a:pPr>
            <a:r>
              <a:rPr sz="3200" b="1" i="0">
                <a:solidFill>
                  <a:srgbClr val="FFFFFF"/>
                </a:solidFill>
                <a:latin typeface="Segoe UI"/>
              </a:rPr>
              <a:t>Upload it to ChatGPT</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355080"/>
            <a:ext cx="7315200" cy="502920"/>
          </a:xfrm>
          <a:prstGeom prst="rect">
            <a:avLst/>
          </a:prstGeom>
          <a:noFill/>
        </p:spPr>
        <p:txBody>
          <a:bodyPr wrap="square" anchor="ctr" lIns="0" rIns="0" tIns="0" bIns="0">
            <a:spAutoFit/>
          </a:bodyPr>
          <a:lstStyle/>
          <a:p>
            <a:pPr algn="l"/>
            <a:r>
              <a:rPr sz="1050" b="0" i="0">
                <a:solidFill>
                  <a:srgbClr val="9FB3C8"/>
                </a:solidFill>
                <a:latin typeface="Segoe UI"/>
              </a:rPr>
              <a:t>ICT108  ·  MetMate case study</a:t>
            </a:r>
          </a:p>
        </p:txBody>
      </p:sp>
      <p:sp>
        <p:nvSpPr>
          <p:cNvPr id="10" name="Oval 9"/>
          <p:cNvSpPr/>
          <p:nvPr/>
        </p:nvSpPr>
        <p:spPr>
          <a:xfrm>
            <a:off x="685800" y="1417319"/>
            <a:ext cx="640080" cy="640080"/>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0B1B33"/>
                </a:solidFill>
                <a:latin typeface="Segoe UI"/>
              </a:rPr>
              <a:t>1</a:t>
            </a:r>
          </a:p>
        </p:txBody>
      </p:sp>
      <p:sp>
        <p:nvSpPr>
          <p:cNvPr id="11" name="Rounded Rectangle 10"/>
          <p:cNvSpPr/>
          <p:nvPr/>
        </p:nvSpPr>
        <p:spPr>
          <a:xfrm>
            <a:off x="7863840" y="1417320"/>
            <a:ext cx="3703320" cy="50292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1417320"/>
            <a:ext cx="3474720" cy="502920"/>
          </a:xfrm>
          <a:prstGeom prst="rect">
            <a:avLst/>
          </a:prstGeom>
          <a:noFill/>
        </p:spPr>
        <p:txBody>
          <a:bodyPr wrap="square" anchor="ctr" lIns="0" rIns="0" tIns="0" bIns="0">
            <a:spAutoFit/>
          </a:bodyPr>
          <a:lstStyle/>
          <a:p>
            <a:pPr algn="l"/>
            <a:r>
              <a:rPr sz="1150" b="1" i="1">
                <a:solidFill>
                  <a:srgbClr val="E06C6C"/>
                </a:solidFill>
                <a:latin typeface="Segoe UI"/>
              </a:rPr>
              <a:t>✗ can't scale to everyone</a:t>
            </a:r>
          </a:p>
        </p:txBody>
      </p:sp>
      <p:sp>
        <p:nvSpPr>
          <p:cNvPr id="13" name="TextBox 12"/>
          <p:cNvSpPr txBox="1"/>
          <p:nvPr/>
        </p:nvSpPr>
        <p:spPr>
          <a:xfrm>
            <a:off x="1005840" y="2331720"/>
            <a:ext cx="9601200" cy="457200"/>
          </a:xfrm>
          <a:prstGeom prst="rect">
            <a:avLst/>
          </a:prstGeom>
          <a:noFill/>
        </p:spPr>
        <p:txBody>
          <a:bodyPr wrap="square" anchor="t" lIns="0" rIns="0" tIns="0" bIns="0">
            <a:spAutoFit/>
          </a:bodyPr>
          <a:lstStyle/>
          <a:p>
            <a:pPr algn="l"/>
            <a:r>
              <a:rPr sz="1500" b="0" i="1">
                <a:solidFill>
                  <a:srgbClr val="9FB3C8"/>
                </a:solidFill>
                <a:latin typeface="Segoe UI"/>
              </a:rPr>
              <a:t>The obvious first move: just upload the document to an existing chatbot.</a:t>
            </a:r>
          </a:p>
        </p:txBody>
      </p:sp>
      <p:sp>
        <p:nvSpPr>
          <p:cNvPr id="14" name="Rounded Rectangle 13"/>
          <p:cNvSpPr/>
          <p:nvPr/>
        </p:nvSpPr>
        <p:spPr>
          <a:xfrm>
            <a:off x="1463040" y="2971800"/>
            <a:ext cx="2011680" cy="219456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91640" y="3200400"/>
            <a:ext cx="1554480" cy="365760"/>
          </a:xfrm>
          <a:prstGeom prst="rect">
            <a:avLst/>
          </a:prstGeom>
          <a:noFill/>
        </p:spPr>
        <p:txBody>
          <a:bodyPr wrap="square" anchor="t" lIns="0" rIns="0" tIns="0" bIns="0">
            <a:spAutoFit/>
          </a:bodyPr>
          <a:lstStyle/>
          <a:p>
            <a:pPr algn="ctr"/>
            <a:r>
              <a:rPr sz="1200" b="0" i="0">
                <a:solidFill>
                  <a:srgbClr val="9FB3C8"/>
                </a:solidFill>
                <a:latin typeface="Segoe UI"/>
              </a:rPr>
              <a:t>student</a:t>
            </a:r>
          </a:p>
        </p:txBody>
      </p:sp>
      <p:sp>
        <p:nvSpPr>
          <p:cNvPr id="16" name="TextBox 15"/>
          <p:cNvSpPr txBox="1"/>
          <p:nvPr/>
        </p:nvSpPr>
        <p:spPr>
          <a:xfrm>
            <a:off x="1691640" y="3456432"/>
            <a:ext cx="1554480" cy="365760"/>
          </a:xfrm>
          <a:prstGeom prst="rect">
            <a:avLst/>
          </a:prstGeom>
          <a:noFill/>
        </p:spPr>
        <p:txBody>
          <a:bodyPr wrap="square" anchor="t" lIns="0" rIns="0" tIns="0" bIns="0">
            <a:spAutoFit/>
          </a:bodyPr>
          <a:lstStyle/>
          <a:p>
            <a:pPr algn="ctr"/>
            <a:r>
              <a:rPr sz="1300" b="1" i="0">
                <a:solidFill>
                  <a:srgbClr val="FFFFFF"/>
                </a:solidFill>
                <a:latin typeface="Segoe UI"/>
              </a:rPr>
              <a:t>handbook.pdf</a:t>
            </a:r>
          </a:p>
        </p:txBody>
      </p:sp>
      <p:sp>
        <p:nvSpPr>
          <p:cNvPr id="17" name="Rectangle 16"/>
          <p:cNvSpPr/>
          <p:nvPr/>
        </p:nvSpPr>
        <p:spPr>
          <a:xfrm>
            <a:off x="1783080" y="3977639"/>
            <a:ext cx="1554480" cy="54864"/>
          </a:xfrm>
          <a:prstGeom prst="rect">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783080" y="4233672"/>
            <a:ext cx="1554480" cy="54864"/>
          </a:xfrm>
          <a:prstGeom prst="rect">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783080" y="4489704"/>
            <a:ext cx="1554480" cy="54864"/>
          </a:xfrm>
          <a:prstGeom prst="rect">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783080" y="4745736"/>
            <a:ext cx="1554480" cy="54864"/>
          </a:xfrm>
          <a:prstGeom prst="rect">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94760" y="2926080"/>
            <a:ext cx="1417320" cy="274320"/>
          </a:xfrm>
          <a:prstGeom prst="rect">
            <a:avLst/>
          </a:prstGeom>
          <a:noFill/>
        </p:spPr>
        <p:txBody>
          <a:bodyPr wrap="square" anchor="t" lIns="0" rIns="0" tIns="0" bIns="0">
            <a:spAutoFit/>
          </a:bodyPr>
          <a:lstStyle/>
          <a:p>
            <a:pPr algn="ctr"/>
            <a:r>
              <a:rPr sz="1100" b="0" i="1">
                <a:solidFill>
                  <a:srgbClr val="9FB3C8"/>
                </a:solidFill>
                <a:latin typeface="Segoe UI"/>
              </a:rPr>
              <a:t>upload to</a:t>
            </a:r>
          </a:p>
        </p:txBody>
      </p:sp>
      <p:sp>
        <p:nvSpPr>
          <p:cNvPr id="22" name="Right Arrow 21"/>
          <p:cNvSpPr/>
          <p:nvPr/>
        </p:nvSpPr>
        <p:spPr>
          <a:xfrm>
            <a:off x="3657600" y="3108960"/>
            <a:ext cx="128016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66360" y="2971800"/>
            <a:ext cx="2514600" cy="2194560"/>
          </a:xfrm>
          <a:prstGeom prst="roundRect">
            <a:avLst>
              <a:gd name="adj" fmla="val 12000"/>
            </a:avLst>
          </a:prstGeom>
          <a:solidFill>
            <a:srgbClr val="142847"/>
          </a:solidFill>
          <a:ln w="15875">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94960" y="3154680"/>
            <a:ext cx="2103120" cy="365760"/>
          </a:xfrm>
          <a:prstGeom prst="rect">
            <a:avLst/>
          </a:prstGeom>
          <a:noFill/>
        </p:spPr>
        <p:txBody>
          <a:bodyPr wrap="square" anchor="t" lIns="0" rIns="0" tIns="0" bIns="0">
            <a:spAutoFit/>
          </a:bodyPr>
          <a:lstStyle/>
          <a:p>
            <a:pPr algn="ctr"/>
            <a:r>
              <a:rPr sz="1500" b="1" i="0">
                <a:solidFill>
                  <a:srgbClr val="2DD4BF"/>
                </a:solidFill>
                <a:latin typeface="Segoe UI"/>
              </a:rPr>
              <a:t>ChatGPT</a:t>
            </a:r>
          </a:p>
        </p:txBody>
      </p:sp>
      <p:sp>
        <p:nvSpPr>
          <p:cNvPr id="25" name="TextBox 24"/>
          <p:cNvSpPr txBox="1"/>
          <p:nvPr/>
        </p:nvSpPr>
        <p:spPr>
          <a:xfrm>
            <a:off x="5394960" y="3611880"/>
            <a:ext cx="2103120" cy="1371600"/>
          </a:xfrm>
          <a:prstGeom prst="rect">
            <a:avLst/>
          </a:prstGeom>
          <a:noFill/>
        </p:spPr>
        <p:txBody>
          <a:bodyPr wrap="square" anchor="t" lIns="0" rIns="0" tIns="0" bIns="0">
            <a:spAutoFit/>
          </a:bodyPr>
          <a:lstStyle/>
          <a:p>
            <a:pPr algn="ctr">
              <a:lnSpc>
                <a:spcPct val="120000"/>
              </a:lnSpc>
            </a:pPr>
            <a:r>
              <a:rPr sz="1300" b="0" i="0">
                <a:solidFill>
                  <a:srgbClr val="FFFFFF"/>
                </a:solidFill>
                <a:latin typeface="Segoe UI"/>
              </a:rPr>
              <a:t>Answers well — for one document, one person, one paid seat</a:t>
            </a:r>
          </a:p>
        </p:txBody>
      </p:sp>
      <p:sp>
        <p:nvSpPr>
          <p:cNvPr id="26" name="TextBox 25"/>
          <p:cNvSpPr txBox="1"/>
          <p:nvPr/>
        </p:nvSpPr>
        <p:spPr>
          <a:xfrm>
            <a:off x="8138160" y="2697480"/>
            <a:ext cx="3429000" cy="2743200"/>
          </a:xfrm>
          <a:prstGeom prst="rect">
            <a:avLst/>
          </a:prstGeom>
          <a:noFill/>
        </p:spPr>
        <p:txBody>
          <a:bodyPr wrap="square" anchor="t" lIns="0" rIns="0" tIns="0" bIns="0">
            <a:spAutoFit/>
          </a:bodyPr>
          <a:lstStyle/>
          <a:p>
            <a:pPr algn="l">
              <a:lnSpc>
                <a:spcPct val="125000"/>
              </a:lnSpc>
            </a:pPr>
            <a:r>
              <a:rPr sz="1350" b="1" i="0">
                <a:solidFill>
                  <a:srgbClr val="2DD4BF"/>
                </a:solidFill>
                <a:latin typeface="Segoe UI"/>
              </a:rPr>
              <a:t>To give this to every student, Sydney Met would need to:</a:t>
            </a:r>
          </a:p>
          <a:p>
            <a:pPr algn="l">
              <a:lnSpc>
                <a:spcPct val="130000"/>
              </a:lnSpc>
            </a:pPr>
            <a:r>
              <a:rPr sz="1300" b="0" i="0">
                <a:solidFill>
                  <a:srgbClr val="FFFFFF"/>
                </a:solidFill>
                <a:latin typeface="Segoe UI"/>
              </a:rPr>
              <a:t>build its own ChatGPT-like product, or</a:t>
            </a:r>
          </a:p>
          <a:p>
            <a:pPr algn="l">
              <a:lnSpc>
                <a:spcPct val="130000"/>
              </a:lnSpc>
            </a:pPr>
            <a:r>
              <a:rPr sz="1300" b="0" i="0">
                <a:solidFill>
                  <a:srgbClr val="FFFFFF"/>
                </a:solidFill>
                <a:latin typeface="Segoe UI"/>
              </a:rPr>
              <a:t>buy a paid subscription per student</a:t>
            </a:r>
          </a:p>
          <a:p>
            <a:pPr algn="l">
              <a:lnSpc>
                <a:spcPct val="130000"/>
              </a:lnSpc>
            </a:pPr>
            <a:r>
              <a:rPr sz="1300" b="0" i="0">
                <a:solidFill>
                  <a:srgbClr val="FFFFFF"/>
                </a:solidFill>
                <a:latin typeface="Segoe UI"/>
              </a:rPr>
              <a:t>...while documents keep changing and</a:t>
            </a:r>
          </a:p>
          <a:p>
            <a:pPr algn="l"/>
            <a:r>
              <a:rPr sz="1300" b="0" i="0">
                <a:solidFill>
                  <a:srgbClr val="FFFFFF"/>
                </a:solidFill>
                <a:latin typeface="Segoe UI"/>
              </a:rPr>
              <a:t>thousands ask questions at once.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10515600" cy="365760"/>
          </a:xfrm>
          <a:prstGeom prst="rect">
            <a:avLst/>
          </a:prstGeom>
          <a:noFill/>
        </p:spPr>
        <p:txBody>
          <a:bodyPr wrap="square" anchor="t" lIns="0" rIns="0" tIns="0" bIns="0">
            <a:spAutoFit/>
          </a:bodyPr>
          <a:lstStyle/>
          <a:p>
            <a:pPr algn="l"/>
            <a:r>
              <a:rPr sz="1250" b="1" i="0" spc="220">
                <a:solidFill>
                  <a:srgbClr val="2DD4BF"/>
                </a:solidFill>
                <a:latin typeface="Segoe UI"/>
              </a:rPr>
              <a:t>THE BIG PICTURE</a:t>
            </a:r>
          </a:p>
        </p:txBody>
      </p:sp>
      <p:sp>
        <p:nvSpPr>
          <p:cNvPr id="5" name="TextBox 4"/>
          <p:cNvSpPr txBox="1"/>
          <p:nvPr/>
        </p:nvSpPr>
        <p:spPr>
          <a:xfrm>
            <a:off x="576072" y="676656"/>
            <a:ext cx="10515600" cy="822960"/>
          </a:xfrm>
          <a:prstGeom prst="rect">
            <a:avLst/>
          </a:prstGeom>
          <a:noFill/>
        </p:spPr>
        <p:txBody>
          <a:bodyPr wrap="square" anchor="t" lIns="0" rIns="0" tIns="0" bIns="0">
            <a:spAutoFit/>
          </a:bodyPr>
          <a:lstStyle/>
          <a:p>
            <a:pPr algn="l">
              <a:lnSpc>
                <a:spcPct val="100000"/>
              </a:lnSpc>
            </a:pPr>
            <a:r>
              <a:rPr sz="3200" b="1" i="0">
                <a:solidFill>
                  <a:srgbClr val="FFFFFF"/>
                </a:solidFill>
                <a:latin typeface="Segoe UI"/>
              </a:rPr>
              <a:t>Here's the whole system, at a glance</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355080"/>
            <a:ext cx="7315200" cy="502920"/>
          </a:xfrm>
          <a:prstGeom prst="rect">
            <a:avLst/>
          </a:prstGeom>
          <a:noFill/>
        </p:spPr>
        <p:txBody>
          <a:bodyPr wrap="square" anchor="ctr" lIns="0" rIns="0" tIns="0" bIns="0">
            <a:spAutoFit/>
          </a:bodyPr>
          <a:lstStyle/>
          <a:p>
            <a:pPr algn="l"/>
            <a:r>
              <a:rPr sz="1050" b="0" i="0">
                <a:solidFill>
                  <a:srgbClr val="9FB3C8"/>
                </a:solidFill>
                <a:latin typeface="Segoe UI"/>
              </a:rPr>
              <a:t>ICT108  ·  MetMate case study</a:t>
            </a:r>
          </a:p>
        </p:txBody>
      </p:sp>
      <p:sp>
        <p:nvSpPr>
          <p:cNvPr id="10" name="TextBox 9"/>
          <p:cNvSpPr txBox="1"/>
          <p:nvPr/>
        </p:nvSpPr>
        <p:spPr>
          <a:xfrm>
            <a:off x="822960" y="1965960"/>
            <a:ext cx="7315200" cy="320040"/>
          </a:xfrm>
          <a:prstGeom prst="rect">
            <a:avLst/>
          </a:prstGeom>
          <a:noFill/>
        </p:spPr>
        <p:txBody>
          <a:bodyPr wrap="square" anchor="t" lIns="0" rIns="0" tIns="0" bIns="0">
            <a:spAutoFit/>
          </a:bodyPr>
          <a:lstStyle/>
          <a:p>
            <a:pPr algn="l"/>
            <a:r>
              <a:rPr sz="1150" b="1" i="0">
                <a:solidFill>
                  <a:srgbClr val="9FB3C8"/>
                </a:solidFill>
                <a:latin typeface="Segoe UI"/>
              </a:rPr>
              <a:t>BUILT ONCE, BEFORE ANY QUESTION</a:t>
            </a:r>
          </a:p>
        </p:txBody>
      </p:sp>
      <p:sp>
        <p:nvSpPr>
          <p:cNvPr id="11" name="Rounded Rectangle 10"/>
          <p:cNvSpPr/>
          <p:nvPr/>
        </p:nvSpPr>
        <p:spPr>
          <a:xfrm>
            <a:off x="822960" y="2331720"/>
            <a:ext cx="1926275"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331720"/>
            <a:ext cx="1743395" cy="868680"/>
          </a:xfrm>
          <a:prstGeom prst="rect">
            <a:avLst/>
          </a:prstGeom>
          <a:noFill/>
        </p:spPr>
        <p:txBody>
          <a:bodyPr wrap="square" anchor="ctr" lIns="0" rIns="0" tIns="0" bIns="0">
            <a:spAutoFit/>
          </a:bodyPr>
          <a:lstStyle/>
          <a:p>
            <a:pPr algn="ctr"/>
            <a:r>
              <a:rPr sz="1400" b="1" i="0">
                <a:solidFill>
                  <a:srgbClr val="FFFFFF"/>
                </a:solidFill>
                <a:latin typeface="Segoe UI"/>
              </a:rPr>
              <a:t>Documents</a:t>
            </a:r>
          </a:p>
        </p:txBody>
      </p:sp>
      <p:sp>
        <p:nvSpPr>
          <p:cNvPr id="13" name="Right Arrow 12"/>
          <p:cNvSpPr/>
          <p:nvPr/>
        </p:nvSpPr>
        <p:spPr>
          <a:xfrm>
            <a:off x="2730947" y="2674620"/>
            <a:ext cx="265176" cy="18288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977835" y="2331720"/>
            <a:ext cx="1926275" cy="86868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69275" y="2331720"/>
            <a:ext cx="1743395" cy="868680"/>
          </a:xfrm>
          <a:prstGeom prst="rect">
            <a:avLst/>
          </a:prstGeom>
          <a:noFill/>
        </p:spPr>
        <p:txBody>
          <a:bodyPr wrap="square" anchor="ctr" lIns="0" rIns="0" tIns="0" bIns="0">
            <a:spAutoFit/>
          </a:bodyPr>
          <a:lstStyle/>
          <a:p>
            <a:pPr algn="ctr">
              <a:lnSpc>
                <a:spcPct val="110000"/>
              </a:lnSpc>
            </a:pPr>
            <a:r>
              <a:rPr sz="1400" b="1" i="0">
                <a:solidFill>
                  <a:srgbClr val="FFFFFF"/>
                </a:solidFill>
                <a:latin typeface="Segoe UI"/>
              </a:rPr>
              <a:t>Index
(by meaning)</a:t>
            </a:r>
          </a:p>
        </p:txBody>
      </p:sp>
      <p:sp>
        <p:nvSpPr>
          <p:cNvPr id="16" name="TextBox 15"/>
          <p:cNvSpPr txBox="1"/>
          <p:nvPr/>
        </p:nvSpPr>
        <p:spPr>
          <a:xfrm>
            <a:off x="3069275" y="3255264"/>
            <a:ext cx="1743395" cy="274320"/>
          </a:xfrm>
          <a:prstGeom prst="rect">
            <a:avLst/>
          </a:prstGeom>
          <a:noFill/>
        </p:spPr>
        <p:txBody>
          <a:bodyPr wrap="square" anchor="t" lIns="0" rIns="0" tIns="0" bIns="0">
            <a:spAutoFit/>
          </a:bodyPr>
          <a:lstStyle/>
          <a:p>
            <a:pPr algn="ctr"/>
            <a:r>
              <a:rPr sz="1050" b="0" i="1">
                <a:solidFill>
                  <a:srgbClr val="F5B342"/>
                </a:solidFill>
                <a:latin typeface="Segoe UI"/>
              </a:rPr>
              <a:t>zoom: Step 2</a:t>
            </a:r>
          </a:p>
        </p:txBody>
      </p:sp>
      <p:cxnSp>
        <p:nvCxnSpPr>
          <p:cNvPr id="17" name="Connector 16"/>
          <p:cNvCxnSpPr/>
          <p:nvPr/>
        </p:nvCxnSpPr>
        <p:spPr>
          <a:xfrm>
            <a:off x="3940972" y="3520440"/>
            <a:ext cx="0" cy="457199"/>
          </a:xfrm>
          <a:prstGeom prst="line">
            <a:avLst/>
          </a:prstGeom>
          <a:ln w="28575">
            <a:solidFill>
              <a:srgbClr val="2DD4BF"/>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3703320"/>
            <a:ext cx="7315200" cy="320040"/>
          </a:xfrm>
          <a:prstGeom prst="rect">
            <a:avLst/>
          </a:prstGeom>
          <a:noFill/>
        </p:spPr>
        <p:txBody>
          <a:bodyPr wrap="square" anchor="t" lIns="0" rIns="0" tIns="0" bIns="0">
            <a:spAutoFit/>
          </a:bodyPr>
          <a:lstStyle/>
          <a:p>
            <a:pPr algn="l"/>
            <a:r>
              <a:rPr sz="1150" b="1" i="0">
                <a:solidFill>
                  <a:srgbClr val="9FB3C8"/>
                </a:solidFill>
                <a:latin typeface="Segoe UI"/>
              </a:rPr>
              <a:t>EVERY QUESTION, LIVE</a:t>
            </a:r>
          </a:p>
        </p:txBody>
      </p:sp>
      <p:sp>
        <p:nvSpPr>
          <p:cNvPr id="19" name="Rounded Rectangle 18"/>
          <p:cNvSpPr/>
          <p:nvPr/>
        </p:nvSpPr>
        <p:spPr>
          <a:xfrm>
            <a:off x="822960" y="4069080"/>
            <a:ext cx="1926275"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4069080"/>
            <a:ext cx="1779971" cy="914400"/>
          </a:xfrm>
          <a:prstGeom prst="rect">
            <a:avLst/>
          </a:prstGeom>
          <a:noFill/>
        </p:spPr>
        <p:txBody>
          <a:bodyPr wrap="square" anchor="ctr" lIns="0" rIns="0" tIns="0" bIns="0">
            <a:spAutoFit/>
          </a:bodyPr>
          <a:lstStyle/>
          <a:p>
            <a:pPr algn="ctr">
              <a:lnSpc>
                <a:spcPct val="110000"/>
              </a:lnSpc>
            </a:pPr>
            <a:r>
              <a:rPr sz="1300" b="1" i="0">
                <a:solidFill>
                  <a:srgbClr val="FFFFFF"/>
                </a:solidFill>
                <a:latin typeface="Segoe UI"/>
              </a:rPr>
              <a:t>Student
question</a:t>
            </a:r>
          </a:p>
        </p:txBody>
      </p:sp>
      <p:sp>
        <p:nvSpPr>
          <p:cNvPr id="21" name="Right Arrow 20"/>
          <p:cNvSpPr/>
          <p:nvPr/>
        </p:nvSpPr>
        <p:spPr>
          <a:xfrm>
            <a:off x="2730947" y="4434840"/>
            <a:ext cx="265176" cy="18288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977835" y="4069080"/>
            <a:ext cx="1926275"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50987" y="4069080"/>
            <a:ext cx="1779971" cy="914400"/>
          </a:xfrm>
          <a:prstGeom prst="rect">
            <a:avLst/>
          </a:prstGeom>
          <a:noFill/>
        </p:spPr>
        <p:txBody>
          <a:bodyPr wrap="square" anchor="ctr" lIns="0" rIns="0" tIns="0" bIns="0">
            <a:spAutoFit/>
          </a:bodyPr>
          <a:lstStyle/>
          <a:p>
            <a:pPr algn="ctr">
              <a:lnSpc>
                <a:spcPct val="110000"/>
              </a:lnSpc>
            </a:pPr>
            <a:r>
              <a:rPr sz="1300" b="1" i="0">
                <a:solidFill>
                  <a:srgbClr val="FFFFFF"/>
                </a:solidFill>
                <a:latin typeface="Segoe UI"/>
              </a:rPr>
              <a:t>Search the
index</a:t>
            </a:r>
          </a:p>
        </p:txBody>
      </p:sp>
      <p:sp>
        <p:nvSpPr>
          <p:cNvPr id="24" name="TextBox 23"/>
          <p:cNvSpPr txBox="1"/>
          <p:nvPr/>
        </p:nvSpPr>
        <p:spPr>
          <a:xfrm>
            <a:off x="3023555" y="5038344"/>
            <a:ext cx="1834835" cy="274320"/>
          </a:xfrm>
          <a:prstGeom prst="rect">
            <a:avLst/>
          </a:prstGeom>
          <a:noFill/>
        </p:spPr>
        <p:txBody>
          <a:bodyPr wrap="square" anchor="t" lIns="0" rIns="0" tIns="0" bIns="0">
            <a:spAutoFit/>
          </a:bodyPr>
          <a:lstStyle/>
          <a:p>
            <a:pPr algn="ctr"/>
            <a:r>
              <a:rPr sz="1050" b="0" i="1">
                <a:solidFill>
                  <a:srgbClr val="F5B342"/>
                </a:solidFill>
                <a:latin typeface="Segoe UI"/>
              </a:rPr>
              <a:t>zoom: Step 3</a:t>
            </a:r>
          </a:p>
        </p:txBody>
      </p:sp>
      <p:sp>
        <p:nvSpPr>
          <p:cNvPr id="25" name="Right Arrow 24"/>
          <p:cNvSpPr/>
          <p:nvPr/>
        </p:nvSpPr>
        <p:spPr>
          <a:xfrm>
            <a:off x="4885822" y="4434840"/>
            <a:ext cx="265176" cy="18288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132710" y="4069080"/>
            <a:ext cx="1926275"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05862" y="4069080"/>
            <a:ext cx="1779971" cy="914400"/>
          </a:xfrm>
          <a:prstGeom prst="rect">
            <a:avLst/>
          </a:prstGeom>
          <a:noFill/>
        </p:spPr>
        <p:txBody>
          <a:bodyPr wrap="square" anchor="ctr" lIns="0" rIns="0" tIns="0" bIns="0">
            <a:spAutoFit/>
          </a:bodyPr>
          <a:lstStyle/>
          <a:p>
            <a:pPr algn="ctr">
              <a:lnSpc>
                <a:spcPct val="110000"/>
              </a:lnSpc>
            </a:pPr>
            <a:r>
              <a:rPr sz="1300" b="1" i="0">
                <a:solidFill>
                  <a:srgbClr val="FFFFFF"/>
                </a:solidFill>
                <a:latin typeface="Segoe UI"/>
              </a:rPr>
              <a:t>Draft
answer</a:t>
            </a:r>
          </a:p>
        </p:txBody>
      </p:sp>
      <p:sp>
        <p:nvSpPr>
          <p:cNvPr id="28" name="Right Arrow 27"/>
          <p:cNvSpPr/>
          <p:nvPr/>
        </p:nvSpPr>
        <p:spPr>
          <a:xfrm>
            <a:off x="7040697" y="4434840"/>
            <a:ext cx="265176" cy="18288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287585" y="4069080"/>
            <a:ext cx="1926275"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0737" y="4069080"/>
            <a:ext cx="1779971" cy="914400"/>
          </a:xfrm>
          <a:prstGeom prst="rect">
            <a:avLst/>
          </a:prstGeom>
          <a:noFill/>
        </p:spPr>
        <p:txBody>
          <a:bodyPr wrap="square" anchor="ctr" lIns="0" rIns="0" tIns="0" bIns="0">
            <a:spAutoFit/>
          </a:bodyPr>
          <a:lstStyle/>
          <a:p>
            <a:pPr algn="ctr">
              <a:lnSpc>
                <a:spcPct val="110000"/>
              </a:lnSpc>
            </a:pPr>
            <a:r>
              <a:rPr sz="1300" b="1" i="0">
                <a:solidFill>
                  <a:srgbClr val="FFFFFF"/>
                </a:solidFill>
                <a:latin typeface="Segoe UI"/>
              </a:rPr>
              <a:t>Check the
answer</a:t>
            </a:r>
          </a:p>
        </p:txBody>
      </p:sp>
      <p:sp>
        <p:nvSpPr>
          <p:cNvPr id="31" name="TextBox 30"/>
          <p:cNvSpPr txBox="1"/>
          <p:nvPr/>
        </p:nvSpPr>
        <p:spPr>
          <a:xfrm>
            <a:off x="7333305" y="5038344"/>
            <a:ext cx="1834835" cy="274320"/>
          </a:xfrm>
          <a:prstGeom prst="rect">
            <a:avLst/>
          </a:prstGeom>
          <a:noFill/>
        </p:spPr>
        <p:txBody>
          <a:bodyPr wrap="square" anchor="t" lIns="0" rIns="0" tIns="0" bIns="0">
            <a:spAutoFit/>
          </a:bodyPr>
          <a:lstStyle/>
          <a:p>
            <a:pPr algn="ctr"/>
            <a:r>
              <a:rPr sz="1050" b="0" i="1">
                <a:solidFill>
                  <a:srgbClr val="F5B342"/>
                </a:solidFill>
                <a:latin typeface="Segoe UI"/>
              </a:rPr>
              <a:t>zoom: Step 4 &amp; 5</a:t>
            </a:r>
          </a:p>
        </p:txBody>
      </p:sp>
      <p:sp>
        <p:nvSpPr>
          <p:cNvPr id="32" name="Right Arrow 31"/>
          <p:cNvSpPr/>
          <p:nvPr/>
        </p:nvSpPr>
        <p:spPr>
          <a:xfrm>
            <a:off x="9195572" y="4434840"/>
            <a:ext cx="265176" cy="18288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442460" y="4069080"/>
            <a:ext cx="1926275"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15612" y="4069080"/>
            <a:ext cx="1779971" cy="914400"/>
          </a:xfrm>
          <a:prstGeom prst="rect">
            <a:avLst/>
          </a:prstGeom>
          <a:noFill/>
        </p:spPr>
        <p:txBody>
          <a:bodyPr wrap="square" anchor="ctr" lIns="0" rIns="0" tIns="0" bIns="0">
            <a:spAutoFit/>
          </a:bodyPr>
          <a:lstStyle/>
          <a:p>
            <a:pPr algn="ctr">
              <a:lnSpc>
                <a:spcPct val="110000"/>
              </a:lnSpc>
            </a:pPr>
            <a:r>
              <a:rPr sz="1300" b="1" i="0">
                <a:solidFill>
                  <a:srgbClr val="FFFFFF"/>
                </a:solidFill>
                <a:latin typeface="Segoe UI"/>
              </a:rPr>
              <a:t>Final
answer</a:t>
            </a:r>
          </a:p>
        </p:txBody>
      </p:sp>
      <p:sp>
        <p:nvSpPr>
          <p:cNvPr id="35" name="TextBox 34"/>
          <p:cNvSpPr txBox="1"/>
          <p:nvPr/>
        </p:nvSpPr>
        <p:spPr>
          <a:xfrm>
            <a:off x="822960" y="5486400"/>
            <a:ext cx="10545775" cy="457200"/>
          </a:xfrm>
          <a:prstGeom prst="rect">
            <a:avLst/>
          </a:prstGeom>
          <a:noFill/>
        </p:spPr>
        <p:txBody>
          <a:bodyPr wrap="square" anchor="t" lIns="0" rIns="0" tIns="0" bIns="0">
            <a:spAutoFit/>
          </a:bodyPr>
          <a:lstStyle/>
          <a:p>
            <a:pPr algn="ctr"/>
            <a:r>
              <a:rPr sz="1250" b="0" i="1">
                <a:solidFill>
                  <a:srgbClr val="9FB3C8"/>
                </a:solidFill>
                <a:latin typeface="Segoe UI"/>
              </a:rPr>
              <a:t>Steps 2 to 5 each zoom into one box above. Keep this picture in mind as we go.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10515600" cy="365760"/>
          </a:xfrm>
          <a:prstGeom prst="rect">
            <a:avLst/>
          </a:prstGeom>
          <a:noFill/>
        </p:spPr>
        <p:txBody>
          <a:bodyPr wrap="square" anchor="t" lIns="0" rIns="0" tIns="0" bIns="0">
            <a:spAutoFit/>
          </a:bodyPr>
          <a:lstStyle/>
          <a:p>
            <a:pPr algn="l"/>
            <a:r>
              <a:rPr sz="1250" b="1" i="0" spc="220">
                <a:solidFill>
                  <a:srgbClr val="2DD4BF"/>
                </a:solidFill>
                <a:latin typeface="Segoe UI"/>
              </a:rPr>
              <a:t>STEP 2 OF 5</a:t>
            </a:r>
          </a:p>
        </p:txBody>
      </p:sp>
      <p:sp>
        <p:nvSpPr>
          <p:cNvPr id="5" name="TextBox 4"/>
          <p:cNvSpPr txBox="1"/>
          <p:nvPr/>
        </p:nvSpPr>
        <p:spPr>
          <a:xfrm>
            <a:off x="576072" y="676656"/>
            <a:ext cx="10515600" cy="822960"/>
          </a:xfrm>
          <a:prstGeom prst="rect">
            <a:avLst/>
          </a:prstGeom>
          <a:noFill/>
        </p:spPr>
        <p:txBody>
          <a:bodyPr wrap="square" anchor="t" lIns="0" rIns="0" tIns="0" bIns="0">
            <a:spAutoFit/>
          </a:bodyPr>
          <a:lstStyle/>
          <a:p>
            <a:pPr algn="l">
              <a:lnSpc>
                <a:spcPct val="100000"/>
              </a:lnSpc>
            </a:pPr>
            <a:r>
              <a:rPr sz="3200" b="1" i="0">
                <a:solidFill>
                  <a:srgbClr val="FFFFFF"/>
                </a:solidFill>
                <a:latin typeface="Segoe UI"/>
              </a:rPr>
              <a:t>Teach it meaning (embeddings)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355080"/>
            <a:ext cx="7315200" cy="502920"/>
          </a:xfrm>
          <a:prstGeom prst="rect">
            <a:avLst/>
          </a:prstGeom>
          <a:noFill/>
        </p:spPr>
        <p:txBody>
          <a:bodyPr wrap="square" anchor="ctr" lIns="0" rIns="0" tIns="0" bIns="0">
            <a:spAutoFit/>
          </a:bodyPr>
          <a:lstStyle/>
          <a:p>
            <a:pPr algn="l"/>
            <a:r>
              <a:rPr sz="1050" b="0" i="0">
                <a:solidFill>
                  <a:srgbClr val="9FB3C8"/>
                </a:solidFill>
                <a:latin typeface="Segoe UI"/>
              </a:rPr>
              <a:t>ICT108  ·  MetMate case study</a:t>
            </a:r>
          </a:p>
        </p:txBody>
      </p:sp>
      <p:sp>
        <p:nvSpPr>
          <p:cNvPr id="10" name="Oval 9"/>
          <p:cNvSpPr/>
          <p:nvPr/>
        </p:nvSpPr>
        <p:spPr>
          <a:xfrm>
            <a:off x="685800" y="1417319"/>
            <a:ext cx="640080" cy="640080"/>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0B1B33"/>
                </a:solidFill>
                <a:latin typeface="Segoe UI"/>
              </a:rPr>
              <a:t>2</a:t>
            </a:r>
          </a:p>
        </p:txBody>
      </p:sp>
      <p:sp>
        <p:nvSpPr>
          <p:cNvPr id="11" name="TextBox 10"/>
          <p:cNvSpPr txBox="1"/>
          <p:nvPr/>
        </p:nvSpPr>
        <p:spPr>
          <a:xfrm>
            <a:off x="1005840" y="2331720"/>
            <a:ext cx="5943600" cy="457200"/>
          </a:xfrm>
          <a:prstGeom prst="rect">
            <a:avLst/>
          </a:prstGeom>
          <a:noFill/>
        </p:spPr>
        <p:txBody>
          <a:bodyPr wrap="square" anchor="t" lIns="0" rIns="0" tIns="0" bIns="0">
            <a:spAutoFit/>
          </a:bodyPr>
          <a:lstStyle/>
          <a:p>
            <a:pPr algn="l"/>
            <a:r>
              <a:rPr sz="1600" b="0" i="1">
                <a:solidFill>
                  <a:srgbClr val="9FB3C8"/>
                </a:solidFill>
                <a:latin typeface="Segoe UI"/>
              </a:rPr>
              <a:t>Text → a point in "meaning space"</a:t>
            </a:r>
          </a:p>
        </p:txBody>
      </p:sp>
      <p:sp>
        <p:nvSpPr>
          <p:cNvPr id="12" name="Rounded Rectangle 11"/>
          <p:cNvSpPr/>
          <p:nvPr/>
        </p:nvSpPr>
        <p:spPr>
          <a:xfrm>
            <a:off x="1005840" y="2880360"/>
            <a:ext cx="6035040" cy="30175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304288" y="3493008"/>
            <a:ext cx="146304" cy="146304"/>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737360" y="3803904"/>
            <a:ext cx="1463040" cy="320040"/>
          </a:xfrm>
          <a:prstGeom prst="rect">
            <a:avLst/>
          </a:prstGeom>
          <a:noFill/>
        </p:spPr>
        <p:txBody>
          <a:bodyPr wrap="square" anchor="t" lIns="0" rIns="0" tIns="0" bIns="0">
            <a:spAutoFit/>
          </a:bodyPr>
          <a:lstStyle/>
          <a:p>
            <a:pPr algn="ctr"/>
            <a:r>
              <a:rPr sz="1250" b="1" i="0">
                <a:solidFill>
                  <a:srgbClr val="FFFFFF"/>
                </a:solidFill>
                <a:latin typeface="Segoe UI"/>
              </a:rPr>
              <a:t>queen</a:t>
            </a:r>
          </a:p>
        </p:txBody>
      </p:sp>
      <p:sp>
        <p:nvSpPr>
          <p:cNvPr id="15" name="Oval 14"/>
          <p:cNvSpPr/>
          <p:nvPr/>
        </p:nvSpPr>
        <p:spPr>
          <a:xfrm>
            <a:off x="3127248" y="4864608"/>
            <a:ext cx="146304" cy="146304"/>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60320" y="5175504"/>
            <a:ext cx="1463040" cy="320040"/>
          </a:xfrm>
          <a:prstGeom prst="rect">
            <a:avLst/>
          </a:prstGeom>
          <a:noFill/>
        </p:spPr>
        <p:txBody>
          <a:bodyPr wrap="square" anchor="t" lIns="0" rIns="0" tIns="0" bIns="0">
            <a:spAutoFit/>
          </a:bodyPr>
          <a:lstStyle/>
          <a:p>
            <a:pPr algn="ctr"/>
            <a:r>
              <a:rPr sz="1250" b="1" i="0">
                <a:solidFill>
                  <a:srgbClr val="FFFFFF"/>
                </a:solidFill>
                <a:latin typeface="Segoe UI"/>
              </a:rPr>
              <a:t>female</a:t>
            </a:r>
          </a:p>
        </p:txBody>
      </p:sp>
      <p:sp>
        <p:nvSpPr>
          <p:cNvPr id="17" name="Oval 16"/>
          <p:cNvSpPr/>
          <p:nvPr/>
        </p:nvSpPr>
        <p:spPr>
          <a:xfrm>
            <a:off x="5321808" y="3355848"/>
            <a:ext cx="146304" cy="146304"/>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666744"/>
            <a:ext cx="1463040" cy="320040"/>
          </a:xfrm>
          <a:prstGeom prst="rect">
            <a:avLst/>
          </a:prstGeom>
          <a:noFill/>
        </p:spPr>
        <p:txBody>
          <a:bodyPr wrap="square" anchor="t" lIns="0" rIns="0" tIns="0" bIns="0">
            <a:spAutoFit/>
          </a:bodyPr>
          <a:lstStyle/>
          <a:p>
            <a:pPr algn="ctr"/>
            <a:r>
              <a:rPr sz="1250" b="1" i="0">
                <a:solidFill>
                  <a:srgbClr val="FFFFFF"/>
                </a:solidFill>
                <a:latin typeface="Segoe UI"/>
              </a:rPr>
              <a:t>king</a:t>
            </a:r>
          </a:p>
        </p:txBody>
      </p:sp>
      <p:sp>
        <p:nvSpPr>
          <p:cNvPr id="19" name="Oval 18"/>
          <p:cNvSpPr/>
          <p:nvPr/>
        </p:nvSpPr>
        <p:spPr>
          <a:xfrm>
            <a:off x="6053328" y="4636008"/>
            <a:ext cx="146304" cy="146304"/>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0" y="4946904"/>
            <a:ext cx="1463040" cy="320040"/>
          </a:xfrm>
          <a:prstGeom prst="rect">
            <a:avLst/>
          </a:prstGeom>
          <a:noFill/>
        </p:spPr>
        <p:txBody>
          <a:bodyPr wrap="square" anchor="t" lIns="0" rIns="0" tIns="0" bIns="0">
            <a:spAutoFit/>
          </a:bodyPr>
          <a:lstStyle/>
          <a:p>
            <a:pPr algn="ctr"/>
            <a:r>
              <a:rPr sz="1250" b="1" i="0">
                <a:solidFill>
                  <a:srgbClr val="FFFFFF"/>
                </a:solidFill>
                <a:latin typeface="Segoe UI"/>
              </a:rPr>
              <a:t>male</a:t>
            </a:r>
          </a:p>
        </p:txBody>
      </p:sp>
      <p:cxnSp>
        <p:nvCxnSpPr>
          <p:cNvPr id="21" name="Connector 20"/>
          <p:cNvCxnSpPr/>
          <p:nvPr/>
        </p:nvCxnSpPr>
        <p:spPr>
          <a:xfrm>
            <a:off x="2377440" y="3566160"/>
            <a:ext cx="822960" cy="1371600"/>
          </a:xfrm>
          <a:prstGeom prst="line">
            <a:avLst/>
          </a:prstGeom>
          <a:ln w="28575">
            <a:solidFill>
              <a:srgbClr val="9FB3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flipV="1">
            <a:off x="5394960" y="3429000"/>
            <a:ext cx="731520" cy="1280160"/>
          </a:xfrm>
          <a:prstGeom prst="line">
            <a:avLst/>
          </a:prstGeom>
          <a:ln w="28575">
            <a:solidFill>
              <a:srgbClr val="9FB3C8"/>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360920" y="3017520"/>
            <a:ext cx="4160520" cy="2743200"/>
          </a:xfrm>
          <a:prstGeom prst="rect">
            <a:avLst/>
          </a:prstGeom>
          <a:noFill/>
        </p:spPr>
        <p:txBody>
          <a:bodyPr wrap="square" anchor="t" lIns="0" rIns="0" tIns="0" bIns="0">
            <a:spAutoFit/>
          </a:bodyPr>
          <a:lstStyle/>
          <a:p>
            <a:pPr algn="l">
              <a:lnSpc>
                <a:spcPct val="130000"/>
              </a:lnSpc>
            </a:pPr>
            <a:r>
              <a:rPr sz="2100" b="1" i="0">
                <a:solidFill>
                  <a:srgbClr val="FFFFFF"/>
                </a:solidFill>
                <a:latin typeface="Segoe UI"/>
              </a:rPr>
              <a:t>queen − female + male ≈ king</a:t>
            </a:r>
          </a:p>
          <a:p>
            <a:pPr algn="l">
              <a:lnSpc>
                <a:spcPct val="140000"/>
              </a:lnSpc>
            </a:pPr>
            <a:r>
              <a:rPr sz="1400" b="0" i="0">
                <a:solidFill>
                  <a:srgbClr val="9FB3C8"/>
                </a:solidFill>
                <a:latin typeface="Segoe UI"/>
              </a:rPr>
              <a:t>Similar meaning → nearby points,</a:t>
            </a:r>
          </a:p>
          <a:p>
            <a:pPr algn="l">
              <a:lnSpc>
                <a:spcPct val="120000"/>
              </a:lnSpc>
            </a:pPr>
            <a:r>
              <a:rPr sz="1400" b="0" i="0">
                <a:solidFill>
                  <a:srgbClr val="9FB3C8"/>
                </a:solidFill>
                <a:latin typeface="Segoe UI"/>
              </a:rPr>
              <a:t>even with completely different words.</a:t>
            </a:r>
          </a:p>
          <a:p>
            <a:pPr algn="l">
              <a:lnSpc>
                <a:spcPct val="140000"/>
              </a:lnSpc>
            </a:pPr>
            <a:r>
              <a:rPr sz="1400" b="0" i="0">
                <a:solidFill>
                  <a:srgbClr val="9FB3C8"/>
                </a:solidFill>
                <a:latin typeface="Segoe UI"/>
              </a:rPr>
              <a:t>This is how the system will later find</a:t>
            </a:r>
          </a:p>
          <a:p>
            <a:pPr algn="l"/>
            <a:r>
              <a:rPr sz="1400" b="0" i="0">
                <a:solidFill>
                  <a:srgbClr val="9FB3C8"/>
                </a:solidFill>
                <a:latin typeface="Segoe UI"/>
              </a:rPr>
              <a:t>the right passage for a question.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10515600" cy="365760"/>
          </a:xfrm>
          <a:prstGeom prst="rect">
            <a:avLst/>
          </a:prstGeom>
          <a:noFill/>
        </p:spPr>
        <p:txBody>
          <a:bodyPr wrap="square" anchor="t" lIns="0" rIns="0" tIns="0" bIns="0">
            <a:spAutoFit/>
          </a:bodyPr>
          <a:lstStyle/>
          <a:p>
            <a:pPr algn="l"/>
            <a:r>
              <a:rPr sz="1250" b="1" i="0" spc="220">
                <a:solidFill>
                  <a:srgbClr val="2DD4BF"/>
                </a:solidFill>
                <a:latin typeface="Segoe UI"/>
              </a:rPr>
              <a:t>STEP 3 OF 5</a:t>
            </a:r>
          </a:p>
        </p:txBody>
      </p:sp>
      <p:sp>
        <p:nvSpPr>
          <p:cNvPr id="5" name="TextBox 4"/>
          <p:cNvSpPr txBox="1"/>
          <p:nvPr/>
        </p:nvSpPr>
        <p:spPr>
          <a:xfrm>
            <a:off x="576072" y="676656"/>
            <a:ext cx="10515600" cy="822960"/>
          </a:xfrm>
          <a:prstGeom prst="rect">
            <a:avLst/>
          </a:prstGeom>
          <a:noFill/>
        </p:spPr>
        <p:txBody>
          <a:bodyPr wrap="square" anchor="t" lIns="0" rIns="0" tIns="0" bIns="0">
            <a:spAutoFit/>
          </a:bodyPr>
          <a:lstStyle/>
          <a:p>
            <a:pPr algn="l">
              <a:lnSpc>
                <a:spcPct val="100000"/>
              </a:lnSpc>
            </a:pPr>
            <a:r>
              <a:rPr sz="3200" b="1" i="0">
                <a:solidFill>
                  <a:srgbClr val="FFFFFF"/>
                </a:solidFill>
                <a:latin typeface="Segoe UI"/>
              </a:rPr>
              <a:t>Find the right passage (RAG)</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355080"/>
            <a:ext cx="7315200" cy="502920"/>
          </a:xfrm>
          <a:prstGeom prst="rect">
            <a:avLst/>
          </a:prstGeom>
          <a:noFill/>
        </p:spPr>
        <p:txBody>
          <a:bodyPr wrap="square" anchor="ctr" lIns="0" rIns="0" tIns="0" bIns="0">
            <a:spAutoFit/>
          </a:bodyPr>
          <a:lstStyle/>
          <a:p>
            <a:pPr algn="l"/>
            <a:r>
              <a:rPr sz="1050" b="0" i="0">
                <a:solidFill>
                  <a:srgbClr val="9FB3C8"/>
                </a:solidFill>
                <a:latin typeface="Segoe UI"/>
              </a:rPr>
              <a:t>ICT108  ·  MetMate case study</a:t>
            </a:r>
          </a:p>
        </p:txBody>
      </p:sp>
      <p:sp>
        <p:nvSpPr>
          <p:cNvPr id="10" name="Oval 9"/>
          <p:cNvSpPr/>
          <p:nvPr/>
        </p:nvSpPr>
        <p:spPr>
          <a:xfrm>
            <a:off x="685800" y="1417319"/>
            <a:ext cx="640080" cy="640080"/>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0B1B33"/>
                </a:solidFill>
                <a:latin typeface="Segoe UI"/>
              </a:rPr>
              <a:t>3</a:t>
            </a:r>
          </a:p>
        </p:txBody>
      </p:sp>
      <p:sp>
        <p:nvSpPr>
          <p:cNvPr id="11" name="Rounded Rectangle 10"/>
          <p:cNvSpPr/>
          <p:nvPr/>
        </p:nvSpPr>
        <p:spPr>
          <a:xfrm>
            <a:off x="7863840" y="1417320"/>
            <a:ext cx="3703320" cy="50292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1417320"/>
            <a:ext cx="3474720" cy="502920"/>
          </a:xfrm>
          <a:prstGeom prst="rect">
            <a:avLst/>
          </a:prstGeom>
          <a:noFill/>
        </p:spPr>
        <p:txBody>
          <a:bodyPr wrap="square" anchor="ctr" lIns="0" rIns="0" tIns="0" bIns="0">
            <a:spAutoFit/>
          </a:bodyPr>
          <a:lstStyle/>
          <a:p>
            <a:pPr algn="l"/>
            <a:r>
              <a:rPr sz="1150" b="1" i="1">
                <a:solidFill>
                  <a:srgbClr val="E06C6C"/>
                </a:solidFill>
                <a:latin typeface="Segoe UI"/>
              </a:rPr>
              <a:t>✗ grabbed the wrong rule</a:t>
            </a:r>
          </a:p>
        </p:txBody>
      </p:sp>
      <p:sp>
        <p:nvSpPr>
          <p:cNvPr id="13" name="Rounded Rectangle 12"/>
          <p:cNvSpPr/>
          <p:nvPr/>
        </p:nvSpPr>
        <p:spPr>
          <a:xfrm>
            <a:off x="1005840" y="2286000"/>
            <a:ext cx="10149840" cy="685800"/>
          </a:xfrm>
          <a:prstGeom prst="roundRect">
            <a:avLst>
              <a:gd name="adj" fmla="val 30000"/>
            </a:avLst>
          </a:prstGeom>
          <a:solidFill>
            <a:srgbClr val="142847"/>
          </a:solidFill>
          <a:ln w="15875">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2286000"/>
            <a:ext cx="9601200" cy="685800"/>
          </a:xfrm>
          <a:prstGeom prst="rect">
            <a:avLst/>
          </a:prstGeom>
          <a:noFill/>
        </p:spPr>
        <p:txBody>
          <a:bodyPr wrap="square" anchor="ctr" lIns="0" rIns="0" tIns="0" bIns="0">
            <a:spAutoFit/>
          </a:bodyPr>
          <a:lstStyle/>
          <a:p>
            <a:pPr algn="l"/>
            <a:r>
              <a:rPr sz="1500" b="1" i="1">
                <a:solidFill>
                  <a:srgbClr val="FFFFFF"/>
                </a:solidFill>
                <a:latin typeface="Segoe UI"/>
              </a:rPr>
              <a:t>Student asks: “Can I access the library 24/7?”</a:t>
            </a:r>
          </a:p>
        </p:txBody>
      </p:sp>
      <p:sp>
        <p:nvSpPr>
          <p:cNvPr id="15" name="Rounded Rectangle 14"/>
          <p:cNvSpPr/>
          <p:nvPr/>
        </p:nvSpPr>
        <p:spPr>
          <a:xfrm>
            <a:off x="1463040" y="3383280"/>
            <a:ext cx="4572000" cy="214884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737360" y="3566160"/>
            <a:ext cx="4023360" cy="365760"/>
          </a:xfrm>
          <a:prstGeom prst="rect">
            <a:avLst/>
          </a:prstGeom>
          <a:noFill/>
        </p:spPr>
        <p:txBody>
          <a:bodyPr wrap="square" anchor="t" lIns="0" rIns="0" tIns="0" bIns="0">
            <a:spAutoFit/>
          </a:bodyPr>
          <a:lstStyle/>
          <a:p>
            <a:pPr algn="l"/>
            <a:r>
              <a:rPr sz="1300" b="1" i="0">
                <a:solidFill>
                  <a:srgbClr val="E06C6C"/>
                </a:solidFill>
                <a:latin typeface="Segoe UI"/>
              </a:rPr>
              <a:t>Exam Period Appendix</a:t>
            </a:r>
          </a:p>
        </p:txBody>
      </p:sp>
      <p:sp>
        <p:nvSpPr>
          <p:cNvPr id="17" name="TextBox 16"/>
          <p:cNvSpPr txBox="1"/>
          <p:nvPr/>
        </p:nvSpPr>
        <p:spPr>
          <a:xfrm>
            <a:off x="1737360" y="3977639"/>
            <a:ext cx="4023360" cy="822960"/>
          </a:xfrm>
          <a:prstGeom prst="rect">
            <a:avLst/>
          </a:prstGeom>
          <a:noFill/>
        </p:spPr>
        <p:txBody>
          <a:bodyPr wrap="square" anchor="t" lIns="0" rIns="0" tIns="0" bIns="0">
            <a:spAutoFit/>
          </a:bodyPr>
          <a:lstStyle/>
          <a:p>
            <a:pPr algn="l">
              <a:lnSpc>
                <a:spcPct val="120000"/>
              </a:lnSpc>
            </a:pPr>
            <a:r>
              <a:rPr sz="1250" b="0" i="1">
                <a:solidFill>
                  <a:srgbClr val="FFFFFF"/>
                </a:solidFill>
                <a:latin typeface="Segoe UI"/>
              </a:rPr>
              <a:t>“library access is 24/7 during exam period”</a:t>
            </a:r>
          </a:p>
        </p:txBody>
      </p:sp>
      <p:sp>
        <p:nvSpPr>
          <p:cNvPr id="18" name="TextBox 17"/>
          <p:cNvSpPr txBox="1"/>
          <p:nvPr/>
        </p:nvSpPr>
        <p:spPr>
          <a:xfrm>
            <a:off x="1737360" y="4754880"/>
            <a:ext cx="4023360" cy="457200"/>
          </a:xfrm>
          <a:prstGeom prst="rect">
            <a:avLst/>
          </a:prstGeom>
          <a:noFill/>
        </p:spPr>
        <p:txBody>
          <a:bodyPr wrap="square" anchor="t" lIns="0" rIns="0" tIns="0" bIns="0">
            <a:spAutoFit/>
          </a:bodyPr>
          <a:lstStyle/>
          <a:p>
            <a:pPr algn="l"/>
            <a:r>
              <a:rPr sz="1100" b="1" i="0">
                <a:solidFill>
                  <a:srgbClr val="E06C6C"/>
                </a:solidFill>
                <a:latin typeface="Segoe UI"/>
              </a:rPr>
              <a:t>✗ matched on keywords — wrongly applied every week</a:t>
            </a:r>
          </a:p>
        </p:txBody>
      </p:sp>
      <p:sp>
        <p:nvSpPr>
          <p:cNvPr id="19" name="Rounded Rectangle 18"/>
          <p:cNvSpPr/>
          <p:nvPr/>
        </p:nvSpPr>
        <p:spPr>
          <a:xfrm>
            <a:off x="6309360" y="3383280"/>
            <a:ext cx="4572000" cy="214884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3566160"/>
            <a:ext cx="4023360" cy="365760"/>
          </a:xfrm>
          <a:prstGeom prst="rect">
            <a:avLst/>
          </a:prstGeom>
          <a:noFill/>
        </p:spPr>
        <p:txBody>
          <a:bodyPr wrap="square" anchor="t" lIns="0" rIns="0" tIns="0" bIns="0">
            <a:spAutoFit/>
          </a:bodyPr>
          <a:lstStyle/>
          <a:p>
            <a:pPr algn="l"/>
            <a:r>
              <a:rPr sz="1300" b="1" i="0">
                <a:solidFill>
                  <a:srgbClr val="2DD4BF"/>
                </a:solidFill>
                <a:latin typeface="Segoe UI"/>
              </a:rPr>
              <a:t>General Library Hours</a:t>
            </a:r>
          </a:p>
        </p:txBody>
      </p:sp>
      <p:sp>
        <p:nvSpPr>
          <p:cNvPr id="21" name="TextBox 20"/>
          <p:cNvSpPr txBox="1"/>
          <p:nvPr/>
        </p:nvSpPr>
        <p:spPr>
          <a:xfrm>
            <a:off x="6583680" y="3977639"/>
            <a:ext cx="4023360" cy="822960"/>
          </a:xfrm>
          <a:prstGeom prst="rect">
            <a:avLst/>
          </a:prstGeom>
          <a:noFill/>
        </p:spPr>
        <p:txBody>
          <a:bodyPr wrap="square" anchor="t" lIns="0" rIns="0" tIns="0" bIns="0">
            <a:spAutoFit/>
          </a:bodyPr>
          <a:lstStyle/>
          <a:p>
            <a:pPr algn="l">
              <a:lnSpc>
                <a:spcPct val="120000"/>
              </a:lnSpc>
            </a:pPr>
            <a:r>
              <a:rPr sz="1250" b="0" i="0">
                <a:solidFill>
                  <a:srgbClr val="FFFFFF"/>
                </a:solidFill>
                <a:latin typeface="Segoe UI"/>
              </a:rPr>
              <a:t>“open 8am–10pm, term time” — the rule that</a:t>
            </a:r>
          </a:p>
          <a:p>
            <a:pPr algn="l"/>
            <a:r>
              <a:rPr sz="1250" b="0" i="0">
                <a:solidFill>
                  <a:srgbClr val="FFFFFF"/>
                </a:solidFill>
                <a:latin typeface="Segoe UI"/>
              </a:rPr>
              <a:t>actually governs an ordinary week</a:t>
            </a:r>
          </a:p>
        </p:txBody>
      </p:sp>
      <p:sp>
        <p:nvSpPr>
          <p:cNvPr id="22" name="TextBox 21"/>
          <p:cNvSpPr txBox="1"/>
          <p:nvPr/>
        </p:nvSpPr>
        <p:spPr>
          <a:xfrm>
            <a:off x="6583680" y="4754880"/>
            <a:ext cx="4023360" cy="457200"/>
          </a:xfrm>
          <a:prstGeom prst="rect">
            <a:avLst/>
          </a:prstGeom>
          <a:noFill/>
        </p:spPr>
        <p:txBody>
          <a:bodyPr wrap="square" anchor="t" lIns="0" rIns="0" tIns="0" bIns="0">
            <a:spAutoFit/>
          </a:bodyPr>
          <a:lstStyle/>
          <a:p>
            <a:pPr algn="l"/>
            <a:r>
              <a:rPr sz="1100" b="1" i="0">
                <a:solidFill>
                  <a:srgbClr val="2DD4BF"/>
                </a:solidFill>
                <a:latin typeface="Segoe UI"/>
              </a:rPr>
              <a:t>✓ the fix: attach WHEN each rule applies</a:t>
            </a:r>
          </a:p>
        </p:txBody>
      </p:sp>
      <p:sp>
        <p:nvSpPr>
          <p:cNvPr id="23" name="TextBox 22"/>
          <p:cNvSpPr txBox="1"/>
          <p:nvPr/>
        </p:nvSpPr>
        <p:spPr>
          <a:xfrm>
            <a:off x="1463040" y="5715000"/>
            <a:ext cx="9418320" cy="457200"/>
          </a:xfrm>
          <a:prstGeom prst="rect">
            <a:avLst/>
          </a:prstGeom>
          <a:noFill/>
        </p:spPr>
        <p:txBody>
          <a:bodyPr wrap="square" anchor="t" lIns="0" rIns="0" tIns="0" bIns="0">
            <a:spAutoFit/>
          </a:bodyPr>
          <a:lstStyle/>
          <a:p>
            <a:pPr algn="l"/>
            <a:r>
              <a:rPr sz="1250" b="0" i="1">
                <a:solidFill>
                  <a:srgbClr val="9FB3C8"/>
                </a:solidFill>
                <a:latin typeface="Segoe UI"/>
              </a:rPr>
              <a:t>Fix: scope-aware retrieval — every passage carries its own context, not just its words.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10515600" cy="365760"/>
          </a:xfrm>
          <a:prstGeom prst="rect">
            <a:avLst/>
          </a:prstGeom>
          <a:noFill/>
        </p:spPr>
        <p:txBody>
          <a:bodyPr wrap="square" anchor="t" lIns="0" rIns="0" tIns="0" bIns="0">
            <a:spAutoFit/>
          </a:bodyPr>
          <a:lstStyle/>
          <a:p>
            <a:pPr algn="l"/>
            <a:r>
              <a:rPr sz="1250" b="1" i="0" spc="220">
                <a:solidFill>
                  <a:srgbClr val="2DD4BF"/>
                </a:solidFill>
                <a:latin typeface="Segoe UI"/>
              </a:rPr>
              <a:t>STEP 4 OF 5</a:t>
            </a:r>
          </a:p>
        </p:txBody>
      </p:sp>
      <p:sp>
        <p:nvSpPr>
          <p:cNvPr id="5" name="TextBox 4"/>
          <p:cNvSpPr txBox="1"/>
          <p:nvPr/>
        </p:nvSpPr>
        <p:spPr>
          <a:xfrm>
            <a:off x="576072" y="676656"/>
            <a:ext cx="10515600" cy="822960"/>
          </a:xfrm>
          <a:prstGeom prst="rect">
            <a:avLst/>
          </a:prstGeom>
          <a:noFill/>
        </p:spPr>
        <p:txBody>
          <a:bodyPr wrap="square" anchor="t" lIns="0" rIns="0" tIns="0" bIns="0">
            <a:spAutoFit/>
          </a:bodyPr>
          <a:lstStyle/>
          <a:p>
            <a:pPr algn="l">
              <a:lnSpc>
                <a:spcPct val="100000"/>
              </a:lnSpc>
            </a:pPr>
            <a:r>
              <a:rPr sz="3200" b="1" i="0">
                <a:solidFill>
                  <a:srgbClr val="FFFFFF"/>
                </a:solidFill>
                <a:latin typeface="Segoe UI"/>
              </a:rPr>
              <a:t>Know what it knows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355080"/>
            <a:ext cx="7315200" cy="502920"/>
          </a:xfrm>
          <a:prstGeom prst="rect">
            <a:avLst/>
          </a:prstGeom>
          <a:noFill/>
        </p:spPr>
        <p:txBody>
          <a:bodyPr wrap="square" anchor="ctr" lIns="0" rIns="0" tIns="0" bIns="0">
            <a:spAutoFit/>
          </a:bodyPr>
          <a:lstStyle/>
          <a:p>
            <a:pPr algn="l"/>
            <a:r>
              <a:rPr sz="1050" b="0" i="0">
                <a:solidFill>
                  <a:srgbClr val="9FB3C8"/>
                </a:solidFill>
                <a:latin typeface="Segoe UI"/>
              </a:rPr>
              <a:t>ICT108  ·  MetMate case study</a:t>
            </a:r>
          </a:p>
        </p:txBody>
      </p:sp>
      <p:sp>
        <p:nvSpPr>
          <p:cNvPr id="10" name="Oval 9"/>
          <p:cNvSpPr/>
          <p:nvPr/>
        </p:nvSpPr>
        <p:spPr>
          <a:xfrm>
            <a:off x="685800" y="1417319"/>
            <a:ext cx="640080" cy="640080"/>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0B1B33"/>
                </a:solidFill>
                <a:latin typeface="Segoe UI"/>
              </a:rPr>
              <a:t>4</a:t>
            </a:r>
          </a:p>
        </p:txBody>
      </p:sp>
      <p:sp>
        <p:nvSpPr>
          <p:cNvPr id="11" name="Rounded Rectangle 10"/>
          <p:cNvSpPr/>
          <p:nvPr/>
        </p:nvSpPr>
        <p:spPr>
          <a:xfrm>
            <a:off x="7863840" y="1417320"/>
            <a:ext cx="3703320" cy="50292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1417320"/>
            <a:ext cx="3474720" cy="502920"/>
          </a:xfrm>
          <a:prstGeom prst="rect">
            <a:avLst/>
          </a:prstGeom>
          <a:noFill/>
        </p:spPr>
        <p:txBody>
          <a:bodyPr wrap="square" anchor="ctr" lIns="0" rIns="0" tIns="0" bIns="0">
            <a:spAutoFit/>
          </a:bodyPr>
          <a:lstStyle/>
          <a:p>
            <a:pPr algn="l"/>
            <a:r>
              <a:rPr sz="1150" b="1" i="1">
                <a:solidFill>
                  <a:srgbClr val="E06C6C"/>
                </a:solidFill>
                <a:latin typeface="Segoe UI"/>
              </a:rPr>
              <a:t>✗ refused what it already had</a:t>
            </a:r>
          </a:p>
        </p:txBody>
      </p:sp>
      <p:sp>
        <p:nvSpPr>
          <p:cNvPr id="13" name="Rounded Rectangle 12"/>
          <p:cNvSpPr/>
          <p:nvPr/>
        </p:nvSpPr>
        <p:spPr>
          <a:xfrm>
            <a:off x="1005840" y="2286000"/>
            <a:ext cx="10149840" cy="685800"/>
          </a:xfrm>
          <a:prstGeom prst="roundRect">
            <a:avLst>
              <a:gd name="adj" fmla="val 30000"/>
            </a:avLst>
          </a:prstGeom>
          <a:solidFill>
            <a:srgbClr val="142847"/>
          </a:solidFill>
          <a:ln w="15875">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2286000"/>
            <a:ext cx="9601200" cy="685800"/>
          </a:xfrm>
          <a:prstGeom prst="rect">
            <a:avLst/>
          </a:prstGeom>
          <a:noFill/>
        </p:spPr>
        <p:txBody>
          <a:bodyPr wrap="square" anchor="ctr" lIns="0" rIns="0" tIns="0" bIns="0">
            <a:spAutoFit/>
          </a:bodyPr>
          <a:lstStyle/>
          <a:p>
            <a:pPr algn="l"/>
            <a:r>
              <a:rPr sz="1500" b="1" i="1">
                <a:solidFill>
                  <a:srgbClr val="FFFFFF"/>
                </a:solidFill>
                <a:latin typeface="Segoe UI"/>
              </a:rPr>
              <a:t>Student asks: “How many kinds of special consideration are there?”</a:t>
            </a:r>
          </a:p>
        </p:txBody>
      </p:sp>
      <p:sp>
        <p:nvSpPr>
          <p:cNvPr id="15" name="Rounded Rectangle 14"/>
          <p:cNvSpPr/>
          <p:nvPr/>
        </p:nvSpPr>
        <p:spPr>
          <a:xfrm>
            <a:off x="1463040" y="3383280"/>
            <a:ext cx="4572000" cy="237744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737360" y="3566160"/>
            <a:ext cx="4023360" cy="365760"/>
          </a:xfrm>
          <a:prstGeom prst="rect">
            <a:avLst/>
          </a:prstGeom>
          <a:noFill/>
        </p:spPr>
        <p:txBody>
          <a:bodyPr wrap="square" anchor="t" lIns="0" rIns="0" tIns="0" bIns="0">
            <a:spAutoFit/>
          </a:bodyPr>
          <a:lstStyle/>
          <a:p>
            <a:pPr algn="l"/>
            <a:r>
              <a:rPr sz="1300" b="1" i="0">
                <a:solidFill>
                  <a:srgbClr val="2DD4BF"/>
                </a:solidFill>
                <a:latin typeface="Segoe UI"/>
              </a:rPr>
              <a:t>Master index (table of contents)</a:t>
            </a:r>
          </a:p>
        </p:txBody>
      </p:sp>
      <p:sp>
        <p:nvSpPr>
          <p:cNvPr id="17" name="TextBox 16"/>
          <p:cNvSpPr txBox="1"/>
          <p:nvPr/>
        </p:nvSpPr>
        <p:spPr>
          <a:xfrm>
            <a:off x="1737360" y="3977639"/>
            <a:ext cx="3840480" cy="292608"/>
          </a:xfrm>
          <a:prstGeom prst="rect">
            <a:avLst/>
          </a:prstGeom>
          <a:noFill/>
        </p:spPr>
        <p:txBody>
          <a:bodyPr wrap="square" anchor="t" lIns="0" rIns="0" tIns="0" bIns="0">
            <a:spAutoFit/>
          </a:bodyPr>
          <a:lstStyle/>
          <a:p>
            <a:pPr algn="l"/>
            <a:r>
              <a:rPr sz="1200" b="0" i="0">
                <a:solidFill>
                  <a:srgbClr val="FFFFFF"/>
                </a:solidFill>
                <a:latin typeface="Segoe UI"/>
              </a:rPr>
              <a:t>✓ Medical</a:t>
            </a:r>
          </a:p>
        </p:txBody>
      </p:sp>
      <p:sp>
        <p:nvSpPr>
          <p:cNvPr id="18" name="TextBox 17"/>
          <p:cNvSpPr txBox="1"/>
          <p:nvPr/>
        </p:nvSpPr>
        <p:spPr>
          <a:xfrm>
            <a:off x="1737360" y="4288536"/>
            <a:ext cx="3840480" cy="292608"/>
          </a:xfrm>
          <a:prstGeom prst="rect">
            <a:avLst/>
          </a:prstGeom>
          <a:noFill/>
        </p:spPr>
        <p:txBody>
          <a:bodyPr wrap="square" anchor="t" lIns="0" rIns="0" tIns="0" bIns="0">
            <a:spAutoFit/>
          </a:bodyPr>
          <a:lstStyle/>
          <a:p>
            <a:pPr algn="l"/>
            <a:r>
              <a:rPr sz="1200" b="0" i="0">
                <a:solidFill>
                  <a:srgbClr val="FFFFFF"/>
                </a:solidFill>
                <a:latin typeface="Segoe UI"/>
              </a:rPr>
              <a:t>✓ Bereavement</a:t>
            </a:r>
          </a:p>
        </p:txBody>
      </p:sp>
      <p:sp>
        <p:nvSpPr>
          <p:cNvPr id="19" name="TextBox 18"/>
          <p:cNvSpPr txBox="1"/>
          <p:nvPr/>
        </p:nvSpPr>
        <p:spPr>
          <a:xfrm>
            <a:off x="1737360" y="4599431"/>
            <a:ext cx="3840480" cy="292608"/>
          </a:xfrm>
          <a:prstGeom prst="rect">
            <a:avLst/>
          </a:prstGeom>
          <a:noFill/>
        </p:spPr>
        <p:txBody>
          <a:bodyPr wrap="square" anchor="t" lIns="0" rIns="0" tIns="0" bIns="0">
            <a:spAutoFit/>
          </a:bodyPr>
          <a:lstStyle/>
          <a:p>
            <a:pPr algn="l"/>
            <a:r>
              <a:rPr sz="1200" b="0" i="0">
                <a:solidFill>
                  <a:srgbClr val="FFFFFF"/>
                </a:solidFill>
                <a:latin typeface="Segoe UI"/>
              </a:rPr>
              <a:t>✓ Carer</a:t>
            </a:r>
          </a:p>
        </p:txBody>
      </p:sp>
      <p:sp>
        <p:nvSpPr>
          <p:cNvPr id="20" name="TextBox 19"/>
          <p:cNvSpPr txBox="1"/>
          <p:nvPr/>
        </p:nvSpPr>
        <p:spPr>
          <a:xfrm>
            <a:off x="1737360" y="4910327"/>
            <a:ext cx="3840480" cy="292608"/>
          </a:xfrm>
          <a:prstGeom prst="rect">
            <a:avLst/>
          </a:prstGeom>
          <a:noFill/>
        </p:spPr>
        <p:txBody>
          <a:bodyPr wrap="square" anchor="t" lIns="0" rIns="0" tIns="0" bIns="0">
            <a:spAutoFit/>
          </a:bodyPr>
          <a:lstStyle/>
          <a:p>
            <a:pPr algn="l"/>
            <a:r>
              <a:rPr sz="1200" b="0" i="0">
                <a:solidFill>
                  <a:srgbClr val="FFFFFF"/>
                </a:solidFill>
                <a:latin typeface="Segoe UI"/>
              </a:rPr>
              <a:t>✓ Equipment fault</a:t>
            </a:r>
          </a:p>
        </p:txBody>
      </p:sp>
      <p:sp>
        <p:nvSpPr>
          <p:cNvPr id="21" name="TextBox 20"/>
          <p:cNvSpPr txBox="1"/>
          <p:nvPr/>
        </p:nvSpPr>
        <p:spPr>
          <a:xfrm>
            <a:off x="1737360" y="5221224"/>
            <a:ext cx="3840480" cy="292608"/>
          </a:xfrm>
          <a:prstGeom prst="rect">
            <a:avLst/>
          </a:prstGeom>
          <a:noFill/>
        </p:spPr>
        <p:txBody>
          <a:bodyPr wrap="square" anchor="t" lIns="0" rIns="0" tIns="0" bIns="0">
            <a:spAutoFit/>
          </a:bodyPr>
          <a:lstStyle/>
          <a:p>
            <a:pPr algn="l"/>
            <a:r>
              <a:rPr sz="1200" b="0" i="0">
                <a:solidFill>
                  <a:srgbClr val="FFFFFF"/>
                </a:solidFill>
                <a:latin typeface="Segoe UI"/>
              </a:rPr>
              <a:t>✓ Misadventure</a:t>
            </a:r>
          </a:p>
        </p:txBody>
      </p:sp>
      <p:sp>
        <p:nvSpPr>
          <p:cNvPr id="22" name="TextBox 21"/>
          <p:cNvSpPr txBox="1"/>
          <p:nvPr/>
        </p:nvSpPr>
        <p:spPr>
          <a:xfrm>
            <a:off x="1737360" y="5532120"/>
            <a:ext cx="3840480" cy="292608"/>
          </a:xfrm>
          <a:prstGeom prst="rect">
            <a:avLst/>
          </a:prstGeom>
          <a:noFill/>
        </p:spPr>
        <p:txBody>
          <a:bodyPr wrap="square" anchor="t" lIns="0" rIns="0" tIns="0" bIns="0">
            <a:spAutoFit/>
          </a:bodyPr>
          <a:lstStyle/>
          <a:p>
            <a:pPr algn="l"/>
            <a:r>
              <a:rPr sz="1200" b="0" i="0">
                <a:solidFill>
                  <a:srgbClr val="FFFFFF"/>
                </a:solidFill>
                <a:latin typeface="Segoe UI"/>
              </a:rPr>
              <a:t>✓ Religious</a:t>
            </a:r>
          </a:p>
        </p:txBody>
      </p:sp>
      <p:sp>
        <p:nvSpPr>
          <p:cNvPr id="23" name="Rounded Rectangle 22"/>
          <p:cNvSpPr/>
          <p:nvPr/>
        </p:nvSpPr>
        <p:spPr>
          <a:xfrm>
            <a:off x="6309360" y="3383280"/>
            <a:ext cx="4572000" cy="237744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0" y="3566160"/>
            <a:ext cx="4023360" cy="365760"/>
          </a:xfrm>
          <a:prstGeom prst="rect">
            <a:avLst/>
          </a:prstGeom>
          <a:noFill/>
        </p:spPr>
        <p:txBody>
          <a:bodyPr wrap="square" anchor="t" lIns="0" rIns="0" tIns="0" bIns="0">
            <a:spAutoFit/>
          </a:bodyPr>
          <a:lstStyle/>
          <a:p>
            <a:pPr algn="l"/>
            <a:r>
              <a:rPr sz="1300" b="1" i="0">
                <a:solidFill>
                  <a:srgbClr val="E06C6C"/>
                </a:solidFill>
                <a:latin typeface="Segoe UI"/>
              </a:rPr>
              <a:t>Retrieved passages this turn</a:t>
            </a:r>
          </a:p>
        </p:txBody>
      </p:sp>
      <p:sp>
        <p:nvSpPr>
          <p:cNvPr id="25" name="TextBox 24"/>
          <p:cNvSpPr txBox="1"/>
          <p:nvPr/>
        </p:nvSpPr>
        <p:spPr>
          <a:xfrm>
            <a:off x="6583680" y="3977639"/>
            <a:ext cx="3840480" cy="292608"/>
          </a:xfrm>
          <a:prstGeom prst="rect">
            <a:avLst/>
          </a:prstGeom>
          <a:noFill/>
        </p:spPr>
        <p:txBody>
          <a:bodyPr wrap="square" anchor="t" lIns="0" rIns="0" tIns="0" bIns="0">
            <a:spAutoFit/>
          </a:bodyPr>
          <a:lstStyle/>
          <a:p>
            <a:pPr algn="l"/>
            <a:r>
              <a:rPr sz="1200" b="0" i="0">
                <a:solidFill>
                  <a:srgbClr val="FFFFFF"/>
                </a:solidFill>
                <a:latin typeface="Segoe UI"/>
              </a:rPr>
              <a:t>✓ Medical</a:t>
            </a:r>
          </a:p>
        </p:txBody>
      </p:sp>
      <p:sp>
        <p:nvSpPr>
          <p:cNvPr id="26" name="TextBox 25"/>
          <p:cNvSpPr txBox="1"/>
          <p:nvPr/>
        </p:nvSpPr>
        <p:spPr>
          <a:xfrm>
            <a:off x="6583680" y="4288536"/>
            <a:ext cx="3840480" cy="292608"/>
          </a:xfrm>
          <a:prstGeom prst="rect">
            <a:avLst/>
          </a:prstGeom>
          <a:noFill/>
        </p:spPr>
        <p:txBody>
          <a:bodyPr wrap="square" anchor="t" lIns="0" rIns="0" tIns="0" bIns="0">
            <a:spAutoFit/>
          </a:bodyPr>
          <a:lstStyle/>
          <a:p>
            <a:pPr algn="l"/>
            <a:r>
              <a:rPr sz="1200" b="0" i="0">
                <a:solidFill>
                  <a:srgbClr val="FFFFFF"/>
                </a:solidFill>
                <a:latin typeface="Segoe UI"/>
              </a:rPr>
              <a:t>✓ Bereavement</a:t>
            </a:r>
          </a:p>
        </p:txBody>
      </p:sp>
      <p:sp>
        <p:nvSpPr>
          <p:cNvPr id="27" name="TextBox 26"/>
          <p:cNvSpPr txBox="1"/>
          <p:nvPr/>
        </p:nvSpPr>
        <p:spPr>
          <a:xfrm>
            <a:off x="6583680" y="4599431"/>
            <a:ext cx="3840480" cy="292608"/>
          </a:xfrm>
          <a:prstGeom prst="rect">
            <a:avLst/>
          </a:prstGeom>
          <a:noFill/>
        </p:spPr>
        <p:txBody>
          <a:bodyPr wrap="square" anchor="t" lIns="0" rIns="0" tIns="0" bIns="0">
            <a:spAutoFit/>
          </a:bodyPr>
          <a:lstStyle/>
          <a:p>
            <a:pPr algn="l"/>
            <a:r>
              <a:rPr sz="1200" b="0" i="1">
                <a:solidFill>
                  <a:srgbClr val="9FB3C8"/>
                </a:solidFill>
                <a:latin typeface="Segoe UI"/>
              </a:rPr>
              <a:t>✗ Carer — “unsupported”</a:t>
            </a:r>
          </a:p>
        </p:txBody>
      </p:sp>
      <p:sp>
        <p:nvSpPr>
          <p:cNvPr id="28" name="TextBox 27"/>
          <p:cNvSpPr txBox="1"/>
          <p:nvPr/>
        </p:nvSpPr>
        <p:spPr>
          <a:xfrm>
            <a:off x="6583680" y="4910327"/>
            <a:ext cx="3840480" cy="292608"/>
          </a:xfrm>
          <a:prstGeom prst="rect">
            <a:avLst/>
          </a:prstGeom>
          <a:noFill/>
        </p:spPr>
        <p:txBody>
          <a:bodyPr wrap="square" anchor="t" lIns="0" rIns="0" tIns="0" bIns="0">
            <a:spAutoFit/>
          </a:bodyPr>
          <a:lstStyle/>
          <a:p>
            <a:pPr algn="l"/>
            <a:r>
              <a:rPr sz="1200" b="0" i="1">
                <a:solidFill>
                  <a:srgbClr val="9FB3C8"/>
                </a:solidFill>
                <a:latin typeface="Segoe UI"/>
              </a:rPr>
              <a:t>✗ Equipment fault — “unsupported”</a:t>
            </a:r>
          </a:p>
        </p:txBody>
      </p:sp>
      <p:sp>
        <p:nvSpPr>
          <p:cNvPr id="29" name="TextBox 28"/>
          <p:cNvSpPr txBox="1"/>
          <p:nvPr/>
        </p:nvSpPr>
        <p:spPr>
          <a:xfrm>
            <a:off x="6583680" y="5221224"/>
            <a:ext cx="3840480" cy="292608"/>
          </a:xfrm>
          <a:prstGeom prst="rect">
            <a:avLst/>
          </a:prstGeom>
          <a:noFill/>
        </p:spPr>
        <p:txBody>
          <a:bodyPr wrap="square" anchor="t" lIns="0" rIns="0" tIns="0" bIns="0">
            <a:spAutoFit/>
          </a:bodyPr>
          <a:lstStyle/>
          <a:p>
            <a:pPr algn="l"/>
            <a:r>
              <a:rPr sz="1200" b="0" i="1">
                <a:solidFill>
                  <a:srgbClr val="9FB3C8"/>
                </a:solidFill>
                <a:latin typeface="Segoe UI"/>
              </a:rPr>
              <a:t>✗ Misadventure — “unsupported”</a:t>
            </a:r>
          </a:p>
        </p:txBody>
      </p:sp>
      <p:sp>
        <p:nvSpPr>
          <p:cNvPr id="30" name="TextBox 29"/>
          <p:cNvSpPr txBox="1"/>
          <p:nvPr/>
        </p:nvSpPr>
        <p:spPr>
          <a:xfrm>
            <a:off x="6583680" y="5532120"/>
            <a:ext cx="3840480" cy="292608"/>
          </a:xfrm>
          <a:prstGeom prst="rect">
            <a:avLst/>
          </a:prstGeom>
          <a:noFill/>
        </p:spPr>
        <p:txBody>
          <a:bodyPr wrap="square" anchor="t" lIns="0" rIns="0" tIns="0" bIns="0">
            <a:spAutoFit/>
          </a:bodyPr>
          <a:lstStyle/>
          <a:p>
            <a:pPr algn="l"/>
            <a:r>
              <a:rPr sz="1200" b="0" i="1">
                <a:solidFill>
                  <a:srgbClr val="9FB3C8"/>
                </a:solidFill>
                <a:latin typeface="Segoe UI"/>
              </a:rPr>
              <a:t>✗ Religious — “unsupported”</a:t>
            </a:r>
          </a:p>
        </p:txBody>
      </p:sp>
      <p:sp>
        <p:nvSpPr>
          <p:cNvPr id="31" name="TextBox 30"/>
          <p:cNvSpPr txBox="1"/>
          <p:nvPr/>
        </p:nvSpPr>
        <p:spPr>
          <a:xfrm>
            <a:off x="1463040" y="5989320"/>
            <a:ext cx="9418320" cy="457200"/>
          </a:xfrm>
          <a:prstGeom prst="rect">
            <a:avLst/>
          </a:prstGeom>
          <a:noFill/>
        </p:spPr>
        <p:txBody>
          <a:bodyPr wrap="square" anchor="t" lIns="0" rIns="0" tIns="0" bIns="0">
            <a:spAutoFit/>
          </a:bodyPr>
          <a:lstStyle/>
          <a:p>
            <a:pPr algn="l"/>
            <a:r>
              <a:rPr sz="1250" b="0" i="1">
                <a:solidFill>
                  <a:srgbClr val="9FB3C8"/>
                </a:solidFill>
                <a:latin typeface="Segoe UI"/>
              </a:rPr>
              <a:t>Fix: trust the index for WHAT EXISTS; still require a real passage for any RULE DETAIL.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10515600" cy="365760"/>
          </a:xfrm>
          <a:prstGeom prst="rect">
            <a:avLst/>
          </a:prstGeom>
          <a:noFill/>
        </p:spPr>
        <p:txBody>
          <a:bodyPr wrap="square" anchor="t" lIns="0" rIns="0" tIns="0" bIns="0">
            <a:spAutoFit/>
          </a:bodyPr>
          <a:lstStyle/>
          <a:p>
            <a:pPr algn="l"/>
            <a:r>
              <a:rPr sz="1250" b="1" i="0" spc="220">
                <a:solidFill>
                  <a:srgbClr val="2DD4BF"/>
                </a:solidFill>
                <a:latin typeface="Segoe UI"/>
              </a:rPr>
              <a:t>STEP 5 OF 5</a:t>
            </a:r>
          </a:p>
        </p:txBody>
      </p:sp>
      <p:sp>
        <p:nvSpPr>
          <p:cNvPr id="5" name="TextBox 4"/>
          <p:cNvSpPr txBox="1"/>
          <p:nvPr/>
        </p:nvSpPr>
        <p:spPr>
          <a:xfrm>
            <a:off x="576072" y="676656"/>
            <a:ext cx="10515600" cy="822960"/>
          </a:xfrm>
          <a:prstGeom prst="rect">
            <a:avLst/>
          </a:prstGeom>
          <a:noFill/>
        </p:spPr>
        <p:txBody>
          <a:bodyPr wrap="square" anchor="t" lIns="0" rIns="0" tIns="0" bIns="0">
            <a:spAutoFit/>
          </a:bodyPr>
          <a:lstStyle/>
          <a:p>
            <a:pPr algn="l">
              <a:lnSpc>
                <a:spcPct val="100000"/>
              </a:lnSpc>
            </a:pPr>
            <a:r>
              <a:rPr sz="3200" b="1" i="0">
                <a:solidFill>
                  <a:srgbClr val="FFFFFF"/>
                </a:solidFill>
                <a:latin typeface="Segoe UI"/>
              </a:rPr>
              <a:t>Never make it up</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355080"/>
            <a:ext cx="7315200" cy="502920"/>
          </a:xfrm>
          <a:prstGeom prst="rect">
            <a:avLst/>
          </a:prstGeom>
          <a:noFill/>
        </p:spPr>
        <p:txBody>
          <a:bodyPr wrap="square" anchor="ctr" lIns="0" rIns="0" tIns="0" bIns="0">
            <a:spAutoFit/>
          </a:bodyPr>
          <a:lstStyle/>
          <a:p>
            <a:pPr algn="l"/>
            <a:r>
              <a:rPr sz="1050" b="0" i="0">
                <a:solidFill>
                  <a:srgbClr val="9FB3C8"/>
                </a:solidFill>
                <a:latin typeface="Segoe UI"/>
              </a:rPr>
              <a:t>ICT108  ·  MetMate case study</a:t>
            </a:r>
          </a:p>
        </p:txBody>
      </p:sp>
      <p:sp>
        <p:nvSpPr>
          <p:cNvPr id="10" name="Oval 9"/>
          <p:cNvSpPr/>
          <p:nvPr/>
        </p:nvSpPr>
        <p:spPr>
          <a:xfrm>
            <a:off x="685800" y="1417319"/>
            <a:ext cx="640080" cy="640080"/>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0B1B33"/>
                </a:solidFill>
                <a:latin typeface="Segoe UI"/>
              </a:rPr>
              <a:t>5</a:t>
            </a:r>
          </a:p>
        </p:txBody>
      </p:sp>
      <p:sp>
        <p:nvSpPr>
          <p:cNvPr id="11" name="Rounded Rectangle 10"/>
          <p:cNvSpPr/>
          <p:nvPr/>
        </p:nvSpPr>
        <p:spPr>
          <a:xfrm>
            <a:off x="1005840" y="2468880"/>
            <a:ext cx="2743200" cy="13716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2651760"/>
            <a:ext cx="2377440" cy="1005840"/>
          </a:xfrm>
          <a:prstGeom prst="rect">
            <a:avLst/>
          </a:prstGeom>
          <a:noFill/>
        </p:spPr>
        <p:txBody>
          <a:bodyPr wrap="square" anchor="t" lIns="0" rIns="0" tIns="0" bIns="0">
            <a:spAutoFit/>
          </a:bodyPr>
          <a:lstStyle/>
          <a:p>
            <a:pPr algn="l"/>
            <a:r>
              <a:rPr sz="1300" b="1" i="0">
                <a:solidFill>
                  <a:srgbClr val="FFFFFF"/>
                </a:solidFill>
                <a:latin typeface="Segoe UI"/>
              </a:rPr>
              <a:t>Draft answer</a:t>
            </a:r>
          </a:p>
          <a:p>
            <a:pPr algn="l"/>
            <a:r>
              <a:rPr sz="1100" b="0" i="1">
                <a:solidFill>
                  <a:srgbClr val="9FB3C8"/>
                </a:solidFill>
                <a:latin typeface="Segoe UI"/>
              </a:rPr>
              <a:t>(not yet shown)</a:t>
            </a:r>
          </a:p>
        </p:txBody>
      </p:sp>
      <p:sp>
        <p:nvSpPr>
          <p:cNvPr id="13" name="Right Arrow 12"/>
          <p:cNvSpPr/>
          <p:nvPr/>
        </p:nvSpPr>
        <p:spPr>
          <a:xfrm>
            <a:off x="3886200" y="3017520"/>
            <a:ext cx="91440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iamond 13"/>
          <p:cNvSpPr/>
          <p:nvPr/>
        </p:nvSpPr>
        <p:spPr>
          <a:xfrm>
            <a:off x="4937760" y="2331720"/>
            <a:ext cx="2286000" cy="1645920"/>
          </a:xfrm>
          <a:prstGeom prst="diamond">
            <a:avLst/>
          </a:prstGeom>
          <a:solidFill>
            <a:srgbClr val="142847"/>
          </a:solidFill>
          <a:ln w="1905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20640" y="2880360"/>
            <a:ext cx="1920240" cy="548640"/>
          </a:xfrm>
          <a:prstGeom prst="rect">
            <a:avLst/>
          </a:prstGeom>
          <a:noFill/>
        </p:spPr>
        <p:txBody>
          <a:bodyPr wrap="square" anchor="t" lIns="0" rIns="0" tIns="0" bIns="0">
            <a:spAutoFit/>
          </a:bodyPr>
          <a:lstStyle/>
          <a:p>
            <a:pPr algn="ctr"/>
            <a:r>
              <a:rPr sz="1250" b="1" i="0">
                <a:solidFill>
                  <a:srgbClr val="F5B342"/>
                </a:solidFill>
                <a:latin typeface="Segoe UI"/>
              </a:rPr>
              <a:t>Verifier:</a:t>
            </a:r>
          </a:p>
          <a:p>
            <a:pPr algn="ctr"/>
            <a:r>
              <a:rPr sz="1250" b="1" i="0">
                <a:solidFill>
                  <a:srgbClr val="FFFFFF"/>
                </a:solidFill>
                <a:latin typeface="Segoe UI"/>
              </a:rPr>
              <a:t>grounded?</a:t>
            </a:r>
          </a:p>
        </p:txBody>
      </p:sp>
      <p:sp>
        <p:nvSpPr>
          <p:cNvPr id="16" name="Right Arrow 15"/>
          <p:cNvSpPr/>
          <p:nvPr/>
        </p:nvSpPr>
        <p:spPr>
          <a:xfrm>
            <a:off x="7360920" y="2514600"/>
            <a:ext cx="91440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412480" y="2286000"/>
            <a:ext cx="2743200" cy="82296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0" y="2286000"/>
            <a:ext cx="2377440" cy="822960"/>
          </a:xfrm>
          <a:prstGeom prst="rect">
            <a:avLst/>
          </a:prstGeom>
          <a:noFill/>
        </p:spPr>
        <p:txBody>
          <a:bodyPr wrap="square" anchor="ctr" lIns="0" rIns="0" tIns="0" bIns="0">
            <a:spAutoFit/>
          </a:bodyPr>
          <a:lstStyle/>
          <a:p>
            <a:pPr algn="l"/>
            <a:r>
              <a:rPr sz="1300" b="1" i="0">
                <a:solidFill>
                  <a:srgbClr val="2DD4BF"/>
                </a:solidFill>
                <a:latin typeface="Segoe UI"/>
              </a:rPr>
              <a:t>✓ Shown to student</a:t>
            </a:r>
          </a:p>
        </p:txBody>
      </p:sp>
      <p:sp>
        <p:nvSpPr>
          <p:cNvPr id="19" name="Right Arrow 18"/>
          <p:cNvSpPr/>
          <p:nvPr/>
        </p:nvSpPr>
        <p:spPr>
          <a:xfrm>
            <a:off x="7360920" y="3520440"/>
            <a:ext cx="914400" cy="274320"/>
          </a:xfrm>
          <a:prstGeom prst="rightArrow">
            <a:avLst/>
          </a:prstGeom>
          <a:solidFill>
            <a:srgbClr val="E06C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412480" y="3291840"/>
            <a:ext cx="2743200" cy="82296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0" y="3291840"/>
            <a:ext cx="2377440" cy="822960"/>
          </a:xfrm>
          <a:prstGeom prst="rect">
            <a:avLst/>
          </a:prstGeom>
          <a:noFill/>
        </p:spPr>
        <p:txBody>
          <a:bodyPr wrap="square" anchor="ctr" lIns="0" rIns="0" tIns="0" bIns="0">
            <a:spAutoFit/>
          </a:bodyPr>
          <a:lstStyle/>
          <a:p>
            <a:pPr algn="l"/>
            <a:r>
              <a:rPr sz="1250" b="1" i="0">
                <a:solidFill>
                  <a:srgbClr val="E06C6C"/>
                </a:solidFill>
                <a:latin typeface="Segoe UI"/>
              </a:rPr>
              <a:t>✗ Retry / re-search once</a:t>
            </a:r>
          </a:p>
        </p:txBody>
      </p:sp>
      <p:sp>
        <p:nvSpPr>
          <p:cNvPr id="22" name="Rounded Rectangle 21"/>
          <p:cNvSpPr/>
          <p:nvPr/>
        </p:nvSpPr>
        <p:spPr>
          <a:xfrm>
            <a:off x="4937760" y="4434840"/>
            <a:ext cx="3474720" cy="822960"/>
          </a:xfrm>
          <a:prstGeom prst="roundRect">
            <a:avLst>
              <a:gd name="adj" fmla="val 6000"/>
            </a:avLst>
          </a:prstGeom>
          <a:solidFill>
            <a:srgbClr val="142847"/>
          </a:solidFill>
          <a:ln w="12700">
            <a:solidFill>
              <a:srgbClr val="9FB3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20640" y="4434840"/>
            <a:ext cx="3108960" cy="822960"/>
          </a:xfrm>
          <a:prstGeom prst="rect">
            <a:avLst/>
          </a:prstGeom>
          <a:noFill/>
        </p:spPr>
        <p:txBody>
          <a:bodyPr wrap="square" anchor="ctr" lIns="0" rIns="0" tIns="0" bIns="0">
            <a:spAutoFit/>
          </a:bodyPr>
          <a:lstStyle/>
          <a:p>
            <a:pPr algn="l"/>
            <a:r>
              <a:rPr sz="1250" b="1" i="1">
                <a:solidFill>
                  <a:srgbClr val="9FB3C8"/>
                </a:solidFill>
                <a:latin typeface="Segoe UI"/>
              </a:rPr>
              <a:t>Still not grounded → admit it honestly</a:t>
            </a:r>
          </a:p>
        </p:txBody>
      </p:sp>
      <p:sp>
        <p:nvSpPr>
          <p:cNvPr id="24" name="TextBox 23"/>
          <p:cNvSpPr txBox="1"/>
          <p:nvPr/>
        </p:nvSpPr>
        <p:spPr>
          <a:xfrm>
            <a:off x="1005840" y="5486400"/>
            <a:ext cx="9601200" cy="640080"/>
          </a:xfrm>
          <a:prstGeom prst="rect">
            <a:avLst/>
          </a:prstGeom>
          <a:noFill/>
        </p:spPr>
        <p:txBody>
          <a:bodyPr wrap="square" anchor="t" lIns="0" rIns="0" tIns="0" bIns="0">
            <a:spAutoFit/>
          </a:bodyPr>
          <a:lstStyle/>
          <a:p>
            <a:pPr algn="l">
              <a:lnSpc>
                <a:spcPct val="120000"/>
              </a:lnSpc>
            </a:pPr>
            <a:r>
              <a:rPr sz="1300" b="0" i="0">
                <a:solidFill>
                  <a:srgbClr val="FFFFFF"/>
                </a:solidFill>
                <a:latin typeface="Segoe UI"/>
              </a:rPr>
              <a:t>Confidence and correctness are not the same thing for a language model — this gate is what closes the gap.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10515600" cy="365760"/>
          </a:xfrm>
          <a:prstGeom prst="rect">
            <a:avLst/>
          </a:prstGeom>
          <a:noFill/>
        </p:spPr>
        <p:txBody>
          <a:bodyPr wrap="square" anchor="t" lIns="0" rIns="0" tIns="0" bIns="0">
            <a:spAutoFit/>
          </a:bodyPr>
          <a:lstStyle/>
          <a:p>
            <a:pPr algn="l"/>
            <a:r>
              <a:rPr sz="1250" b="1" i="0" spc="220">
                <a:solidFill>
                  <a:srgbClr val="2DD4BF"/>
                </a:solidFill>
                <a:latin typeface="Segoe UI"/>
              </a:rPr>
              <a:t>RECAP</a:t>
            </a:r>
          </a:p>
        </p:txBody>
      </p:sp>
      <p:sp>
        <p:nvSpPr>
          <p:cNvPr id="5" name="TextBox 4"/>
          <p:cNvSpPr txBox="1"/>
          <p:nvPr/>
        </p:nvSpPr>
        <p:spPr>
          <a:xfrm>
            <a:off x="576072" y="676656"/>
            <a:ext cx="10515600" cy="822960"/>
          </a:xfrm>
          <a:prstGeom prst="rect">
            <a:avLst/>
          </a:prstGeom>
          <a:noFill/>
        </p:spPr>
        <p:txBody>
          <a:bodyPr wrap="square" anchor="t" lIns="0" rIns="0" tIns="0" bIns="0">
            <a:spAutoFit/>
          </a:bodyPr>
          <a:lstStyle/>
          <a:p>
            <a:pPr algn="l">
              <a:lnSpc>
                <a:spcPct val="100000"/>
              </a:lnSpc>
            </a:pPr>
            <a:r>
              <a:rPr sz="3200" b="1" i="0">
                <a:solidFill>
                  <a:srgbClr val="FFFFFF"/>
                </a:solidFill>
                <a:latin typeface="Segoe UI"/>
              </a:rPr>
              <a:t>Five steps, five instructive failures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355080"/>
            <a:ext cx="7315200" cy="502920"/>
          </a:xfrm>
          <a:prstGeom prst="rect">
            <a:avLst/>
          </a:prstGeom>
          <a:noFill/>
        </p:spPr>
        <p:txBody>
          <a:bodyPr wrap="square" anchor="ctr" lIns="0" rIns="0" tIns="0" bIns="0">
            <a:spAutoFit/>
          </a:bodyPr>
          <a:lstStyle/>
          <a:p>
            <a:pPr algn="l"/>
            <a:r>
              <a:rPr sz="1050" b="0" i="0">
                <a:solidFill>
                  <a:srgbClr val="9FB3C8"/>
                </a:solidFill>
                <a:latin typeface="Segoe UI"/>
              </a:rPr>
              <a:t>ICT108  ·  MetMate case study</a:t>
            </a:r>
          </a:p>
        </p:txBody>
      </p:sp>
      <p:sp>
        <p:nvSpPr>
          <p:cNvPr id="10" name="Rounded Rectangle 9"/>
          <p:cNvSpPr/>
          <p:nvPr/>
        </p:nvSpPr>
        <p:spPr>
          <a:xfrm>
            <a:off x="822960" y="2468880"/>
            <a:ext cx="1889699" cy="219456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16349" y="2720340"/>
            <a:ext cx="502920" cy="502920"/>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0B1B33"/>
                </a:solidFill>
                <a:latin typeface="Segoe UI"/>
              </a:rPr>
              <a:t>1</a:t>
            </a:r>
          </a:p>
        </p:txBody>
      </p:sp>
      <p:sp>
        <p:nvSpPr>
          <p:cNvPr id="12" name="TextBox 11"/>
          <p:cNvSpPr txBox="1"/>
          <p:nvPr/>
        </p:nvSpPr>
        <p:spPr>
          <a:xfrm>
            <a:off x="960120" y="3474720"/>
            <a:ext cx="1615379" cy="548640"/>
          </a:xfrm>
          <a:prstGeom prst="rect">
            <a:avLst/>
          </a:prstGeom>
          <a:noFill/>
        </p:spPr>
        <p:txBody>
          <a:bodyPr wrap="square" anchor="t" lIns="0" rIns="0" tIns="0" bIns="0">
            <a:spAutoFit/>
          </a:bodyPr>
          <a:lstStyle/>
          <a:p>
            <a:pPr algn="ctr"/>
            <a:r>
              <a:rPr sz="1350" b="1" i="0">
                <a:solidFill>
                  <a:srgbClr val="FFFFFF"/>
                </a:solidFill>
                <a:latin typeface="Segoe UI"/>
              </a:rPr>
              <a:t>Upload a PDF</a:t>
            </a:r>
          </a:p>
        </p:txBody>
      </p:sp>
      <p:sp>
        <p:nvSpPr>
          <p:cNvPr id="13" name="TextBox 12"/>
          <p:cNvSpPr txBox="1"/>
          <p:nvPr/>
        </p:nvSpPr>
        <p:spPr>
          <a:xfrm>
            <a:off x="960120" y="3977639"/>
            <a:ext cx="1615379" cy="548640"/>
          </a:xfrm>
          <a:prstGeom prst="rect">
            <a:avLst/>
          </a:prstGeom>
          <a:noFill/>
        </p:spPr>
        <p:txBody>
          <a:bodyPr wrap="square" anchor="t" lIns="0" rIns="0" tIns="0" bIns="0">
            <a:spAutoFit/>
          </a:bodyPr>
          <a:lstStyle/>
          <a:p>
            <a:pPr algn="ctr">
              <a:lnSpc>
                <a:spcPct val="110000"/>
              </a:lnSpc>
            </a:pPr>
            <a:r>
              <a:rPr sz="1050" b="0" i="1">
                <a:solidFill>
                  <a:srgbClr val="F5B342"/>
                </a:solidFill>
                <a:latin typeface="Segoe UI"/>
              </a:rPr>
              <a:t>doesn't scale</a:t>
            </a:r>
          </a:p>
        </p:txBody>
      </p:sp>
      <p:sp>
        <p:nvSpPr>
          <p:cNvPr id="14" name="Right Arrow 13"/>
          <p:cNvSpPr/>
          <p:nvPr/>
        </p:nvSpPr>
        <p:spPr>
          <a:xfrm>
            <a:off x="2694371" y="3465576"/>
            <a:ext cx="310896" cy="201168"/>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986979" y="2468880"/>
            <a:ext cx="1889699" cy="219456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80368" y="2720340"/>
            <a:ext cx="502920" cy="502920"/>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0B1B33"/>
                </a:solidFill>
                <a:latin typeface="Segoe UI"/>
              </a:rPr>
              <a:t>2</a:t>
            </a:r>
          </a:p>
        </p:txBody>
      </p:sp>
      <p:sp>
        <p:nvSpPr>
          <p:cNvPr id="17" name="TextBox 16"/>
          <p:cNvSpPr txBox="1"/>
          <p:nvPr/>
        </p:nvSpPr>
        <p:spPr>
          <a:xfrm>
            <a:off x="3124139" y="3474720"/>
            <a:ext cx="1615379" cy="548640"/>
          </a:xfrm>
          <a:prstGeom prst="rect">
            <a:avLst/>
          </a:prstGeom>
          <a:noFill/>
        </p:spPr>
        <p:txBody>
          <a:bodyPr wrap="square" anchor="t" lIns="0" rIns="0" tIns="0" bIns="0">
            <a:spAutoFit/>
          </a:bodyPr>
          <a:lstStyle/>
          <a:p>
            <a:pPr algn="ctr"/>
            <a:r>
              <a:rPr sz="1350" b="1" i="0">
                <a:solidFill>
                  <a:srgbClr val="FFFFFF"/>
                </a:solidFill>
                <a:latin typeface="Segoe UI"/>
              </a:rPr>
              <a:t>Embeddings</a:t>
            </a:r>
          </a:p>
        </p:txBody>
      </p:sp>
      <p:sp>
        <p:nvSpPr>
          <p:cNvPr id="18" name="TextBox 17"/>
          <p:cNvSpPr txBox="1"/>
          <p:nvPr/>
        </p:nvSpPr>
        <p:spPr>
          <a:xfrm>
            <a:off x="3124139" y="3977639"/>
            <a:ext cx="1615379" cy="548640"/>
          </a:xfrm>
          <a:prstGeom prst="rect">
            <a:avLst/>
          </a:prstGeom>
          <a:noFill/>
        </p:spPr>
        <p:txBody>
          <a:bodyPr wrap="square" anchor="t" lIns="0" rIns="0" tIns="0" bIns="0">
            <a:spAutoFit/>
          </a:bodyPr>
          <a:lstStyle/>
          <a:p>
            <a:pPr algn="ctr">
              <a:lnSpc>
                <a:spcPct val="110000"/>
              </a:lnSpc>
            </a:pPr>
            <a:r>
              <a:rPr sz="1050" b="0" i="1">
                <a:solidFill>
                  <a:srgbClr val="F5B342"/>
                </a:solidFill>
                <a:latin typeface="Segoe UI"/>
              </a:rPr>
              <a:t>teach it meaning</a:t>
            </a:r>
          </a:p>
        </p:txBody>
      </p:sp>
      <p:sp>
        <p:nvSpPr>
          <p:cNvPr id="19" name="Right Arrow 18"/>
          <p:cNvSpPr/>
          <p:nvPr/>
        </p:nvSpPr>
        <p:spPr>
          <a:xfrm>
            <a:off x="4858390" y="3465576"/>
            <a:ext cx="310896" cy="201168"/>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50998" y="2468880"/>
            <a:ext cx="1889699" cy="219456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844387" y="2720340"/>
            <a:ext cx="502920" cy="502920"/>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0B1B33"/>
                </a:solidFill>
                <a:latin typeface="Segoe UI"/>
              </a:rPr>
              <a:t>3</a:t>
            </a:r>
          </a:p>
        </p:txBody>
      </p:sp>
      <p:sp>
        <p:nvSpPr>
          <p:cNvPr id="22" name="TextBox 21"/>
          <p:cNvSpPr txBox="1"/>
          <p:nvPr/>
        </p:nvSpPr>
        <p:spPr>
          <a:xfrm>
            <a:off x="5288158" y="3474720"/>
            <a:ext cx="1615379" cy="548640"/>
          </a:xfrm>
          <a:prstGeom prst="rect">
            <a:avLst/>
          </a:prstGeom>
          <a:noFill/>
        </p:spPr>
        <p:txBody>
          <a:bodyPr wrap="square" anchor="t" lIns="0" rIns="0" tIns="0" bIns="0">
            <a:spAutoFit/>
          </a:bodyPr>
          <a:lstStyle/>
          <a:p>
            <a:pPr algn="ctr"/>
            <a:r>
              <a:rPr sz="1350" b="1" i="0">
                <a:solidFill>
                  <a:srgbClr val="FFFFFF"/>
                </a:solidFill>
                <a:latin typeface="Segoe UI"/>
              </a:rPr>
              <a:t>RAG</a:t>
            </a:r>
          </a:p>
        </p:txBody>
      </p:sp>
      <p:sp>
        <p:nvSpPr>
          <p:cNvPr id="23" name="TextBox 22"/>
          <p:cNvSpPr txBox="1"/>
          <p:nvPr/>
        </p:nvSpPr>
        <p:spPr>
          <a:xfrm>
            <a:off x="5288158" y="3977639"/>
            <a:ext cx="1615379" cy="548640"/>
          </a:xfrm>
          <a:prstGeom prst="rect">
            <a:avLst/>
          </a:prstGeom>
          <a:noFill/>
        </p:spPr>
        <p:txBody>
          <a:bodyPr wrap="square" anchor="t" lIns="0" rIns="0" tIns="0" bIns="0">
            <a:spAutoFit/>
          </a:bodyPr>
          <a:lstStyle/>
          <a:p>
            <a:pPr algn="ctr">
              <a:lnSpc>
                <a:spcPct val="110000"/>
              </a:lnSpc>
            </a:pPr>
            <a:r>
              <a:rPr sz="1050" b="0" i="1">
                <a:solidFill>
                  <a:srgbClr val="F5B342"/>
                </a:solidFill>
                <a:latin typeface="Segoe UI"/>
              </a:rPr>
              <a:t>grabbed wrong rule</a:t>
            </a:r>
          </a:p>
        </p:txBody>
      </p:sp>
      <p:sp>
        <p:nvSpPr>
          <p:cNvPr id="24" name="Right Arrow 23"/>
          <p:cNvSpPr/>
          <p:nvPr/>
        </p:nvSpPr>
        <p:spPr>
          <a:xfrm>
            <a:off x="7022409" y="3465576"/>
            <a:ext cx="310896" cy="201168"/>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315017" y="2468880"/>
            <a:ext cx="1889699" cy="219456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08406" y="2720340"/>
            <a:ext cx="502920" cy="502920"/>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0B1B33"/>
                </a:solidFill>
                <a:latin typeface="Segoe UI"/>
              </a:rPr>
              <a:t>4</a:t>
            </a:r>
          </a:p>
        </p:txBody>
      </p:sp>
      <p:sp>
        <p:nvSpPr>
          <p:cNvPr id="27" name="TextBox 26"/>
          <p:cNvSpPr txBox="1"/>
          <p:nvPr/>
        </p:nvSpPr>
        <p:spPr>
          <a:xfrm>
            <a:off x="7452177" y="3474720"/>
            <a:ext cx="1615379" cy="548640"/>
          </a:xfrm>
          <a:prstGeom prst="rect">
            <a:avLst/>
          </a:prstGeom>
          <a:noFill/>
        </p:spPr>
        <p:txBody>
          <a:bodyPr wrap="square" anchor="t" lIns="0" rIns="0" tIns="0" bIns="0">
            <a:spAutoFit/>
          </a:bodyPr>
          <a:lstStyle/>
          <a:p>
            <a:pPr algn="ctr"/>
            <a:r>
              <a:rPr sz="1350" b="1" i="0">
                <a:solidFill>
                  <a:srgbClr val="FFFFFF"/>
                </a:solidFill>
                <a:latin typeface="Segoe UI"/>
              </a:rPr>
              <a:t>Know its knowledge</a:t>
            </a:r>
          </a:p>
        </p:txBody>
      </p:sp>
      <p:sp>
        <p:nvSpPr>
          <p:cNvPr id="28" name="TextBox 27"/>
          <p:cNvSpPr txBox="1"/>
          <p:nvPr/>
        </p:nvSpPr>
        <p:spPr>
          <a:xfrm>
            <a:off x="7452177" y="3977639"/>
            <a:ext cx="1615379" cy="548640"/>
          </a:xfrm>
          <a:prstGeom prst="rect">
            <a:avLst/>
          </a:prstGeom>
          <a:noFill/>
        </p:spPr>
        <p:txBody>
          <a:bodyPr wrap="square" anchor="t" lIns="0" rIns="0" tIns="0" bIns="0">
            <a:spAutoFit/>
          </a:bodyPr>
          <a:lstStyle/>
          <a:p>
            <a:pPr algn="ctr">
              <a:lnSpc>
                <a:spcPct val="110000"/>
              </a:lnSpc>
            </a:pPr>
            <a:r>
              <a:rPr sz="1050" b="0" i="1">
                <a:solidFill>
                  <a:srgbClr val="F5B342"/>
                </a:solidFill>
                <a:latin typeface="Segoe UI"/>
              </a:rPr>
              <a:t>refused too much</a:t>
            </a:r>
          </a:p>
        </p:txBody>
      </p:sp>
      <p:sp>
        <p:nvSpPr>
          <p:cNvPr id="29" name="Right Arrow 28"/>
          <p:cNvSpPr/>
          <p:nvPr/>
        </p:nvSpPr>
        <p:spPr>
          <a:xfrm>
            <a:off x="9186428" y="3465576"/>
            <a:ext cx="310896" cy="201168"/>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479036" y="2468880"/>
            <a:ext cx="1889699" cy="219456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172425" y="2720340"/>
            <a:ext cx="502920" cy="502920"/>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0B1B33"/>
                </a:solidFill>
                <a:latin typeface="Segoe UI"/>
              </a:rPr>
              <a:t>5</a:t>
            </a:r>
          </a:p>
        </p:txBody>
      </p:sp>
      <p:sp>
        <p:nvSpPr>
          <p:cNvPr id="32" name="TextBox 31"/>
          <p:cNvSpPr txBox="1"/>
          <p:nvPr/>
        </p:nvSpPr>
        <p:spPr>
          <a:xfrm>
            <a:off x="9616196" y="3474720"/>
            <a:ext cx="1615379" cy="548640"/>
          </a:xfrm>
          <a:prstGeom prst="rect">
            <a:avLst/>
          </a:prstGeom>
          <a:noFill/>
        </p:spPr>
        <p:txBody>
          <a:bodyPr wrap="square" anchor="t" lIns="0" rIns="0" tIns="0" bIns="0">
            <a:spAutoFit/>
          </a:bodyPr>
          <a:lstStyle/>
          <a:p>
            <a:pPr algn="ctr"/>
            <a:r>
              <a:rPr sz="1350" b="1" i="0">
                <a:solidFill>
                  <a:srgbClr val="FFFFFF"/>
                </a:solidFill>
                <a:latin typeface="Segoe UI"/>
              </a:rPr>
              <a:t>Grounding</a:t>
            </a:r>
          </a:p>
        </p:txBody>
      </p:sp>
      <p:sp>
        <p:nvSpPr>
          <p:cNvPr id="33" name="TextBox 32"/>
          <p:cNvSpPr txBox="1"/>
          <p:nvPr/>
        </p:nvSpPr>
        <p:spPr>
          <a:xfrm>
            <a:off x="9616196" y="3977639"/>
            <a:ext cx="1615379" cy="548640"/>
          </a:xfrm>
          <a:prstGeom prst="rect">
            <a:avLst/>
          </a:prstGeom>
          <a:noFill/>
        </p:spPr>
        <p:txBody>
          <a:bodyPr wrap="square" anchor="t" lIns="0" rIns="0" tIns="0" bIns="0">
            <a:spAutoFit/>
          </a:bodyPr>
          <a:lstStyle/>
          <a:p>
            <a:pPr algn="ctr">
              <a:lnSpc>
                <a:spcPct val="110000"/>
              </a:lnSpc>
            </a:pPr>
            <a:r>
              <a:rPr sz="1050" b="0" i="1">
                <a:solidFill>
                  <a:srgbClr val="F5B342"/>
                </a:solidFill>
                <a:latin typeface="Segoe UI"/>
              </a:rPr>
              <a:t>never make it up</a:t>
            </a:r>
          </a:p>
        </p:txBody>
      </p:sp>
      <p:sp>
        <p:nvSpPr>
          <p:cNvPr id="34" name="TextBox 33"/>
          <p:cNvSpPr txBox="1"/>
          <p:nvPr/>
        </p:nvSpPr>
        <p:spPr>
          <a:xfrm>
            <a:off x="822960" y="5074920"/>
            <a:ext cx="10515600" cy="914400"/>
          </a:xfrm>
          <a:prstGeom prst="rect">
            <a:avLst/>
          </a:prstGeom>
          <a:noFill/>
        </p:spPr>
        <p:txBody>
          <a:bodyPr wrap="square" anchor="t" lIns="0" rIns="0" tIns="0" bIns="0">
            <a:spAutoFit/>
          </a:bodyPr>
          <a:lstStyle/>
          <a:p>
            <a:pPr algn="ctr"/>
            <a:r>
              <a:rPr sz="3000" b="1" i="0">
                <a:solidFill>
                  <a:srgbClr val="FFFFFF"/>
                </a:solidFill>
                <a:latin typeface="Segoe UI"/>
              </a:rPr>
              <a:t>Thank you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