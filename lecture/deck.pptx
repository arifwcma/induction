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07" autoAdjust="0"/>
  </p:normalViewPr>
  <p:slideViewPr>
    <p:cSldViewPr snapToGrid="0" snapToObjects="1">
      <p:cViewPr varScale="1">
        <p:scale>
          <a:sx n="93" d="100"/>
          <a:sy n="93" d="100"/>
        </p:scale>
        <p:origin x="12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962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Terminologies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Under the hood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KB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OpenAI -&gt; ChatGPT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All docs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OpenAI API – magic box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chunk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BM25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Semantic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Pass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Pass, fail, course</a:t>
            </a:r>
          </a:p>
          <a:p>
            <a:r>
              <a:rPr lang="en-AU" dirty="0"/>
              <a:t>Dimension</a:t>
            </a:r>
          </a:p>
          <a:p>
            <a:r>
              <a:rPr lang="en-AU" dirty="0"/>
              <a:t>300-3000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Representation learning</a:t>
            </a:r>
          </a:p>
          <a:p>
            <a:r>
              <a:rPr lang="en-AU" dirty="0"/>
              <a:t>Local embedding models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11BD3A-479B-8677-E6BF-8A54C15F95E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32463" y="63500"/>
            <a:ext cx="763587" cy="2133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4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 dirty="0">
                <a:solidFill>
                  <a:srgbClr val="FFFFFF"/>
                </a:solidFill>
                <a:latin typeface="Segoe UI"/>
              </a:rPr>
              <a:t>Talk to Your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487168"/>
            <a:ext cx="1737360" cy="73152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283396"/>
            <a:ext cx="10515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2DD4BF"/>
                </a:solidFill>
                <a:latin typeface="Segoe UI"/>
              </a:rPr>
              <a:t>Case study: </a:t>
            </a:r>
            <a:r>
              <a:rPr sz="3200" b="1" i="0" dirty="0" err="1">
                <a:solidFill>
                  <a:srgbClr val="2DD4BF"/>
                </a:solidFill>
                <a:latin typeface="Segoe UI"/>
              </a:rPr>
              <a:t>MetMate</a:t>
            </a:r>
            <a:endParaRPr sz="3200" b="1" i="0" dirty="0">
              <a:solidFill>
                <a:srgbClr val="2DD4BF"/>
              </a:solidFill>
              <a:latin typeface="Segoe UI"/>
            </a:endParaRPr>
          </a:p>
        </p:txBody>
      </p:sp>
      <p:pic>
        <p:nvPicPr>
          <p:cNvPr id="13" name="Picture 12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1754" y="411480"/>
            <a:ext cx="1248461" cy="914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9" name="Rounded Rectangle 17">
            <a:extLst>
              <a:ext uri="{FF2B5EF4-FFF2-40B4-BE49-F238E27FC236}">
                <a16:creationId xmlns:a16="http://schemas.microsoft.com/office/drawing/2014/main" id="{61910CB8-D5BA-7CDA-00F2-FD5737F91B76}"/>
              </a:ext>
            </a:extLst>
          </p:cNvPr>
          <p:cNvSpPr/>
          <p:nvPr/>
        </p:nvSpPr>
        <p:spPr>
          <a:xfrm>
            <a:off x="3120705" y="4377795"/>
            <a:ext cx="4353886" cy="731520"/>
          </a:xfrm>
          <a:prstGeom prst="roundRect">
            <a:avLst>
              <a:gd name="adj" fmla="val 25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6FF880-C597-AAB4-5321-97F3D5F4326E}"/>
              </a:ext>
            </a:extLst>
          </p:cNvPr>
          <p:cNvSpPr txBox="1"/>
          <p:nvPr/>
        </p:nvSpPr>
        <p:spPr>
          <a:xfrm>
            <a:off x="3287730" y="4630319"/>
            <a:ext cx="3955551" cy="226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AU" sz="1400" b="0" i="1" dirty="0">
                <a:solidFill>
                  <a:srgbClr val="FFFFFF"/>
                </a:solidFill>
                <a:latin typeface="Segoe UI"/>
              </a:rPr>
              <a:t>Question: </a:t>
            </a:r>
            <a:r>
              <a:rPr sz="1400" b="0" i="1" dirty="0">
                <a:solidFill>
                  <a:srgbClr val="FFFFFF"/>
                </a:solidFill>
                <a:latin typeface="Segoe UI"/>
              </a:rPr>
              <a:t>What are the library opening hours?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1  ·  JUST ASK 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Upload a PDF, ask 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9FB3C8"/>
                </a:solidFill>
                <a:latin typeface="Segoe UI"/>
              </a:rPr>
              <a:t>The simplest possible start — no code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94560"/>
            <a:ext cx="3200400" cy="3200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194560"/>
            <a:ext cx="3200400" cy="411480"/>
          </a:xfrm>
          <a:prstGeom prst="roundRect">
            <a:avLst>
              <a:gd name="adj" fmla="val 6000"/>
            </a:avLst>
          </a:prstGeom>
          <a:solidFill>
            <a:srgbClr val="0F2240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2DD4BF"/>
                </a:solidFill>
                <a:latin typeface="Segoe UI"/>
              </a:rPr>
              <a:t>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27889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F2240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34440" y="2788920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handbook.pdf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3337560"/>
            <a:ext cx="2743200" cy="731520"/>
          </a:xfrm>
          <a:prstGeom prst="roundRect">
            <a:avLst>
              <a:gd name="adj" fmla="val 25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33375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FFFFFF"/>
                </a:solidFill>
                <a:latin typeface="Segoe UI"/>
              </a:rPr>
              <a:t>What are the library opening hours?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206240"/>
            <a:ext cx="2743200" cy="731520"/>
          </a:xfrm>
          <a:prstGeom prst="roundRect">
            <a:avLst>
              <a:gd name="adj" fmla="val 25000"/>
            </a:avLst>
          </a:prstGeom>
          <a:solidFill>
            <a:srgbClr val="0F2240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420624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8am–10pm on term days.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864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2DD4BF"/>
                </a:solidFill>
                <a:latin typeface="Segoe UI"/>
              </a:rPr>
              <a:t>one person, one chat — it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29184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9FB3C8"/>
                </a:solidFill>
                <a:latin typeface="Segoe UI"/>
              </a:rPr>
              <a:t>under 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52044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9FB3C8"/>
                </a:solidFill>
                <a:latin typeface="Segoe UI"/>
              </a:rPr>
              <a:t>hood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3931920"/>
            <a:ext cx="7772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74920" y="2194560"/>
            <a:ext cx="3657600" cy="3200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20" y="23317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342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788920"/>
            <a:ext cx="32004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9FB3C8"/>
                </a:solidFill>
                <a:latin typeface="Consolas"/>
              </a:rPr>
              <a:t>&lt;entire text of handbook.pdf&gt;</a:t>
            </a:r>
          </a:p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9FB3C8"/>
                </a:solidFill>
                <a:latin typeface="Consolas"/>
              </a:rPr>
              <a:t>… 200 pages of it …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onsolas"/>
              </a:rPr>
              <a:t>+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onsolas"/>
              </a:rPr>
              <a:t>“What are the library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Consolas"/>
              </a:rPr>
              <a:t>opening hours?”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983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Segoe UI"/>
              </a:rPr>
              <a:t>ONE long piece of text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69680" y="365760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646920" y="3017520"/>
            <a:ext cx="1965960" cy="15544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0" y="324612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2DD4BF"/>
                </a:solidFill>
                <a:latin typeface="Segoe UI"/>
              </a:rPr>
              <a:t>the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6576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reads it all, writes the answer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1  ·  IT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Why this doesn't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9FB3C8"/>
                </a:solidFill>
                <a:latin typeface="Segoe UI"/>
              </a:rPr>
              <a:t>It works for one person. Now give it to 30,000 students.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05840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It's ChatGPT's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We can't put ChatGPT itself on the university website. Building our own ChatGPT-like product from scratch is a huge job.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4418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597298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218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 paid seat per student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018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The alternative: every student buys their own subscription — thousands of seats, just to ask about the handbook.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5876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88756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1676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Many documents, always changing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4476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One answer may need handbook + library rules + exam procedures. They change all year. Re-uploading the current pile into every chat? Nobody will.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709160"/>
            <a:ext cx="10561320" cy="685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953122"/>
            <a:ext cx="10195560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dirty="0">
                <a:solidFill>
                  <a:srgbClr val="2DD4BF"/>
                </a:solidFill>
                <a:latin typeface="Segoe UI"/>
              </a:rPr>
              <a:t>Knowledge Base (KB)</a:t>
            </a:r>
            <a:r>
              <a:rPr sz="1050" dirty="0">
                <a:solidFill>
                  <a:srgbClr val="9FB3C8"/>
                </a:solidFill>
                <a:latin typeface="Segoe UI"/>
              </a:rPr>
              <a:t>  —  the pile of official documents the bot must answer from.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OUR OWN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Our own bot — same trick, our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086100"/>
            <a:ext cx="3209544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Student's browser
chat page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70248" y="348386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9704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62856" y="3470108"/>
            <a:ext cx="3209544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Our </a:t>
            </a:r>
            <a:r>
              <a:rPr lang="en-AU" sz="1250" b="1" i="0" dirty="0">
                <a:solidFill>
                  <a:srgbClr val="FFFFFF"/>
                </a:solidFill>
                <a:latin typeface="Segoe UI"/>
              </a:rPr>
              <a:t>web application</a:t>
            </a:r>
            <a:endParaRPr sz="12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7863840" y="348386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83296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470107"/>
            <a:ext cx="3209544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OpenAI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AI VS NOT-AI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How much of this is actually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24712" y="2331720"/>
            <a:ext cx="1865376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Student's browser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27248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02152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75304" y="2700530"/>
            <a:ext cx="1865376" cy="176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 dirty="0">
                <a:solidFill>
                  <a:srgbClr val="FFFFFF"/>
                </a:solidFill>
                <a:latin typeface="Segoe UI"/>
              </a:rPr>
              <a:t>Our </a:t>
            </a:r>
            <a:r>
              <a:rPr lang="en-AU" sz="1150" b="1" i="0" dirty="0">
                <a:solidFill>
                  <a:srgbClr val="FFFFFF"/>
                </a:solidFill>
                <a:latin typeface="Segoe UI"/>
              </a:rPr>
              <a:t>web application</a:t>
            </a:r>
            <a:endParaRPr sz="11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577840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52744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25896" y="2331720"/>
            <a:ext cx="1865376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Glue the big string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28431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23960" y="23317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97112" y="2692868"/>
            <a:ext cx="2185415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AU" sz="1250" b="1" i="0" dirty="0">
                <a:solidFill>
                  <a:srgbClr val="FFFFFF"/>
                </a:solidFill>
                <a:latin typeface="Segoe UI"/>
              </a:rPr>
              <a:t>OpenAI API</a:t>
            </a:r>
            <a:endParaRPr sz="12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2057400"/>
            <a:ext cx="7269480" cy="1463040"/>
          </a:xfrm>
          <a:prstGeom prst="roundRect">
            <a:avLst>
              <a:gd name="adj" fmla="val 8000"/>
            </a:avLst>
          </a:prstGeom>
          <a:noFill/>
          <a:ln w="2222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61188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2DD4BF"/>
                </a:solidFill>
                <a:latin typeface="Segoe UI"/>
              </a:rPr>
              <a:t>ORDINARY CODE — deterministic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1080" y="2057400"/>
            <a:ext cx="2697480" cy="1463040"/>
          </a:xfrm>
          <a:prstGeom prst="roundRect">
            <a:avLst>
              <a:gd name="adj" fmla="val 8000"/>
            </a:avLst>
          </a:prstGeom>
          <a:noFill/>
          <a:ln w="22225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36118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342"/>
                </a:solidFill>
                <a:latin typeface="Segoe UI"/>
              </a:rPr>
              <a:t>AI — non-deterministic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94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B342"/>
                </a:solidFill>
                <a:latin typeface="Segoe UI"/>
              </a:rPr>
              <a:t>An “AI system” is mostly NOT AI — one AI box, surrounded by ordinary software.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question, two million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691640"/>
            <a:ext cx="2926080" cy="47548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1691640"/>
            <a:ext cx="25968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E06C6C"/>
                </a:solidFill>
                <a:latin typeface="Segoe UI"/>
              </a:rPr>
              <a:t>✗ too slow to be usable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423160"/>
            <a:ext cx="310896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9FB3C8"/>
                </a:solidFill>
                <a:latin typeface="Segoe UI"/>
              </a:rPr>
              <a:t>the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7180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300 PDFs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56616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B342"/>
                </a:solidFill>
                <a:latin typeface="Segoe UI"/>
              </a:rPr>
              <a:t>≈ 2,000,000 words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69080" y="329184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46320" y="2423160"/>
            <a:ext cx="310896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26060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342"/>
                </a:solidFill>
                <a:latin typeface="Segoe UI"/>
              </a:rPr>
              <a:t>the 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7180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ALL of it, for EVERY question</a:t>
            </a:r>
          </a:p>
          <a:p>
            <a:pPr algn="l"/>
            <a:r>
              <a:rPr sz="1100" b="0" i="1">
                <a:solidFill>
                  <a:srgbClr val="9FB3C8"/>
                </a:solidFill>
                <a:latin typeface="Segoe UI"/>
              </a:rPr>
              <a:t>even “what are the library hours?”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92440" y="329184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869680" y="242316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  <a:latin typeface="Segoe UI"/>
              </a:rPr>
              <a:t>the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971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06C6C"/>
                </a:solidFill>
                <a:latin typeface="Segoe UI"/>
              </a:rPr>
              <a:t>~1 minute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566160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9FB3C8"/>
                </a:solidFill>
                <a:latin typeface="Segoe UI"/>
              </a:rPr>
              <a:t>per answer — my first real bot worked exactly like this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9FB3C8"/>
                </a:solidFill>
                <a:latin typeface="Segoe UI"/>
              </a:rPr>
              <a:t>Almost everything we send is irrelevant to the question being asked.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SEARCH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Send less: pick the right pieces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9FB3C8"/>
                </a:solidFill>
                <a:latin typeface="Segoe UI"/>
              </a:rPr>
              <a:t>For any one question, only a few paragraphs of the whole KB matter. Send those.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KB
documents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00300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619756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2908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 dirty="0">
                <a:solidFill>
                  <a:srgbClr val="FFFFFF"/>
                </a:solidFill>
                <a:latin typeface="Segoe UI"/>
              </a:rPr>
              <a:t>split into
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97095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16552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9704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pick the top 5
for this question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93892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13348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86500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prompt:
5 chunks + question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790688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10144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83296" y="2616784"/>
            <a:ext cx="1412748" cy="161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AU" sz="1050" b="1" i="0" dirty="0">
                <a:solidFill>
                  <a:srgbClr val="FFFFFF"/>
                </a:solidFill>
                <a:latin typeface="Segoe UI"/>
              </a:rPr>
              <a:t>OpenAI API</a:t>
            </a:r>
            <a:endParaRPr sz="10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7" name="Right Arrow 26"/>
          <p:cNvSpPr/>
          <p:nvPr/>
        </p:nvSpPr>
        <p:spPr>
          <a:xfrm>
            <a:off x="9587484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806940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80092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07724"/>
            <a:ext cx="649224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807724"/>
            <a:ext cx="61264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Chunk</a:t>
            </a:r>
            <a:r>
              <a:rPr sz="1050">
                <a:solidFill>
                  <a:srgbClr val="9FB3C8"/>
                </a:solidFill>
                <a:latin typeface="Segoe UI"/>
              </a:rPr>
              <a:t>  —  a small passage cut from a document — a few paragraphs, ideally one topic.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807724"/>
            <a:ext cx="384048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0" y="4807724"/>
            <a:ext cx="33832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2DD4BF"/>
                </a:solidFill>
                <a:latin typeface="Segoe UI"/>
              </a:rPr>
              <a:t>200 pages  →  2 pages per question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E0230A7D-146A-4D31-5A00-2E3734E72C9D}"/>
              </a:ext>
            </a:extLst>
          </p:cNvPr>
          <p:cNvSpPr/>
          <p:nvPr/>
        </p:nvSpPr>
        <p:spPr>
          <a:xfrm>
            <a:off x="4668105" y="3657600"/>
            <a:ext cx="2253573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F9C2E9-C4CF-1413-5C42-83102BEA364F}"/>
              </a:ext>
            </a:extLst>
          </p:cNvPr>
          <p:cNvSpPr txBox="1"/>
          <p:nvPr/>
        </p:nvSpPr>
        <p:spPr>
          <a:xfrm>
            <a:off x="4896705" y="3927180"/>
            <a:ext cx="338328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AU" sz="1250" b="1" i="0" dirty="0">
                <a:solidFill>
                  <a:srgbClr val="2DD4BF"/>
                </a:solidFill>
                <a:latin typeface="Segoe UI"/>
              </a:rPr>
              <a:t>New terminology: chunk</a:t>
            </a:r>
            <a:endParaRPr sz="1250" b="1" i="0" dirty="0">
              <a:solidFill>
                <a:srgbClr val="2DD4B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SEARCH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Finding the pieces — no AI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37360"/>
            <a:ext cx="6949440" cy="548640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7373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1">
                <a:solidFill>
                  <a:srgbClr val="FFFFFF"/>
                </a:solidFill>
                <a:latin typeface="Segoe UI"/>
              </a:rPr>
              <a:t>“What are the library opening hours?”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688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THE KB, AS ACTUALLY STORED — A TABLE OF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34640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4128" y="2953512"/>
            <a:ext cx="365760" cy="36576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0B1B33"/>
                </a:solidFill>
                <a:latin typeface="Segoe U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34640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834640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library · opening ·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834640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Segoe UI"/>
              </a:rPr>
              <a:t>score 3 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547872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24128" y="3666744"/>
            <a:ext cx="365760" cy="365760"/>
          </a:xfrm>
          <a:prstGeom prst="ellipse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9FB3C8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547872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“Enrolment closes at the census date.”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547872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54787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score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261104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24128" y="4379976"/>
            <a:ext cx="365760" cy="365760"/>
          </a:xfrm>
          <a:prstGeom prst="ellipse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9FB3C8"/>
                </a:solidFill>
                <a:latin typeface="Segoe U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261104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“Exam Period Appendix: library access 24/7 during exam period.”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261104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261104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score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074920"/>
            <a:ext cx="2608397" cy="685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5318882"/>
            <a:ext cx="2488471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dirty="0">
                <a:solidFill>
                  <a:srgbClr val="2DD4BF"/>
                </a:solidFill>
                <a:latin typeface="Segoe UI"/>
              </a:rPr>
              <a:t>Keyword search (BM25)</a:t>
            </a:r>
            <a:endParaRPr sz="1050" dirty="0">
              <a:solidFill>
                <a:srgbClr val="9FB3C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Right words, wrong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691640"/>
            <a:ext cx="2651760" cy="47548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1691640"/>
            <a:ext cx="232257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E06C6C"/>
                </a:solidFill>
                <a:latin typeface="Segoe UI"/>
              </a:rPr>
              <a:t>✗ confidently wrong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1691640"/>
            <a:ext cx="7635240" cy="475488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0" y="1691640"/>
            <a:ext cx="7178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1">
                <a:solidFill>
                  <a:srgbClr val="FFFFFF"/>
                </a:solidFill>
                <a:latin typeface="Segoe UI"/>
              </a:rPr>
              <a:t>Week 3 of term. Student asks: “Can I access the library 24/7?”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468880"/>
            <a:ext cx="516636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260604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06C6C"/>
                </a:solidFill>
                <a:latin typeface="Segoe UI"/>
              </a:rPr>
              <a:t>Exam Period Appendix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1752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FFFFF"/>
                </a:solidFill>
                <a:latin typeface="Segoe UI"/>
              </a:rPr>
              <a:t>“…library access 24/7 during the exam period…”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49039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  <a:latin typeface="Segoe UI"/>
              </a:rPr>
              <a:t>shares: library · access · 24/7  →  score 3  →  wins 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468880"/>
            <a:ext cx="516636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260604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Segoe UI"/>
              </a:rPr>
              <a:t>General rule — governs this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01752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49039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shares: library  →  score 1  →  left behind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57200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572000"/>
            <a:ext cx="4709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MetMate: “Yes — the library is open 24/7.”</a:t>
            </a:r>
          </a:p>
          <a:p>
            <a:pPr algn="l"/>
            <a:r>
              <a:rPr sz="1050" b="0" i="1">
                <a:solidFill>
                  <a:srgbClr val="E06C6C"/>
                </a:solidFill>
                <a:latin typeface="Segoe UI"/>
              </a:rPr>
              <a:t>Confident. Wrong. Every word from a real document.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7200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572000"/>
            <a:ext cx="4709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The quieter failure: “enrolment” scores ZERO against a chunk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that says “registration”. Synonyms are invisible.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69280"/>
            <a:ext cx="10607040" cy="492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 dirty="0">
                <a:solidFill>
                  <a:srgbClr val="F5B342"/>
                </a:solidFill>
                <a:latin typeface="Segoe UI"/>
              </a:rPr>
              <a:t>LEXICAL matching</a:t>
            </a:r>
            <a:r>
              <a:rPr lang="en-AU" sz="1300" b="0" i="1" dirty="0">
                <a:solidFill>
                  <a:srgbClr val="F5B342"/>
                </a:solidFill>
                <a:latin typeface="Segoe UI"/>
              </a:rPr>
              <a:t> fails</a:t>
            </a:r>
          </a:p>
          <a:p>
            <a:pPr algn="l">
              <a:lnSpc>
                <a:spcPct val="130000"/>
              </a:lnSpc>
            </a:pPr>
            <a:r>
              <a:rPr sz="1300" b="0" i="1" dirty="0">
                <a:solidFill>
                  <a:srgbClr val="F5B342"/>
                </a:solidFill>
                <a:latin typeface="Segoe UI"/>
              </a:rPr>
              <a:t>SEMANTIC matching</a:t>
            </a:r>
            <a:r>
              <a:rPr lang="en-AU" sz="1300" b="0" i="1" dirty="0">
                <a:solidFill>
                  <a:srgbClr val="F5B342"/>
                </a:solidFill>
                <a:latin typeface="Segoe UI"/>
              </a:rPr>
              <a:t> - solution</a:t>
            </a:r>
            <a:endParaRPr sz="1300" b="0" i="1" dirty="0">
              <a:solidFill>
                <a:srgbClr val="F5B342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Math with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350" b="0" i="1" dirty="0">
                <a:solidFill>
                  <a:srgbClr val="9FB3C8"/>
                </a:solidFill>
                <a:latin typeface="Segoe UI"/>
              </a:rPr>
              <a:t>Three words: enrolment, registration, withdrawal</a:t>
            </a:r>
            <a:endParaRPr sz="1350" b="0" i="1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2960" y="2240280"/>
            <a:ext cx="7315200" cy="26517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3794760"/>
            <a:ext cx="6492240" cy="0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94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28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-5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237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2112264" y="3712464"/>
            <a:ext cx="164592" cy="164592"/>
          </a:xfrm>
          <a:prstGeom prst="ellipse">
            <a:avLst/>
          </a:prstGeom>
          <a:solidFill>
            <a:srgbClr val="E0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80160" y="329184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06C6C"/>
                </a:solidFill>
                <a:latin typeface="Segoe UI"/>
              </a:rPr>
              <a:t>withdrawal</a:t>
            </a:r>
          </a:p>
        </p:txBody>
      </p:sp>
      <p:sp>
        <p:nvSpPr>
          <p:cNvPr id="25" name="Oval 24"/>
          <p:cNvSpPr/>
          <p:nvPr/>
        </p:nvSpPr>
        <p:spPr>
          <a:xfrm>
            <a:off x="6684264" y="3712464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160" y="329184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2DD4BF"/>
                </a:solidFill>
                <a:latin typeface="Segoe UI"/>
              </a:rPr>
              <a:t>enrolment</a:t>
            </a:r>
          </a:p>
        </p:txBody>
      </p:sp>
      <p:sp>
        <p:nvSpPr>
          <p:cNvPr id="27" name="Oval 26"/>
          <p:cNvSpPr/>
          <p:nvPr/>
        </p:nvSpPr>
        <p:spPr>
          <a:xfrm>
            <a:off x="7141464" y="3712464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42519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2DD4BF"/>
                </a:solidFill>
                <a:latin typeface="Segoe UI"/>
              </a:rPr>
              <a:t>registration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51460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2DD4BF"/>
                </a:solidFill>
                <a:latin typeface="Segoe UI"/>
              </a:rPr>
              <a:t>1 apart — similar 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40583" y="2926080"/>
            <a:ext cx="3200400" cy="11887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23462" y="292608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Embedding</a:t>
            </a:r>
            <a:r>
              <a:rPr sz="1050">
                <a:solidFill>
                  <a:srgbClr val="9FB3C8"/>
                </a:solidFill>
                <a:latin typeface="Segoe UI"/>
              </a:rPr>
              <a:t>  —  writing words as numbers so that close numbers = similar meaning.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1663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7280" y="5488041"/>
            <a:ext cx="10241280" cy="2253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 dirty="0">
                <a:solidFill>
                  <a:srgbClr val="FFFFFF"/>
                </a:solidFill>
                <a:latin typeface="Segoe UI"/>
              </a:rPr>
              <a:t>But where does “pass” go on this line?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number isn't enough — vectors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83080"/>
            <a:ext cx="5760720" cy="4160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>
            <a:cxnSpLocks/>
          </p:cNvCxnSpPr>
          <p:nvPr/>
        </p:nvCxnSpPr>
        <p:spPr>
          <a:xfrm>
            <a:off x="1278331" y="3886200"/>
            <a:ext cx="4685385" cy="0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>
            <a:off x="3429000" y="1940356"/>
            <a:ext cx="0" cy="3891687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1965960"/>
            <a:ext cx="22402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9FB3C8"/>
                </a:solidFill>
                <a:latin typeface="Segoe UI"/>
              </a:rPr>
              <a:t>x: withdrawal ↔ enrolment</a:t>
            </a:r>
          </a:p>
          <a:p>
            <a:pPr algn="l"/>
            <a:r>
              <a:rPr sz="1000" b="0" i="1">
                <a:solidFill>
                  <a:srgbClr val="9FB3C8"/>
                </a:solidFill>
                <a:latin typeface="Segoe UI"/>
              </a:rPr>
              <a:t>y: fail ↔ pass</a:t>
            </a:r>
          </a:p>
        </p:txBody>
      </p:sp>
      <p:sp>
        <p:nvSpPr>
          <p:cNvPr id="16" name="Oval 15"/>
          <p:cNvSpPr/>
          <p:nvPr/>
        </p:nvSpPr>
        <p:spPr>
          <a:xfrm>
            <a:off x="5276088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31920" y="350215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enrolment [5, 0]</a:t>
            </a:r>
          </a:p>
        </p:txBody>
      </p:sp>
      <p:sp>
        <p:nvSpPr>
          <p:cNvPr id="18" name="Oval 17"/>
          <p:cNvSpPr/>
          <p:nvPr/>
        </p:nvSpPr>
        <p:spPr>
          <a:xfrm>
            <a:off x="5660136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84648" y="4123944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registration [6, 0]</a:t>
            </a:r>
          </a:p>
        </p:txBody>
      </p:sp>
      <p:sp>
        <p:nvSpPr>
          <p:cNvPr id="20" name="Oval 19"/>
          <p:cNvSpPr/>
          <p:nvPr/>
        </p:nvSpPr>
        <p:spPr>
          <a:xfrm>
            <a:off x="1435607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19" y="350215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withdrawal [−5, 0]</a:t>
            </a:r>
          </a:p>
        </p:txBody>
      </p:sp>
      <p:sp>
        <p:nvSpPr>
          <p:cNvPr id="22" name="Oval 21"/>
          <p:cNvSpPr/>
          <p:nvPr/>
        </p:nvSpPr>
        <p:spPr>
          <a:xfrm>
            <a:off x="3355848" y="2075688"/>
            <a:ext cx="146304" cy="146304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57016" y="2057400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5B342"/>
                </a:solidFill>
                <a:latin typeface="Segoe UI"/>
              </a:rPr>
              <a:t>pass [0, 5]</a:t>
            </a:r>
          </a:p>
        </p:txBody>
      </p:sp>
      <p:sp>
        <p:nvSpPr>
          <p:cNvPr id="24" name="Oval 23"/>
          <p:cNvSpPr/>
          <p:nvPr/>
        </p:nvSpPr>
        <p:spPr>
          <a:xfrm>
            <a:off x="3355848" y="5550408"/>
            <a:ext cx="146304" cy="146304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57016" y="551383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5B342"/>
                </a:solidFill>
                <a:latin typeface="Segoe UI"/>
              </a:rPr>
              <a:t>fail [0, −5]</a:t>
            </a:r>
          </a:p>
        </p:txBody>
      </p:sp>
      <p:sp>
        <p:nvSpPr>
          <p:cNvPr id="26" name="Oval 25"/>
          <p:cNvSpPr/>
          <p:nvPr/>
        </p:nvSpPr>
        <p:spPr>
          <a:xfrm>
            <a:off x="4233672" y="2862072"/>
            <a:ext cx="310896" cy="310896"/>
          </a:xfrm>
          <a:prstGeom prst="ellipse">
            <a:avLst/>
          </a:prstGeom>
          <a:noFill/>
          <a:ln w="254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315968" y="29443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2697479"/>
            <a:ext cx="201168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course [2.5, 2.5]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46120"/>
            <a:ext cx="4526280" cy="8229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0" y="3558662"/>
            <a:ext cx="4160520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Vector</a:t>
            </a:r>
            <a:r>
              <a:rPr sz="1050">
                <a:solidFill>
                  <a:srgbClr val="9FB3C8"/>
                </a:solidFill>
                <a:latin typeface="Segoe UI"/>
              </a:rPr>
              <a:t>  —  a list of numbers. Here: [enrolment-ness, pass-ness].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" y="1512151"/>
            <a:ext cx="57607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AU" sz="1150" b="0" i="1" dirty="0">
                <a:solidFill>
                  <a:srgbClr val="2DD4BF"/>
                </a:solidFill>
                <a:latin typeface="Segoe UI"/>
              </a:rPr>
              <a:t>New word </a:t>
            </a:r>
            <a:r>
              <a:rPr lang="en-AU" sz="1150" b="0" i="1" dirty="0" err="1">
                <a:solidFill>
                  <a:srgbClr val="2DD4BF"/>
                </a:solidFill>
                <a:latin typeface="Segoe UI"/>
              </a:rPr>
              <a:t>comess</a:t>
            </a:r>
            <a:r>
              <a:rPr lang="en-AU" sz="1150" b="0" i="1" dirty="0">
                <a:solidFill>
                  <a:srgbClr val="2DD4BF"/>
                </a:solidFill>
                <a:latin typeface="Segoe UI"/>
              </a:rPr>
              <a:t>: pass</a:t>
            </a:r>
            <a:endParaRPr sz="1150" b="0" i="1" dirty="0">
              <a:solidFill>
                <a:srgbClr val="2DD4B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Who assigns the numbers?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286000"/>
            <a:ext cx="6035040" cy="10515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24231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“Students must  ______  before the census date.”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9FB3C8"/>
                </a:solidFill>
                <a:latin typeface="Segoe UI"/>
              </a:rPr>
              <a:t>hide a word from a real sentence — make the computer guess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11880"/>
            <a:ext cx="603504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7490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the computer's guesses: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60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enrol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4215383"/>
            <a:ext cx="2651760" cy="20116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416052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5720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4626864"/>
            <a:ext cx="1325880" cy="20116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794760" y="45720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8348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party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5038344"/>
            <a:ext cx="73152" cy="201168"/>
          </a:xfrm>
          <a:prstGeom prst="roundRect">
            <a:avLst>
              <a:gd name="adj" fmla="val 50000"/>
            </a:avLst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2032" y="498348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0.1%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MetMate searches by meaning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37360"/>
            <a:ext cx="5897880" cy="23774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THE STORED KB — every chunk now carries its 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82317"/>
            <a:ext cx="3749039" cy="1560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 dirty="0">
                <a:solidFill>
                  <a:srgbClr val="FFFFFF"/>
                </a:solidFill>
                <a:latin typeface="Segoe UI"/>
              </a:rPr>
              <a:t>“</a:t>
            </a:r>
            <a:r>
              <a:rPr sz="1000" b="1" i="0" dirty="0">
                <a:solidFill>
                  <a:schemeClr val="accent6"/>
                </a:solidFill>
                <a:latin typeface="Segoe UI"/>
              </a:rPr>
              <a:t>Enrolment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corrections must be lodged before census.”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8600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Consolas"/>
              </a:rPr>
              <a:t>[ 5.2,  0.1, …]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52928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852928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9FB3C8"/>
                </a:solidFill>
                <a:latin typeface="Consolas"/>
              </a:rPr>
              <a:t>[−0.2,  4.7, …]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419856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 dirty="0">
                <a:solidFill>
                  <a:srgbClr val="FFFFFF"/>
                </a:solidFill>
                <a:latin typeface="Segoe UI"/>
              </a:rPr>
              <a:t>“Withdrawal without penalty: apply before week 4.”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419856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9FB3C8"/>
                </a:solidFill>
                <a:latin typeface="Consolas"/>
              </a:rPr>
              <a:t>[−4.8,  0.3, …]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434840"/>
            <a:ext cx="4114800" cy="731520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704259"/>
            <a:ext cx="3657600" cy="192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 dirty="0">
                <a:solidFill>
                  <a:srgbClr val="FFFFFF"/>
                </a:solidFill>
                <a:latin typeface="Segoe UI"/>
              </a:rPr>
              <a:t>“How do I fix a mistake in my </a:t>
            </a:r>
            <a:r>
              <a:rPr sz="1150" b="1" i="1" dirty="0">
                <a:solidFill>
                  <a:schemeClr val="accent6"/>
                </a:solidFill>
                <a:latin typeface="Segoe UI"/>
              </a:rPr>
              <a:t>registration</a:t>
            </a:r>
            <a:r>
              <a:rPr sz="1150" b="1" i="1" dirty="0">
                <a:solidFill>
                  <a:srgbClr val="FFFFFF"/>
                </a:solidFill>
                <a:latin typeface="Segoe UI"/>
              </a:rPr>
              <a:t>?”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29200" y="4663440"/>
            <a:ext cx="4114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532120" y="443484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443484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B342"/>
                </a:solidFill>
                <a:latin typeface="Consolas"/>
              </a:rPr>
              <a:t>[ 5.6,  0.2, …]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315200" y="4663440"/>
            <a:ext cx="4114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18120" y="434340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0" y="43434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nearest chunk: “Enrolment corrections…”</a:t>
            </a:r>
          </a:p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ZERO shared words — found by meaning 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The whole picture — you built RAG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64208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BUILT ONCE — BEFORE ANY 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Documents (KB)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98698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18153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91306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Split into chunks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93892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13348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86500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Chunk → vector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89086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908542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81694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Store: chunk + vector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9992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EVERY QUESTION, LIVE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Question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00300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619756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92908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Question → vector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197095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416552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489704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Find nearest chunks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993892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213348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86500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Build prompt:
chunks + question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7790688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10144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83296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Model writes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9587484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806940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880092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196078" y="2743200"/>
            <a:ext cx="4941189" cy="566928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103869" y="422452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5B342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0B1B33"/>
                </a:solidFill>
                <a:latin typeface="Segoe UI"/>
              </a:rPr>
              <a:t>the only AI box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619756" y="4709160"/>
            <a:ext cx="3355848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19756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975604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619756" y="4754880"/>
            <a:ext cx="33558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RETRIEVAL — find it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13348" y="4709160"/>
            <a:ext cx="1559052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13348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772400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213348" y="4754880"/>
            <a:ext cx="15590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AUGMENTED — add it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010144" y="4709160"/>
            <a:ext cx="1559052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010144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569196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010144" y="4754880"/>
            <a:ext cx="15590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GENERATION — write it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2960" y="5257800"/>
            <a:ext cx="10561320" cy="8229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97280" y="5534980"/>
            <a:ext cx="10058400" cy="26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 dirty="0">
                <a:solidFill>
                  <a:srgbClr val="FFFFFF"/>
                </a:solidFill>
                <a:latin typeface="Segoe UI"/>
              </a:rPr>
              <a:t>This recipe has a name: RAG — Retrieval-Augmented Generation</a:t>
            </a:r>
            <a:r>
              <a:rPr lang="en-AU" sz="1500" b="1" dirty="0">
                <a:solidFill>
                  <a:srgbClr val="FFFFFF"/>
                </a:solidFill>
                <a:latin typeface="Segoe UI"/>
              </a:rPr>
              <a:t>.</a:t>
            </a:r>
            <a:endParaRPr sz="1500" b="1" i="0" dirty="0">
              <a:solidFill>
                <a:srgbClr val="FFFFF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5  ·  TOWARD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What real chatbots add</a:t>
            </a:r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7316" y="28803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Hierarchical chunking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4418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5354" y="28803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Context-aware chunking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5876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7877" y="2893557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Hybrid 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42223" y="44805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Reranking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4418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45938" y="44805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Conversation memory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5876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31173" y="4480559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1277</Words>
  <Application>Microsoft Office PowerPoint</Application>
  <PresentationFormat>Widescreen</PresentationFormat>
  <Paragraphs>213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Arif Rahman</cp:lastModifiedBy>
  <cp:revision>63</cp:revision>
  <dcterms:created xsi:type="dcterms:W3CDTF">2013-01-27T09:14:16Z</dcterms:created>
  <dcterms:modified xsi:type="dcterms:W3CDTF">2026-07-14T04:49:02Z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a1b368-7309-4b30-bce0-f7926ba87c5f_Enabled">
    <vt:lpwstr>true</vt:lpwstr>
  </property>
  <property fmtid="{D5CDD505-2E9C-101B-9397-08002B2CF9AE}" pid="3" name="MSIP_Label_71a1b368-7309-4b30-bce0-f7926ba87c5f_SetDate">
    <vt:lpwstr>2026-07-14T00:39:58Z</vt:lpwstr>
  </property>
  <property fmtid="{D5CDD505-2E9C-101B-9397-08002B2CF9AE}" pid="4" name="MSIP_Label_71a1b368-7309-4b30-bce0-f7926ba87c5f_Method">
    <vt:lpwstr>Standard</vt:lpwstr>
  </property>
  <property fmtid="{D5CDD505-2E9C-101B-9397-08002B2CF9AE}" pid="5" name="MSIP_Label_71a1b368-7309-4b30-bce0-f7926ba87c5f_Name">
    <vt:lpwstr>Official</vt:lpwstr>
  </property>
  <property fmtid="{D5CDD505-2E9C-101B-9397-08002B2CF9AE}" pid="6" name="MSIP_Label_71a1b368-7309-4b30-bce0-f7926ba87c5f_SiteId">
    <vt:lpwstr>6a5d8a00-9eed-4f0f-af9b-6be165add301</vt:lpwstr>
  </property>
  <property fmtid="{D5CDD505-2E9C-101B-9397-08002B2CF9AE}" pid="7" name="MSIP_Label_71a1b368-7309-4b30-bce0-f7926ba87c5f_ActionId">
    <vt:lpwstr>380b68ec-fc14-4ebb-b7f8-0158fc843a0b</vt:lpwstr>
  </property>
  <property fmtid="{D5CDD505-2E9C-101B-9397-08002B2CF9AE}" pid="8" name="MSIP_Label_71a1b368-7309-4b30-bce0-f7926ba87c5f_ContentBits">
    <vt:lpwstr>1</vt:lpwstr>
  </property>
  <property fmtid="{D5CDD505-2E9C-101B-9397-08002B2CF9AE}" pid="9" name="MSIP_Label_71a1b368-7309-4b30-bce0-f7926ba87c5f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OFFICIAL</vt:lpwstr>
  </property>
</Properties>
</file>