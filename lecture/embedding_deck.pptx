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question should be bothering you: who assigns all these numbers? Typing them by hand is impossible - and we'd argue for a week about a single word. So we don't. Every word simply STARTS with random numbers - a coin toss. Right now they mean nothing: enrol, register and party are just three random dots, scattered anywhere. Watch what happens to this cloud of noise.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game that fixes it. Take a real sentence from our documents and hide one word: 'Students must ___ before the census date.' The beautiful part - this needs no human answer sheet, because the hidden word IS the answer. And we have millions of real sentences, so millions of free practice questions, for nothing.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computer tries to guess the blank, using the CURRENT numbers of the surrounding words. At the start those numbers are random, so the guess is basically a shrug - enrol, register, party all roughly equal. That's fine. A wrong guess is exactly what teaches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reveal the true word: enrol. The computer was not confident enough, so it nudges the numbers a tiny bit - shifting enrol's numbers toward this kind of context, so next time it leans more toward enrol. One sentence moves things by a hair. The magic is that we do this millions of times.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heart of the whole idea. The words enrol and register fill the SAME blanks, over and over, across the whole language - 'you can ___ online', 'the deadline to ___'. Every time, both get nudged in the same direction. So they drift toward each other and end up with similar numbers. 'party' never fits these gaps, so it is pushed away. Nobody told the computer they were synonyms - the shared company did.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Fast-forward over millions of sentences and the random cloud has quietly organised itself. Similar words sit close because they kept the same company; opposites sit far apart. This is exactly the enrolment-registration-withdrawal map we drew earlier - except nobody placed a single point. The numbers assigned themselves.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whole trick - learning the number-form of words from raw data instead of designing it by hand - is called representation learning. The old linguists' line captures it: know a word by the company it keeps. And a famous party trick you can look up later: with vectors learned this way, king minus man plus woman lands almost exactly on queen. The arithmetic works because meaning has become geometry - which is the entire reason embeddings are so powerful.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65760"/>
            <a:ext cx="8686800" cy="365760"/>
          </a:xfrm>
          <a:prstGeom prst="rect">
            <a:avLst/>
          </a:prstGeom>
          <a:noFill/>
        </p:spPr>
        <p:txBody>
          <a:bodyPr wrap="square" anchor="t" lIns="0" rIns="0" tIns="0" bIns="0">
            <a:spAutoFit/>
          </a:bodyPr>
          <a:lstStyle/>
          <a:p>
            <a:pPr algn="l"/>
            <a:r>
              <a:rPr sz="1250" b="1" i="0" spc="220">
                <a:solidFill>
                  <a:srgbClr val="2DD4BF"/>
                </a:solidFill>
                <a:latin typeface="Segoe UI"/>
              </a:rPr>
              <a:t>PHASE 4  ·  SEARCH BY MEANING</a:t>
            </a:r>
          </a:p>
        </p:txBody>
      </p:sp>
      <p:sp>
        <p:nvSpPr>
          <p:cNvPr id="5" name="TextBox 4"/>
          <p:cNvSpPr txBox="1"/>
          <p:nvPr/>
        </p:nvSpPr>
        <p:spPr>
          <a:xfrm>
            <a:off x="576072" y="676656"/>
            <a:ext cx="969264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Segoe UI"/>
              </a:rPr>
              <a:t>Who assigns the numbers?</a:t>
            </a:r>
          </a:p>
        </p:txBody>
      </p:sp>
      <p:sp>
        <p:nvSpPr>
          <p:cNvPr id="6" name="Rounded Rectangle 5"/>
          <p:cNvSpPr/>
          <p:nvPr/>
        </p:nvSpPr>
        <p:spPr>
          <a:xfrm>
            <a:off x="621792" y="1371600"/>
            <a:ext cx="1188720" cy="54864"/>
          </a:xfrm>
          <a:prstGeom prst="roundRect">
            <a:avLst/>
          </a:prstGeom>
          <a:solidFill>
            <a:srgbClr val="F5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go-wimmera-white.png"/>
          <p:cNvPicPr>
            <a:picLocks noChangeAspect="1"/>
          </p:cNvPicPr>
          <p:nvPr/>
        </p:nvPicPr>
        <p:blipFill>
          <a:blip r:embed="rId2"/>
          <a:stretch>
            <a:fillRect/>
          </a:stretch>
        </p:blipFill>
        <p:spPr>
          <a:xfrm>
            <a:off x="11155985" y="320040"/>
            <a:ext cx="624230" cy="457200"/>
          </a:xfrm>
          <a:prstGeom prst="rect">
            <a:avLst/>
          </a:prstGeom>
        </p:spPr>
      </p:pic>
      <p:sp>
        <p:nvSpPr>
          <p:cNvPr id="8" name="Rectangle 7"/>
          <p:cNvSpPr/>
          <p:nvPr/>
        </p:nvSpPr>
        <p:spPr>
          <a:xfrm>
            <a:off x="0" y="6355080"/>
            <a:ext cx="12191695" cy="5029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355080"/>
            <a:ext cx="12191695" cy="36576"/>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6355080"/>
            <a:ext cx="6476695" cy="502920"/>
          </a:xfrm>
          <a:prstGeom prst="rect">
            <a:avLst/>
          </a:prstGeom>
          <a:noFill/>
        </p:spPr>
        <p:txBody>
          <a:bodyPr wrap="none" anchor="ctr">
            <a:spAutoFit/>
          </a:bodyPr>
          <a:lstStyle/>
          <a:p>
            <a:pPr algn="r"/>
            <a:r>
              <a:rPr sz="1050" b="1">
                <a:solidFill>
                  <a:srgbClr val="2DD4BF"/>
                </a:solidFill>
                <a:latin typeface="Segoe UI"/>
              </a:rPr>
              <a:t>Dr Mohammad Arifur Rahman</a:t>
            </a:r>
            <a:r>
              <a:rPr sz="1000">
                <a:solidFill>
                  <a:srgbClr val="9FB3C8"/>
                </a:solidFill>
                <a:latin typeface="Segoe UI"/>
              </a:rPr>
              <a:t>   ·   Analyst Programmer  ·  Wimmera CMA, Victoria</a:t>
            </a:r>
          </a:p>
        </p:txBody>
      </p:sp>
      <p:sp>
        <p:nvSpPr>
          <p:cNvPr id="11" name="TextBox 10"/>
          <p:cNvSpPr txBox="1"/>
          <p:nvPr/>
        </p:nvSpPr>
        <p:spPr>
          <a:xfrm>
            <a:off x="822960" y="1691640"/>
            <a:ext cx="10607040" cy="365760"/>
          </a:xfrm>
          <a:prstGeom prst="rect">
            <a:avLst/>
          </a:prstGeom>
          <a:noFill/>
        </p:spPr>
        <p:txBody>
          <a:bodyPr wrap="square" anchor="t" lIns="0" rIns="0" tIns="0" bIns="0">
            <a:spAutoFit/>
          </a:bodyPr>
          <a:lstStyle/>
          <a:p>
            <a:pPr algn="l"/>
            <a:r>
              <a:rPr sz="1350" b="0" i="1">
                <a:solidFill>
                  <a:srgbClr val="9FB3C8"/>
                </a:solidFill>
                <a:latin typeface="Segoe UI"/>
              </a:rPr>
              <a:t>Typing a number for every word by hand is impossible. So every word STARTS as random numbers.</a:t>
            </a:r>
          </a:p>
        </p:txBody>
      </p:sp>
      <p:sp>
        <p:nvSpPr>
          <p:cNvPr id="12" name="Rounded Rectangle 11"/>
          <p:cNvSpPr/>
          <p:nvPr/>
        </p:nvSpPr>
        <p:spPr>
          <a:xfrm>
            <a:off x="822960" y="2331720"/>
            <a:ext cx="5120640" cy="3108960"/>
          </a:xfrm>
          <a:prstGeom prst="roundRect">
            <a:avLst>
              <a:gd name="adj" fmla="val 6000"/>
            </a:avLst>
          </a:prstGeom>
          <a:solidFill>
            <a:srgbClr val="142847"/>
          </a:solidFill>
          <a:ln w="12700">
            <a:solidFill>
              <a:srgbClr val="253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514600"/>
            <a:ext cx="4572000" cy="365760"/>
          </a:xfrm>
          <a:prstGeom prst="rect">
            <a:avLst/>
          </a:prstGeom>
          <a:noFill/>
        </p:spPr>
        <p:txBody>
          <a:bodyPr wrap="square" anchor="t" lIns="0" rIns="0" tIns="0" bIns="0">
            <a:spAutoFit/>
          </a:bodyPr>
          <a:lstStyle/>
          <a:p>
            <a:pPr algn="l"/>
            <a:r>
              <a:rPr sz="1100" b="1" i="0">
                <a:solidFill>
                  <a:srgbClr val="9FB3C8"/>
                </a:solidFill>
                <a:latin typeface="Segoe UI"/>
              </a:rPr>
              <a:t>each word begins as noise:</a:t>
            </a:r>
          </a:p>
        </p:txBody>
      </p:sp>
      <p:sp>
        <p:nvSpPr>
          <p:cNvPr id="14" name="TextBox 13"/>
          <p:cNvSpPr txBox="1"/>
          <p:nvPr/>
        </p:nvSpPr>
        <p:spPr>
          <a:xfrm>
            <a:off x="1097280" y="3063240"/>
            <a:ext cx="1645920" cy="457200"/>
          </a:xfrm>
          <a:prstGeom prst="rect">
            <a:avLst/>
          </a:prstGeom>
          <a:noFill/>
        </p:spPr>
        <p:txBody>
          <a:bodyPr wrap="square" anchor="ctr" lIns="0" rIns="0" tIns="0" bIns="0">
            <a:spAutoFit/>
          </a:bodyPr>
          <a:lstStyle/>
          <a:p>
            <a:pPr algn="l"/>
            <a:r>
              <a:rPr sz="1400" b="1" i="0">
                <a:solidFill>
                  <a:srgbClr val="FFFFFF"/>
                </a:solidFill>
                <a:latin typeface="Segoe UI"/>
              </a:rPr>
              <a:t>enrol</a:t>
            </a:r>
          </a:p>
        </p:txBody>
      </p:sp>
      <p:sp>
        <p:nvSpPr>
          <p:cNvPr id="15" name="TextBox 14"/>
          <p:cNvSpPr txBox="1"/>
          <p:nvPr/>
        </p:nvSpPr>
        <p:spPr>
          <a:xfrm>
            <a:off x="2834640" y="3063240"/>
            <a:ext cx="2743200" cy="457200"/>
          </a:xfrm>
          <a:prstGeom prst="rect">
            <a:avLst/>
          </a:prstGeom>
          <a:noFill/>
        </p:spPr>
        <p:txBody>
          <a:bodyPr wrap="square" anchor="ctr" lIns="0" rIns="0" tIns="0" bIns="0">
            <a:spAutoFit/>
          </a:bodyPr>
          <a:lstStyle/>
          <a:p>
            <a:pPr algn="l"/>
            <a:r>
              <a:rPr sz="1300" b="1" i="0">
                <a:solidFill>
                  <a:srgbClr val="9FB3C8"/>
                </a:solidFill>
                <a:latin typeface="Consolas"/>
              </a:rPr>
              <a:t>[ -1.2,  0.1 ]</a:t>
            </a:r>
          </a:p>
        </p:txBody>
      </p:sp>
      <p:sp>
        <p:nvSpPr>
          <p:cNvPr id="16" name="TextBox 15"/>
          <p:cNvSpPr txBox="1"/>
          <p:nvPr/>
        </p:nvSpPr>
        <p:spPr>
          <a:xfrm>
            <a:off x="1097280" y="3749039"/>
            <a:ext cx="1645920" cy="457200"/>
          </a:xfrm>
          <a:prstGeom prst="rect">
            <a:avLst/>
          </a:prstGeom>
          <a:noFill/>
        </p:spPr>
        <p:txBody>
          <a:bodyPr wrap="square" anchor="ctr" lIns="0" rIns="0" tIns="0" bIns="0">
            <a:spAutoFit/>
          </a:bodyPr>
          <a:lstStyle/>
          <a:p>
            <a:pPr algn="l"/>
            <a:r>
              <a:rPr sz="1400" b="1" i="0">
                <a:solidFill>
                  <a:srgbClr val="FFFFFF"/>
                </a:solidFill>
                <a:latin typeface="Segoe UI"/>
              </a:rPr>
              <a:t>register</a:t>
            </a:r>
          </a:p>
        </p:txBody>
      </p:sp>
      <p:sp>
        <p:nvSpPr>
          <p:cNvPr id="17" name="TextBox 16"/>
          <p:cNvSpPr txBox="1"/>
          <p:nvPr/>
        </p:nvSpPr>
        <p:spPr>
          <a:xfrm>
            <a:off x="2834640" y="3749039"/>
            <a:ext cx="2743200" cy="457200"/>
          </a:xfrm>
          <a:prstGeom prst="rect">
            <a:avLst/>
          </a:prstGeom>
          <a:noFill/>
        </p:spPr>
        <p:txBody>
          <a:bodyPr wrap="square" anchor="ctr" lIns="0" rIns="0" tIns="0" bIns="0">
            <a:spAutoFit/>
          </a:bodyPr>
          <a:lstStyle/>
          <a:p>
            <a:pPr algn="l"/>
            <a:r>
              <a:rPr sz="1300" b="1" i="0">
                <a:solidFill>
                  <a:srgbClr val="9FB3C8"/>
                </a:solidFill>
                <a:latin typeface="Consolas"/>
              </a:rPr>
              <a:t>[  1.3, -0.2 ]</a:t>
            </a:r>
          </a:p>
        </p:txBody>
      </p:sp>
      <p:sp>
        <p:nvSpPr>
          <p:cNvPr id="18" name="TextBox 17"/>
          <p:cNvSpPr txBox="1"/>
          <p:nvPr/>
        </p:nvSpPr>
        <p:spPr>
          <a:xfrm>
            <a:off x="1097280" y="4434840"/>
            <a:ext cx="1645920" cy="457200"/>
          </a:xfrm>
          <a:prstGeom prst="rect">
            <a:avLst/>
          </a:prstGeom>
          <a:noFill/>
        </p:spPr>
        <p:txBody>
          <a:bodyPr wrap="square" anchor="ctr" lIns="0" rIns="0" tIns="0" bIns="0">
            <a:spAutoFit/>
          </a:bodyPr>
          <a:lstStyle/>
          <a:p>
            <a:pPr algn="l"/>
            <a:r>
              <a:rPr sz="1400" b="1" i="0">
                <a:solidFill>
                  <a:srgbClr val="FFFFFF"/>
                </a:solidFill>
                <a:latin typeface="Segoe UI"/>
              </a:rPr>
              <a:t>party</a:t>
            </a:r>
          </a:p>
        </p:txBody>
      </p:sp>
      <p:sp>
        <p:nvSpPr>
          <p:cNvPr id="19" name="TextBox 18"/>
          <p:cNvSpPr txBox="1"/>
          <p:nvPr/>
        </p:nvSpPr>
        <p:spPr>
          <a:xfrm>
            <a:off x="2834640" y="4434840"/>
            <a:ext cx="2743200" cy="457200"/>
          </a:xfrm>
          <a:prstGeom prst="rect">
            <a:avLst/>
          </a:prstGeom>
          <a:noFill/>
        </p:spPr>
        <p:txBody>
          <a:bodyPr wrap="square" anchor="ctr" lIns="0" rIns="0" tIns="0" bIns="0">
            <a:spAutoFit/>
          </a:bodyPr>
          <a:lstStyle/>
          <a:p>
            <a:pPr algn="l"/>
            <a:r>
              <a:rPr sz="1300" b="1" i="0">
                <a:solidFill>
                  <a:srgbClr val="9FB3C8"/>
                </a:solidFill>
                <a:latin typeface="Consolas"/>
              </a:rPr>
              <a:t>[ -0.9,  0.4 ]</a:t>
            </a:r>
          </a:p>
        </p:txBody>
      </p:sp>
      <p:sp>
        <p:nvSpPr>
          <p:cNvPr id="20" name="TextBox 19"/>
          <p:cNvSpPr txBox="1"/>
          <p:nvPr/>
        </p:nvSpPr>
        <p:spPr>
          <a:xfrm>
            <a:off x="1097280" y="5074920"/>
            <a:ext cx="4572000" cy="320040"/>
          </a:xfrm>
          <a:prstGeom prst="rect">
            <a:avLst/>
          </a:prstGeom>
          <a:noFill/>
        </p:spPr>
        <p:txBody>
          <a:bodyPr wrap="square" anchor="t" lIns="0" rIns="0" tIns="0" bIns="0">
            <a:spAutoFit/>
          </a:bodyPr>
          <a:lstStyle/>
          <a:p>
            <a:pPr algn="l"/>
            <a:r>
              <a:rPr sz="1050" b="0" i="1">
                <a:solidFill>
                  <a:srgbClr val="E06C6C"/>
                </a:solidFill>
                <a:latin typeface="Segoe UI"/>
              </a:rPr>
              <a:t>meaningless — assigned by a coin toss</a:t>
            </a:r>
          </a:p>
        </p:txBody>
      </p:sp>
      <p:sp>
        <p:nvSpPr>
          <p:cNvPr id="21" name="Rounded Rectangle 20"/>
          <p:cNvSpPr/>
          <p:nvPr/>
        </p:nvSpPr>
        <p:spPr>
          <a:xfrm>
            <a:off x="6446520" y="1828800"/>
            <a:ext cx="4937760" cy="4160520"/>
          </a:xfrm>
          <a:prstGeom prst="roundRect">
            <a:avLst>
              <a:gd name="adj" fmla="val 6000"/>
            </a:avLst>
          </a:prstGeom>
          <a:solidFill>
            <a:srgbClr val="142847"/>
          </a:solidFill>
          <a:ln w="12700">
            <a:solidFill>
              <a:srgbClr val="253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0" y="1965960"/>
            <a:ext cx="4480560" cy="320040"/>
          </a:xfrm>
          <a:prstGeom prst="rect">
            <a:avLst/>
          </a:prstGeom>
          <a:noFill/>
        </p:spPr>
        <p:txBody>
          <a:bodyPr wrap="square" anchor="t" lIns="0" rIns="0" tIns="0" bIns="0">
            <a:spAutoFit/>
          </a:bodyPr>
          <a:lstStyle/>
          <a:p>
            <a:pPr algn="l"/>
            <a:r>
              <a:rPr sz="1050" b="1" i="0">
                <a:solidFill>
                  <a:srgbClr val="9FB3C8"/>
                </a:solidFill>
                <a:latin typeface="Segoe UI"/>
              </a:rPr>
              <a:t>THE NUMBER SPACE — starts as pure noise</a:t>
            </a:r>
          </a:p>
        </p:txBody>
      </p:sp>
      <p:cxnSp>
        <p:nvCxnSpPr>
          <p:cNvPr id="23" name="Connector 22"/>
          <p:cNvCxnSpPr/>
          <p:nvPr/>
        </p:nvCxnSpPr>
        <p:spPr>
          <a:xfrm>
            <a:off x="7225588" y="4046220"/>
            <a:ext cx="3379623" cy="0"/>
          </a:xfrm>
          <a:prstGeom prst="line">
            <a:avLst/>
          </a:prstGeom>
          <a:ln w="12700">
            <a:solidFill>
              <a:srgbClr val="253B5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915400" y="2674620"/>
            <a:ext cx="0" cy="2743200"/>
          </a:xfrm>
          <a:prstGeom prst="line">
            <a:avLst/>
          </a:prstGeom>
          <a:ln w="12700">
            <a:solidFill>
              <a:srgbClr val="253B5E"/>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7876641" y="3259836"/>
            <a:ext cx="146304" cy="146304"/>
          </a:xfrm>
          <a:prstGeom prst="ellipse">
            <a:avLst/>
          </a:prstGeom>
          <a:solidFill>
            <a:srgbClr val="9FB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14385" y="3058668"/>
            <a:ext cx="1828800" cy="274320"/>
          </a:xfrm>
          <a:prstGeom prst="rect">
            <a:avLst/>
          </a:prstGeom>
          <a:noFill/>
        </p:spPr>
        <p:txBody>
          <a:bodyPr wrap="square" anchor="t" lIns="0" rIns="0" tIns="0" bIns="0">
            <a:spAutoFit/>
          </a:bodyPr>
          <a:lstStyle/>
          <a:p>
            <a:pPr algn="l"/>
            <a:r>
              <a:rPr sz="1100" b="1" i="0">
                <a:solidFill>
                  <a:srgbClr val="9FB3C8"/>
                </a:solidFill>
                <a:latin typeface="Segoe UI"/>
              </a:rPr>
              <a:t>enrol</a:t>
            </a:r>
          </a:p>
        </p:txBody>
      </p:sp>
      <p:sp>
        <p:nvSpPr>
          <p:cNvPr id="27" name="Oval 26"/>
          <p:cNvSpPr/>
          <p:nvPr/>
        </p:nvSpPr>
        <p:spPr>
          <a:xfrm>
            <a:off x="9687153" y="4741164"/>
            <a:ext cx="146304" cy="146304"/>
          </a:xfrm>
          <a:prstGeom prst="ellipse">
            <a:avLst/>
          </a:prstGeom>
          <a:solidFill>
            <a:srgbClr val="9FB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24897" y="4722876"/>
            <a:ext cx="1828800" cy="274320"/>
          </a:xfrm>
          <a:prstGeom prst="rect">
            <a:avLst/>
          </a:prstGeom>
          <a:noFill/>
        </p:spPr>
        <p:txBody>
          <a:bodyPr wrap="square" anchor="t" lIns="0" rIns="0" tIns="0" bIns="0">
            <a:spAutoFit/>
          </a:bodyPr>
          <a:lstStyle/>
          <a:p>
            <a:pPr algn="l"/>
            <a:r>
              <a:rPr sz="1100" b="1" i="0">
                <a:solidFill>
                  <a:srgbClr val="9FB3C8"/>
                </a:solidFill>
                <a:latin typeface="Segoe UI"/>
              </a:rPr>
              <a:t>register</a:t>
            </a:r>
          </a:p>
        </p:txBody>
      </p:sp>
      <p:sp>
        <p:nvSpPr>
          <p:cNvPr id="29" name="Oval 28"/>
          <p:cNvSpPr/>
          <p:nvPr/>
        </p:nvSpPr>
        <p:spPr>
          <a:xfrm>
            <a:off x="9023299" y="3040380"/>
            <a:ext cx="146304" cy="146304"/>
          </a:xfrm>
          <a:prstGeom prst="ellipse">
            <a:avLst/>
          </a:prstGeom>
          <a:solidFill>
            <a:srgbClr val="9FB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61043" y="2839212"/>
            <a:ext cx="1828800" cy="274320"/>
          </a:xfrm>
          <a:prstGeom prst="rect">
            <a:avLst/>
          </a:prstGeom>
          <a:noFill/>
        </p:spPr>
        <p:txBody>
          <a:bodyPr wrap="square" anchor="t" lIns="0" rIns="0" tIns="0" bIns="0">
            <a:spAutoFit/>
          </a:bodyPr>
          <a:lstStyle/>
          <a:p>
            <a:pPr algn="l"/>
            <a:r>
              <a:rPr sz="1100" b="1" i="0">
                <a:solidFill>
                  <a:srgbClr val="9FB3C8"/>
                </a:solidFill>
                <a:latin typeface="Segoe UI"/>
              </a:rPr>
              <a:t>party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65760"/>
            <a:ext cx="8686800" cy="365760"/>
          </a:xfrm>
          <a:prstGeom prst="rect">
            <a:avLst/>
          </a:prstGeom>
          <a:noFill/>
        </p:spPr>
        <p:txBody>
          <a:bodyPr wrap="square" anchor="t" lIns="0" rIns="0" tIns="0" bIns="0">
            <a:spAutoFit/>
          </a:bodyPr>
          <a:lstStyle/>
          <a:p>
            <a:pPr algn="l"/>
            <a:r>
              <a:rPr sz="1250" b="1" i="0" spc="220">
                <a:solidFill>
                  <a:srgbClr val="2DD4BF"/>
                </a:solidFill>
                <a:latin typeface="Segoe UI"/>
              </a:rPr>
              <a:t>PHASE 4  ·  SEARCH BY MEANING</a:t>
            </a:r>
          </a:p>
        </p:txBody>
      </p:sp>
      <p:sp>
        <p:nvSpPr>
          <p:cNvPr id="5" name="TextBox 4"/>
          <p:cNvSpPr txBox="1"/>
          <p:nvPr/>
        </p:nvSpPr>
        <p:spPr>
          <a:xfrm>
            <a:off x="576072" y="676656"/>
            <a:ext cx="969264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Segoe UI"/>
              </a:rPr>
              <a:t>Who assigns the numbers?</a:t>
            </a:r>
          </a:p>
        </p:txBody>
      </p:sp>
      <p:sp>
        <p:nvSpPr>
          <p:cNvPr id="6" name="Rounded Rectangle 5"/>
          <p:cNvSpPr/>
          <p:nvPr/>
        </p:nvSpPr>
        <p:spPr>
          <a:xfrm>
            <a:off x="621792" y="1371600"/>
            <a:ext cx="1188720" cy="54864"/>
          </a:xfrm>
          <a:prstGeom prst="roundRect">
            <a:avLst/>
          </a:prstGeom>
          <a:solidFill>
            <a:srgbClr val="F5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go-wimmera-white.png"/>
          <p:cNvPicPr>
            <a:picLocks noChangeAspect="1"/>
          </p:cNvPicPr>
          <p:nvPr/>
        </p:nvPicPr>
        <p:blipFill>
          <a:blip r:embed="rId2"/>
          <a:stretch>
            <a:fillRect/>
          </a:stretch>
        </p:blipFill>
        <p:spPr>
          <a:xfrm>
            <a:off x="11155985" y="320040"/>
            <a:ext cx="624230" cy="457200"/>
          </a:xfrm>
          <a:prstGeom prst="rect">
            <a:avLst/>
          </a:prstGeom>
        </p:spPr>
      </p:pic>
      <p:sp>
        <p:nvSpPr>
          <p:cNvPr id="8" name="Rectangle 7"/>
          <p:cNvSpPr/>
          <p:nvPr/>
        </p:nvSpPr>
        <p:spPr>
          <a:xfrm>
            <a:off x="0" y="6355080"/>
            <a:ext cx="12191695" cy="5029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355080"/>
            <a:ext cx="12191695" cy="36576"/>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6355080"/>
            <a:ext cx="6476695" cy="502920"/>
          </a:xfrm>
          <a:prstGeom prst="rect">
            <a:avLst/>
          </a:prstGeom>
          <a:noFill/>
        </p:spPr>
        <p:txBody>
          <a:bodyPr wrap="none" anchor="ctr">
            <a:spAutoFit/>
          </a:bodyPr>
          <a:lstStyle/>
          <a:p>
            <a:pPr algn="r"/>
            <a:r>
              <a:rPr sz="1050" b="1">
                <a:solidFill>
                  <a:srgbClr val="2DD4BF"/>
                </a:solidFill>
                <a:latin typeface="Segoe UI"/>
              </a:rPr>
              <a:t>Dr Mohammad Arifur Rahman</a:t>
            </a:r>
            <a:r>
              <a:rPr sz="1000">
                <a:solidFill>
                  <a:srgbClr val="9FB3C8"/>
                </a:solidFill>
                <a:latin typeface="Segoe UI"/>
              </a:rPr>
              <a:t>   ·   Analyst Programmer  ·  Wimmera CMA, Victoria</a:t>
            </a:r>
          </a:p>
        </p:txBody>
      </p:sp>
      <p:sp>
        <p:nvSpPr>
          <p:cNvPr id="11" name="TextBox 10"/>
          <p:cNvSpPr txBox="1"/>
          <p:nvPr/>
        </p:nvSpPr>
        <p:spPr>
          <a:xfrm>
            <a:off x="822960" y="1691640"/>
            <a:ext cx="10607040" cy="365760"/>
          </a:xfrm>
          <a:prstGeom prst="rect">
            <a:avLst/>
          </a:prstGeom>
          <a:noFill/>
        </p:spPr>
        <p:txBody>
          <a:bodyPr wrap="square" anchor="t" lIns="0" rIns="0" tIns="0" bIns="0">
            <a:spAutoFit/>
          </a:bodyPr>
          <a:lstStyle/>
          <a:p>
            <a:pPr algn="l"/>
            <a:r>
              <a:rPr sz="1350" b="0" i="1">
                <a:solidFill>
                  <a:srgbClr val="9FB3C8"/>
                </a:solidFill>
                <a:latin typeface="Segoe UI"/>
              </a:rPr>
              <a:t>The training game: take a real sentence, hide one word.</a:t>
            </a:r>
          </a:p>
        </p:txBody>
      </p:sp>
      <p:sp>
        <p:nvSpPr>
          <p:cNvPr id="12" name="Rounded Rectangle 11"/>
          <p:cNvSpPr/>
          <p:nvPr/>
        </p:nvSpPr>
        <p:spPr>
          <a:xfrm>
            <a:off x="822960" y="2331720"/>
            <a:ext cx="5120640" cy="1051560"/>
          </a:xfrm>
          <a:prstGeom prst="roundRect">
            <a:avLst>
              <a:gd name="adj" fmla="val 6000"/>
            </a:avLst>
          </a:prstGeom>
          <a:solidFill>
            <a:srgbClr val="142847"/>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487168"/>
            <a:ext cx="4572000" cy="457200"/>
          </a:xfrm>
          <a:prstGeom prst="rect">
            <a:avLst/>
          </a:prstGeom>
          <a:noFill/>
        </p:spPr>
        <p:txBody>
          <a:bodyPr wrap="square" anchor="t" lIns="0" rIns="0" tIns="0" bIns="0">
            <a:spAutoFit/>
          </a:bodyPr>
          <a:lstStyle/>
          <a:p>
            <a:pPr algn="l"/>
            <a:r>
              <a:rPr sz="1500" b="1" i="0">
                <a:solidFill>
                  <a:srgbClr val="FFFFFF"/>
                </a:solidFill>
                <a:latin typeface="Segoe UI"/>
              </a:rPr>
              <a:t>“Students must  ______  before the census date.”</a:t>
            </a:r>
          </a:p>
        </p:txBody>
      </p:sp>
      <p:sp>
        <p:nvSpPr>
          <p:cNvPr id="14" name="TextBox 13"/>
          <p:cNvSpPr txBox="1"/>
          <p:nvPr/>
        </p:nvSpPr>
        <p:spPr>
          <a:xfrm>
            <a:off x="1097280" y="2999232"/>
            <a:ext cx="4572000" cy="320040"/>
          </a:xfrm>
          <a:prstGeom prst="rect">
            <a:avLst/>
          </a:prstGeom>
          <a:noFill/>
        </p:spPr>
        <p:txBody>
          <a:bodyPr wrap="square" anchor="t" lIns="0" rIns="0" tIns="0" bIns="0">
            <a:spAutoFit/>
          </a:bodyPr>
          <a:lstStyle/>
          <a:p>
            <a:pPr algn="l"/>
            <a:r>
              <a:rPr sz="1050" b="0" i="1">
                <a:solidFill>
                  <a:srgbClr val="9FB3C8"/>
                </a:solidFill>
                <a:latin typeface="Segoe UI"/>
              </a:rPr>
              <a:t>hide one real word — let the computer guess it</a:t>
            </a:r>
          </a:p>
        </p:txBody>
      </p:sp>
      <p:sp>
        <p:nvSpPr>
          <p:cNvPr id="15" name="Rounded Rectangle 14"/>
          <p:cNvSpPr/>
          <p:nvPr/>
        </p:nvSpPr>
        <p:spPr>
          <a:xfrm>
            <a:off x="822960" y="3611880"/>
            <a:ext cx="5120640" cy="1828800"/>
          </a:xfrm>
          <a:prstGeom prst="roundRect">
            <a:avLst>
              <a:gd name="adj" fmla="val 6000"/>
            </a:avLst>
          </a:prstGeom>
          <a:solidFill>
            <a:srgbClr val="142847"/>
          </a:solidFill>
          <a:ln w="12700">
            <a:solidFill>
              <a:srgbClr val="253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794760"/>
            <a:ext cx="4572000" cy="1463040"/>
          </a:xfrm>
          <a:prstGeom prst="rect">
            <a:avLst/>
          </a:prstGeom>
          <a:noFill/>
        </p:spPr>
        <p:txBody>
          <a:bodyPr wrap="square" anchor="t" lIns="0" rIns="0" tIns="0" bIns="0">
            <a:spAutoFit/>
          </a:bodyPr>
          <a:lstStyle/>
          <a:p>
            <a:pPr algn="l">
              <a:lnSpc>
                <a:spcPct val="135000"/>
              </a:lnSpc>
            </a:pPr>
            <a:r>
              <a:rPr sz="1300" b="1" i="0">
                <a:solidFill>
                  <a:srgbClr val="2DD4BF"/>
                </a:solidFill>
                <a:latin typeface="Segoe UI"/>
              </a:rPr>
              <a:t>No human answer sheet needed.</a:t>
            </a:r>
          </a:p>
          <a:p>
            <a:pPr algn="l">
              <a:lnSpc>
                <a:spcPct val="135000"/>
              </a:lnSpc>
            </a:pPr>
            <a:r>
              <a:rPr sz="1300" b="0" i="0">
                <a:solidFill>
                  <a:srgbClr val="FFFFFF"/>
                </a:solidFill>
                <a:latin typeface="Segoe UI"/>
              </a:rPr>
              <a:t>The hidden word IS the answer.</a:t>
            </a:r>
          </a:p>
          <a:p>
            <a:pPr algn="l">
              <a:lnSpc>
                <a:spcPct val="130000"/>
              </a:lnSpc>
            </a:pPr>
            <a:r>
              <a:rPr sz="1200" b="0" i="0">
                <a:solidFill>
                  <a:srgbClr val="9FB3C8"/>
                </a:solidFill>
                <a:latin typeface="Segoe UI"/>
              </a:rPr>
              <a:t>We have millions of real sentences — so millions of free practice questions.</a:t>
            </a:r>
          </a:p>
        </p:txBody>
      </p:sp>
      <p:sp>
        <p:nvSpPr>
          <p:cNvPr id="17" name="Rounded Rectangle 16"/>
          <p:cNvSpPr/>
          <p:nvPr/>
        </p:nvSpPr>
        <p:spPr>
          <a:xfrm>
            <a:off x="6446520" y="1828800"/>
            <a:ext cx="4937760" cy="4160520"/>
          </a:xfrm>
          <a:prstGeom prst="roundRect">
            <a:avLst>
              <a:gd name="adj" fmla="val 6000"/>
            </a:avLst>
          </a:prstGeom>
          <a:solidFill>
            <a:srgbClr val="142847"/>
          </a:solidFill>
          <a:ln w="12700">
            <a:solidFill>
              <a:srgbClr val="253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1965960"/>
            <a:ext cx="4480560" cy="320040"/>
          </a:xfrm>
          <a:prstGeom prst="rect">
            <a:avLst/>
          </a:prstGeom>
          <a:noFill/>
        </p:spPr>
        <p:txBody>
          <a:bodyPr wrap="square" anchor="t" lIns="0" rIns="0" tIns="0" bIns="0">
            <a:spAutoFit/>
          </a:bodyPr>
          <a:lstStyle/>
          <a:p>
            <a:pPr algn="l"/>
            <a:r>
              <a:rPr sz="1050" b="1" i="0">
                <a:solidFill>
                  <a:srgbClr val="9FB3C8"/>
                </a:solidFill>
                <a:latin typeface="Segoe UI"/>
              </a:rPr>
              <a:t>THE NUMBER SPACE — still noise</a:t>
            </a:r>
          </a:p>
        </p:txBody>
      </p:sp>
      <p:cxnSp>
        <p:nvCxnSpPr>
          <p:cNvPr id="19" name="Connector 18"/>
          <p:cNvCxnSpPr/>
          <p:nvPr/>
        </p:nvCxnSpPr>
        <p:spPr>
          <a:xfrm>
            <a:off x="7225588" y="4046220"/>
            <a:ext cx="3379623" cy="0"/>
          </a:xfrm>
          <a:prstGeom prst="line">
            <a:avLst/>
          </a:prstGeom>
          <a:ln w="12700">
            <a:solidFill>
              <a:srgbClr val="253B5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915400" y="2674620"/>
            <a:ext cx="0" cy="2743200"/>
          </a:xfrm>
          <a:prstGeom prst="line">
            <a:avLst/>
          </a:prstGeom>
          <a:ln w="12700">
            <a:solidFill>
              <a:srgbClr val="253B5E"/>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876641" y="3259836"/>
            <a:ext cx="146304" cy="146304"/>
          </a:xfrm>
          <a:prstGeom prst="ellipse">
            <a:avLst/>
          </a:prstGeom>
          <a:solidFill>
            <a:srgbClr val="9FB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4385" y="3058668"/>
            <a:ext cx="1828800" cy="274320"/>
          </a:xfrm>
          <a:prstGeom prst="rect">
            <a:avLst/>
          </a:prstGeom>
          <a:noFill/>
        </p:spPr>
        <p:txBody>
          <a:bodyPr wrap="square" anchor="t" lIns="0" rIns="0" tIns="0" bIns="0">
            <a:spAutoFit/>
          </a:bodyPr>
          <a:lstStyle/>
          <a:p>
            <a:pPr algn="l"/>
            <a:r>
              <a:rPr sz="1100" b="1" i="0">
                <a:solidFill>
                  <a:srgbClr val="9FB3C8"/>
                </a:solidFill>
                <a:latin typeface="Segoe UI"/>
              </a:rPr>
              <a:t>enrol</a:t>
            </a:r>
          </a:p>
        </p:txBody>
      </p:sp>
      <p:sp>
        <p:nvSpPr>
          <p:cNvPr id="23" name="Oval 22"/>
          <p:cNvSpPr/>
          <p:nvPr/>
        </p:nvSpPr>
        <p:spPr>
          <a:xfrm>
            <a:off x="9687153" y="4741164"/>
            <a:ext cx="146304" cy="146304"/>
          </a:xfrm>
          <a:prstGeom prst="ellipse">
            <a:avLst/>
          </a:prstGeom>
          <a:solidFill>
            <a:srgbClr val="9FB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24897" y="4722876"/>
            <a:ext cx="1828800" cy="274320"/>
          </a:xfrm>
          <a:prstGeom prst="rect">
            <a:avLst/>
          </a:prstGeom>
          <a:noFill/>
        </p:spPr>
        <p:txBody>
          <a:bodyPr wrap="square" anchor="t" lIns="0" rIns="0" tIns="0" bIns="0">
            <a:spAutoFit/>
          </a:bodyPr>
          <a:lstStyle/>
          <a:p>
            <a:pPr algn="l"/>
            <a:r>
              <a:rPr sz="1100" b="1" i="0">
                <a:solidFill>
                  <a:srgbClr val="9FB3C8"/>
                </a:solidFill>
                <a:latin typeface="Segoe UI"/>
              </a:rPr>
              <a:t>register</a:t>
            </a:r>
          </a:p>
        </p:txBody>
      </p:sp>
      <p:sp>
        <p:nvSpPr>
          <p:cNvPr id="25" name="Oval 24"/>
          <p:cNvSpPr/>
          <p:nvPr/>
        </p:nvSpPr>
        <p:spPr>
          <a:xfrm>
            <a:off x="9023299" y="3040380"/>
            <a:ext cx="146304" cy="146304"/>
          </a:xfrm>
          <a:prstGeom prst="ellipse">
            <a:avLst/>
          </a:prstGeom>
          <a:solidFill>
            <a:srgbClr val="9FB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61043" y="2839212"/>
            <a:ext cx="1828800" cy="274320"/>
          </a:xfrm>
          <a:prstGeom prst="rect">
            <a:avLst/>
          </a:prstGeom>
          <a:noFill/>
        </p:spPr>
        <p:txBody>
          <a:bodyPr wrap="square" anchor="t" lIns="0" rIns="0" tIns="0" bIns="0">
            <a:spAutoFit/>
          </a:bodyPr>
          <a:lstStyle/>
          <a:p>
            <a:pPr algn="l"/>
            <a:r>
              <a:rPr sz="1100" b="1" i="0">
                <a:solidFill>
                  <a:srgbClr val="9FB3C8"/>
                </a:solidFill>
                <a:latin typeface="Segoe UI"/>
              </a:rPr>
              <a:t>party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65760"/>
            <a:ext cx="8686800" cy="365760"/>
          </a:xfrm>
          <a:prstGeom prst="rect">
            <a:avLst/>
          </a:prstGeom>
          <a:noFill/>
        </p:spPr>
        <p:txBody>
          <a:bodyPr wrap="square" anchor="t" lIns="0" rIns="0" tIns="0" bIns="0">
            <a:spAutoFit/>
          </a:bodyPr>
          <a:lstStyle/>
          <a:p>
            <a:pPr algn="l"/>
            <a:r>
              <a:rPr sz="1250" b="1" i="0" spc="220">
                <a:solidFill>
                  <a:srgbClr val="2DD4BF"/>
                </a:solidFill>
                <a:latin typeface="Segoe UI"/>
              </a:rPr>
              <a:t>PHASE 4  ·  SEARCH BY MEANING</a:t>
            </a:r>
          </a:p>
        </p:txBody>
      </p:sp>
      <p:sp>
        <p:nvSpPr>
          <p:cNvPr id="5" name="TextBox 4"/>
          <p:cNvSpPr txBox="1"/>
          <p:nvPr/>
        </p:nvSpPr>
        <p:spPr>
          <a:xfrm>
            <a:off x="576072" y="676656"/>
            <a:ext cx="969264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Segoe UI"/>
              </a:rPr>
              <a:t>Who assigns the numbers?</a:t>
            </a:r>
          </a:p>
        </p:txBody>
      </p:sp>
      <p:sp>
        <p:nvSpPr>
          <p:cNvPr id="6" name="Rounded Rectangle 5"/>
          <p:cNvSpPr/>
          <p:nvPr/>
        </p:nvSpPr>
        <p:spPr>
          <a:xfrm>
            <a:off x="621792" y="1371600"/>
            <a:ext cx="1188720" cy="54864"/>
          </a:xfrm>
          <a:prstGeom prst="roundRect">
            <a:avLst/>
          </a:prstGeom>
          <a:solidFill>
            <a:srgbClr val="F5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go-wimmera-white.png"/>
          <p:cNvPicPr>
            <a:picLocks noChangeAspect="1"/>
          </p:cNvPicPr>
          <p:nvPr/>
        </p:nvPicPr>
        <p:blipFill>
          <a:blip r:embed="rId2"/>
          <a:stretch>
            <a:fillRect/>
          </a:stretch>
        </p:blipFill>
        <p:spPr>
          <a:xfrm>
            <a:off x="11155985" y="320040"/>
            <a:ext cx="624230" cy="457200"/>
          </a:xfrm>
          <a:prstGeom prst="rect">
            <a:avLst/>
          </a:prstGeom>
        </p:spPr>
      </p:pic>
      <p:sp>
        <p:nvSpPr>
          <p:cNvPr id="8" name="Rectangle 7"/>
          <p:cNvSpPr/>
          <p:nvPr/>
        </p:nvSpPr>
        <p:spPr>
          <a:xfrm>
            <a:off x="0" y="6355080"/>
            <a:ext cx="12191695" cy="5029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355080"/>
            <a:ext cx="12191695" cy="36576"/>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6355080"/>
            <a:ext cx="6476695" cy="502920"/>
          </a:xfrm>
          <a:prstGeom prst="rect">
            <a:avLst/>
          </a:prstGeom>
          <a:noFill/>
        </p:spPr>
        <p:txBody>
          <a:bodyPr wrap="none" anchor="ctr">
            <a:spAutoFit/>
          </a:bodyPr>
          <a:lstStyle/>
          <a:p>
            <a:pPr algn="r"/>
            <a:r>
              <a:rPr sz="1050" b="1">
                <a:solidFill>
                  <a:srgbClr val="2DD4BF"/>
                </a:solidFill>
                <a:latin typeface="Segoe UI"/>
              </a:rPr>
              <a:t>Dr Mohammad Arifur Rahman</a:t>
            </a:r>
            <a:r>
              <a:rPr sz="1000">
                <a:solidFill>
                  <a:srgbClr val="9FB3C8"/>
                </a:solidFill>
                <a:latin typeface="Segoe UI"/>
              </a:rPr>
              <a:t>   ·   Analyst Programmer  ·  Wimmera CMA, Victoria</a:t>
            </a:r>
          </a:p>
        </p:txBody>
      </p:sp>
      <p:sp>
        <p:nvSpPr>
          <p:cNvPr id="11" name="TextBox 10"/>
          <p:cNvSpPr txBox="1"/>
          <p:nvPr/>
        </p:nvSpPr>
        <p:spPr>
          <a:xfrm>
            <a:off x="822960" y="1691640"/>
            <a:ext cx="10607040" cy="365760"/>
          </a:xfrm>
          <a:prstGeom prst="rect">
            <a:avLst/>
          </a:prstGeom>
          <a:noFill/>
        </p:spPr>
        <p:txBody>
          <a:bodyPr wrap="square" anchor="t" lIns="0" rIns="0" tIns="0" bIns="0">
            <a:spAutoFit/>
          </a:bodyPr>
          <a:lstStyle/>
          <a:p>
            <a:pPr algn="l"/>
            <a:r>
              <a:rPr sz="1350" b="0" i="1">
                <a:solidFill>
                  <a:srgbClr val="9FB3C8"/>
                </a:solidFill>
                <a:latin typeface="Segoe UI"/>
              </a:rPr>
              <a:t>The computer guesses the blank from the words' CURRENT numbers. Random numbers → a random guess.</a:t>
            </a:r>
          </a:p>
        </p:txBody>
      </p:sp>
      <p:sp>
        <p:nvSpPr>
          <p:cNvPr id="12" name="Rounded Rectangle 11"/>
          <p:cNvSpPr/>
          <p:nvPr/>
        </p:nvSpPr>
        <p:spPr>
          <a:xfrm>
            <a:off x="822960" y="2331720"/>
            <a:ext cx="5120640" cy="1051560"/>
          </a:xfrm>
          <a:prstGeom prst="roundRect">
            <a:avLst>
              <a:gd name="adj" fmla="val 6000"/>
            </a:avLst>
          </a:prstGeom>
          <a:solidFill>
            <a:srgbClr val="142847"/>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487168"/>
            <a:ext cx="4572000" cy="457200"/>
          </a:xfrm>
          <a:prstGeom prst="rect">
            <a:avLst/>
          </a:prstGeom>
          <a:noFill/>
        </p:spPr>
        <p:txBody>
          <a:bodyPr wrap="square" anchor="t" lIns="0" rIns="0" tIns="0" bIns="0">
            <a:spAutoFit/>
          </a:bodyPr>
          <a:lstStyle/>
          <a:p>
            <a:pPr algn="l"/>
            <a:r>
              <a:rPr sz="1500" b="1" i="0">
                <a:solidFill>
                  <a:srgbClr val="FFFFFF"/>
                </a:solidFill>
                <a:latin typeface="Segoe UI"/>
              </a:rPr>
              <a:t>“Students must  ______  before the census date.”</a:t>
            </a:r>
          </a:p>
        </p:txBody>
      </p:sp>
      <p:sp>
        <p:nvSpPr>
          <p:cNvPr id="14" name="TextBox 13"/>
          <p:cNvSpPr txBox="1"/>
          <p:nvPr/>
        </p:nvSpPr>
        <p:spPr>
          <a:xfrm>
            <a:off x="1097280" y="2999232"/>
            <a:ext cx="4572000" cy="320040"/>
          </a:xfrm>
          <a:prstGeom prst="rect">
            <a:avLst/>
          </a:prstGeom>
          <a:noFill/>
        </p:spPr>
        <p:txBody>
          <a:bodyPr wrap="square" anchor="t" lIns="0" rIns="0" tIns="0" bIns="0">
            <a:spAutoFit/>
          </a:bodyPr>
          <a:lstStyle/>
          <a:p>
            <a:pPr algn="l"/>
            <a:r>
              <a:rPr sz="1050" b="0" i="1">
                <a:solidFill>
                  <a:srgbClr val="9FB3C8"/>
                </a:solidFill>
                <a:latin typeface="Segoe UI"/>
              </a:rPr>
              <a:t>hide one real word — let the computer guess it</a:t>
            </a:r>
          </a:p>
        </p:txBody>
      </p:sp>
      <p:sp>
        <p:nvSpPr>
          <p:cNvPr id="15" name="Rounded Rectangle 14"/>
          <p:cNvSpPr/>
          <p:nvPr/>
        </p:nvSpPr>
        <p:spPr>
          <a:xfrm>
            <a:off x="822960" y="3611880"/>
            <a:ext cx="5120640" cy="1828800"/>
          </a:xfrm>
          <a:prstGeom prst="roundRect">
            <a:avLst>
              <a:gd name="adj" fmla="val 6000"/>
            </a:avLst>
          </a:prstGeom>
          <a:solidFill>
            <a:srgbClr val="142847"/>
          </a:solidFill>
          <a:ln w="12700">
            <a:solidFill>
              <a:srgbClr val="253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749039"/>
            <a:ext cx="4572000" cy="320040"/>
          </a:xfrm>
          <a:prstGeom prst="rect">
            <a:avLst/>
          </a:prstGeom>
          <a:noFill/>
        </p:spPr>
        <p:txBody>
          <a:bodyPr wrap="square" anchor="t" lIns="0" rIns="0" tIns="0" bIns="0">
            <a:spAutoFit/>
          </a:bodyPr>
          <a:lstStyle/>
          <a:p>
            <a:pPr algn="l"/>
            <a:r>
              <a:rPr sz="1100" b="1" i="0">
                <a:solidFill>
                  <a:srgbClr val="9FB3C8"/>
                </a:solidFill>
                <a:latin typeface="Segoe UI"/>
              </a:rPr>
              <a:t>the computer's guess:</a:t>
            </a:r>
          </a:p>
        </p:txBody>
      </p:sp>
      <p:sp>
        <p:nvSpPr>
          <p:cNvPr id="17" name="TextBox 16"/>
          <p:cNvSpPr txBox="1"/>
          <p:nvPr/>
        </p:nvSpPr>
        <p:spPr>
          <a:xfrm>
            <a:off x="1097280" y="4160520"/>
            <a:ext cx="1188720" cy="320040"/>
          </a:xfrm>
          <a:prstGeom prst="rect">
            <a:avLst/>
          </a:prstGeom>
          <a:noFill/>
        </p:spPr>
        <p:txBody>
          <a:bodyPr wrap="square" anchor="t" lIns="0" rIns="0" tIns="0" bIns="0">
            <a:spAutoFit/>
          </a:bodyPr>
          <a:lstStyle/>
          <a:p>
            <a:pPr algn="l"/>
            <a:r>
              <a:rPr sz="1200" b="1" i="0">
                <a:solidFill>
                  <a:srgbClr val="FFFFFF"/>
                </a:solidFill>
                <a:latin typeface="Segoe UI"/>
              </a:rPr>
              <a:t>enrol</a:t>
            </a:r>
          </a:p>
        </p:txBody>
      </p:sp>
      <p:sp>
        <p:nvSpPr>
          <p:cNvPr id="18" name="Rounded Rectangle 17"/>
          <p:cNvSpPr/>
          <p:nvPr/>
        </p:nvSpPr>
        <p:spPr>
          <a:xfrm>
            <a:off x="2377440" y="4215383"/>
            <a:ext cx="777240" cy="201168"/>
          </a:xfrm>
          <a:prstGeom prst="roundRect">
            <a:avLst>
              <a:gd name="adj" fmla="val 50000"/>
            </a:avLst>
          </a:prstGeom>
          <a:solidFill>
            <a:srgbClr val="9FB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46120" y="4160520"/>
            <a:ext cx="822960" cy="320040"/>
          </a:xfrm>
          <a:prstGeom prst="rect">
            <a:avLst/>
          </a:prstGeom>
          <a:noFill/>
        </p:spPr>
        <p:txBody>
          <a:bodyPr wrap="square" anchor="t" lIns="0" rIns="0" tIns="0" bIns="0">
            <a:spAutoFit/>
          </a:bodyPr>
          <a:lstStyle/>
          <a:p>
            <a:pPr algn="l"/>
            <a:r>
              <a:rPr sz="1050" b="0" i="0">
                <a:solidFill>
                  <a:srgbClr val="9FB3C8"/>
                </a:solidFill>
                <a:latin typeface="Segoe UI"/>
              </a:rPr>
              <a:t>34%</a:t>
            </a:r>
          </a:p>
        </p:txBody>
      </p:sp>
      <p:sp>
        <p:nvSpPr>
          <p:cNvPr id="20" name="TextBox 19"/>
          <p:cNvSpPr txBox="1"/>
          <p:nvPr/>
        </p:nvSpPr>
        <p:spPr>
          <a:xfrm>
            <a:off x="1097280" y="4572000"/>
            <a:ext cx="1188720" cy="320040"/>
          </a:xfrm>
          <a:prstGeom prst="rect">
            <a:avLst/>
          </a:prstGeom>
          <a:noFill/>
        </p:spPr>
        <p:txBody>
          <a:bodyPr wrap="square" anchor="t" lIns="0" rIns="0" tIns="0" bIns="0">
            <a:spAutoFit/>
          </a:bodyPr>
          <a:lstStyle/>
          <a:p>
            <a:pPr algn="l"/>
            <a:r>
              <a:rPr sz="1200" b="1" i="0">
                <a:solidFill>
                  <a:srgbClr val="FFFFFF"/>
                </a:solidFill>
                <a:latin typeface="Segoe UI"/>
              </a:rPr>
              <a:t>register</a:t>
            </a:r>
          </a:p>
        </p:txBody>
      </p:sp>
      <p:sp>
        <p:nvSpPr>
          <p:cNvPr id="21" name="Rounded Rectangle 20"/>
          <p:cNvSpPr/>
          <p:nvPr/>
        </p:nvSpPr>
        <p:spPr>
          <a:xfrm>
            <a:off x="2377440" y="4626864"/>
            <a:ext cx="713232" cy="201168"/>
          </a:xfrm>
          <a:prstGeom prst="roundRect">
            <a:avLst>
              <a:gd name="adj" fmla="val 50000"/>
            </a:avLst>
          </a:prstGeom>
          <a:solidFill>
            <a:srgbClr val="9FB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82112" y="4572000"/>
            <a:ext cx="822960" cy="320040"/>
          </a:xfrm>
          <a:prstGeom prst="rect">
            <a:avLst/>
          </a:prstGeom>
          <a:noFill/>
        </p:spPr>
        <p:txBody>
          <a:bodyPr wrap="square" anchor="t" lIns="0" rIns="0" tIns="0" bIns="0">
            <a:spAutoFit/>
          </a:bodyPr>
          <a:lstStyle/>
          <a:p>
            <a:pPr algn="l"/>
            <a:r>
              <a:rPr sz="1050" b="0" i="0">
                <a:solidFill>
                  <a:srgbClr val="9FB3C8"/>
                </a:solidFill>
                <a:latin typeface="Segoe UI"/>
              </a:rPr>
              <a:t>31%</a:t>
            </a:r>
          </a:p>
        </p:txBody>
      </p:sp>
      <p:sp>
        <p:nvSpPr>
          <p:cNvPr id="23" name="TextBox 22"/>
          <p:cNvSpPr txBox="1"/>
          <p:nvPr/>
        </p:nvSpPr>
        <p:spPr>
          <a:xfrm>
            <a:off x="1097280" y="4983480"/>
            <a:ext cx="1188720" cy="320040"/>
          </a:xfrm>
          <a:prstGeom prst="rect">
            <a:avLst/>
          </a:prstGeom>
          <a:noFill/>
        </p:spPr>
        <p:txBody>
          <a:bodyPr wrap="square" anchor="t" lIns="0" rIns="0" tIns="0" bIns="0">
            <a:spAutoFit/>
          </a:bodyPr>
          <a:lstStyle/>
          <a:p>
            <a:pPr algn="l"/>
            <a:r>
              <a:rPr sz="1200" b="1" i="0">
                <a:solidFill>
                  <a:srgbClr val="FFFFFF"/>
                </a:solidFill>
                <a:latin typeface="Segoe UI"/>
              </a:rPr>
              <a:t>party</a:t>
            </a:r>
          </a:p>
        </p:txBody>
      </p:sp>
      <p:sp>
        <p:nvSpPr>
          <p:cNvPr id="24" name="Rounded Rectangle 23"/>
          <p:cNvSpPr/>
          <p:nvPr/>
        </p:nvSpPr>
        <p:spPr>
          <a:xfrm>
            <a:off x="2377440" y="5038344"/>
            <a:ext cx="658368" cy="201168"/>
          </a:xfrm>
          <a:prstGeom prst="roundRect">
            <a:avLst>
              <a:gd name="adj" fmla="val 50000"/>
            </a:avLst>
          </a:prstGeom>
          <a:solidFill>
            <a:srgbClr val="9FB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27248" y="4983480"/>
            <a:ext cx="822960" cy="320040"/>
          </a:xfrm>
          <a:prstGeom prst="rect">
            <a:avLst/>
          </a:prstGeom>
          <a:noFill/>
        </p:spPr>
        <p:txBody>
          <a:bodyPr wrap="square" anchor="t" lIns="0" rIns="0" tIns="0" bIns="0">
            <a:spAutoFit/>
          </a:bodyPr>
          <a:lstStyle/>
          <a:p>
            <a:pPr algn="l"/>
            <a:r>
              <a:rPr sz="1050" b="0" i="0">
                <a:solidFill>
                  <a:srgbClr val="9FB3C8"/>
                </a:solidFill>
                <a:latin typeface="Segoe UI"/>
              </a:rPr>
              <a:t>29%</a:t>
            </a:r>
          </a:p>
        </p:txBody>
      </p:sp>
      <p:sp>
        <p:nvSpPr>
          <p:cNvPr id="26" name="Rounded Rectangle 25"/>
          <p:cNvSpPr/>
          <p:nvPr/>
        </p:nvSpPr>
        <p:spPr>
          <a:xfrm>
            <a:off x="6446520" y="1828800"/>
            <a:ext cx="4937760" cy="4160520"/>
          </a:xfrm>
          <a:prstGeom prst="roundRect">
            <a:avLst>
              <a:gd name="adj" fmla="val 6000"/>
            </a:avLst>
          </a:prstGeom>
          <a:solidFill>
            <a:srgbClr val="142847"/>
          </a:solidFill>
          <a:ln w="12700">
            <a:solidFill>
              <a:srgbClr val="253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0" y="1965960"/>
            <a:ext cx="4480560" cy="320040"/>
          </a:xfrm>
          <a:prstGeom prst="rect">
            <a:avLst/>
          </a:prstGeom>
          <a:noFill/>
        </p:spPr>
        <p:txBody>
          <a:bodyPr wrap="square" anchor="t" lIns="0" rIns="0" tIns="0" bIns="0">
            <a:spAutoFit/>
          </a:bodyPr>
          <a:lstStyle/>
          <a:p>
            <a:pPr algn="l"/>
            <a:r>
              <a:rPr sz="1050" b="1" i="0">
                <a:solidFill>
                  <a:srgbClr val="9FB3C8"/>
                </a:solidFill>
                <a:latin typeface="Segoe UI"/>
              </a:rPr>
              <a:t>THE NUMBER SPACE — still noise</a:t>
            </a:r>
          </a:p>
        </p:txBody>
      </p:sp>
      <p:cxnSp>
        <p:nvCxnSpPr>
          <p:cNvPr id="28" name="Connector 27"/>
          <p:cNvCxnSpPr/>
          <p:nvPr/>
        </p:nvCxnSpPr>
        <p:spPr>
          <a:xfrm>
            <a:off x="7225588" y="4046220"/>
            <a:ext cx="3379623" cy="0"/>
          </a:xfrm>
          <a:prstGeom prst="line">
            <a:avLst/>
          </a:prstGeom>
          <a:ln w="12700">
            <a:solidFill>
              <a:srgbClr val="253B5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915400" y="2674620"/>
            <a:ext cx="0" cy="2743200"/>
          </a:xfrm>
          <a:prstGeom prst="line">
            <a:avLst/>
          </a:prstGeom>
          <a:ln w="12700">
            <a:solidFill>
              <a:srgbClr val="253B5E"/>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7876641" y="3259836"/>
            <a:ext cx="146304" cy="146304"/>
          </a:xfrm>
          <a:prstGeom prst="ellipse">
            <a:avLst/>
          </a:prstGeom>
          <a:solidFill>
            <a:srgbClr val="9FB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14385" y="3058668"/>
            <a:ext cx="1828800" cy="274320"/>
          </a:xfrm>
          <a:prstGeom prst="rect">
            <a:avLst/>
          </a:prstGeom>
          <a:noFill/>
        </p:spPr>
        <p:txBody>
          <a:bodyPr wrap="square" anchor="t" lIns="0" rIns="0" tIns="0" bIns="0">
            <a:spAutoFit/>
          </a:bodyPr>
          <a:lstStyle/>
          <a:p>
            <a:pPr algn="l"/>
            <a:r>
              <a:rPr sz="1100" b="1" i="0">
                <a:solidFill>
                  <a:srgbClr val="9FB3C8"/>
                </a:solidFill>
                <a:latin typeface="Segoe UI"/>
              </a:rPr>
              <a:t>enrol</a:t>
            </a:r>
          </a:p>
        </p:txBody>
      </p:sp>
      <p:sp>
        <p:nvSpPr>
          <p:cNvPr id="32" name="Oval 31"/>
          <p:cNvSpPr/>
          <p:nvPr/>
        </p:nvSpPr>
        <p:spPr>
          <a:xfrm>
            <a:off x="9687153" y="4741164"/>
            <a:ext cx="146304" cy="146304"/>
          </a:xfrm>
          <a:prstGeom prst="ellipse">
            <a:avLst/>
          </a:prstGeom>
          <a:solidFill>
            <a:srgbClr val="9FB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24897" y="4722876"/>
            <a:ext cx="1828800" cy="274320"/>
          </a:xfrm>
          <a:prstGeom prst="rect">
            <a:avLst/>
          </a:prstGeom>
          <a:noFill/>
        </p:spPr>
        <p:txBody>
          <a:bodyPr wrap="square" anchor="t" lIns="0" rIns="0" tIns="0" bIns="0">
            <a:spAutoFit/>
          </a:bodyPr>
          <a:lstStyle/>
          <a:p>
            <a:pPr algn="l"/>
            <a:r>
              <a:rPr sz="1100" b="1" i="0">
                <a:solidFill>
                  <a:srgbClr val="9FB3C8"/>
                </a:solidFill>
                <a:latin typeface="Segoe UI"/>
              </a:rPr>
              <a:t>register</a:t>
            </a:r>
          </a:p>
        </p:txBody>
      </p:sp>
      <p:sp>
        <p:nvSpPr>
          <p:cNvPr id="34" name="Oval 33"/>
          <p:cNvSpPr/>
          <p:nvPr/>
        </p:nvSpPr>
        <p:spPr>
          <a:xfrm>
            <a:off x="9023299" y="3040380"/>
            <a:ext cx="146304" cy="146304"/>
          </a:xfrm>
          <a:prstGeom prst="ellipse">
            <a:avLst/>
          </a:prstGeom>
          <a:solidFill>
            <a:srgbClr val="9FB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61043" y="2839212"/>
            <a:ext cx="1828800" cy="274320"/>
          </a:xfrm>
          <a:prstGeom prst="rect">
            <a:avLst/>
          </a:prstGeom>
          <a:noFill/>
        </p:spPr>
        <p:txBody>
          <a:bodyPr wrap="square" anchor="t" lIns="0" rIns="0" tIns="0" bIns="0">
            <a:spAutoFit/>
          </a:bodyPr>
          <a:lstStyle/>
          <a:p>
            <a:pPr algn="l"/>
            <a:r>
              <a:rPr sz="1100" b="1" i="0">
                <a:solidFill>
                  <a:srgbClr val="9FB3C8"/>
                </a:solidFill>
                <a:latin typeface="Segoe UI"/>
              </a:rPr>
              <a:t>party</a:t>
            </a:r>
          </a:p>
        </p:txBody>
      </p:sp>
      <p:sp>
        <p:nvSpPr>
          <p:cNvPr id="36" name="TextBox 35"/>
          <p:cNvSpPr txBox="1"/>
          <p:nvPr/>
        </p:nvSpPr>
        <p:spPr>
          <a:xfrm>
            <a:off x="6675120" y="5486400"/>
            <a:ext cx="4480560" cy="365760"/>
          </a:xfrm>
          <a:prstGeom prst="rect">
            <a:avLst/>
          </a:prstGeom>
          <a:noFill/>
        </p:spPr>
        <p:txBody>
          <a:bodyPr wrap="square" anchor="t" lIns="0" rIns="0" tIns="0" bIns="0">
            <a:spAutoFit/>
          </a:bodyPr>
          <a:lstStyle/>
          <a:p>
            <a:pPr algn="ctr"/>
            <a:r>
              <a:rPr sz="1050" b="0" i="1">
                <a:solidFill>
                  <a:srgbClr val="9FB3C8"/>
                </a:solidFill>
                <a:latin typeface="Segoe UI"/>
              </a:rPr>
              <a:t>the guess is bad — because the numbers are still random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65760"/>
            <a:ext cx="8686800" cy="365760"/>
          </a:xfrm>
          <a:prstGeom prst="rect">
            <a:avLst/>
          </a:prstGeom>
          <a:noFill/>
        </p:spPr>
        <p:txBody>
          <a:bodyPr wrap="square" anchor="t" lIns="0" rIns="0" tIns="0" bIns="0">
            <a:spAutoFit/>
          </a:bodyPr>
          <a:lstStyle/>
          <a:p>
            <a:pPr algn="l"/>
            <a:r>
              <a:rPr sz="1250" b="1" i="0" spc="220">
                <a:solidFill>
                  <a:srgbClr val="2DD4BF"/>
                </a:solidFill>
                <a:latin typeface="Segoe UI"/>
              </a:rPr>
              <a:t>PHASE 4  ·  SEARCH BY MEANING</a:t>
            </a:r>
          </a:p>
        </p:txBody>
      </p:sp>
      <p:sp>
        <p:nvSpPr>
          <p:cNvPr id="5" name="TextBox 4"/>
          <p:cNvSpPr txBox="1"/>
          <p:nvPr/>
        </p:nvSpPr>
        <p:spPr>
          <a:xfrm>
            <a:off x="576072" y="676656"/>
            <a:ext cx="969264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Segoe UI"/>
              </a:rPr>
              <a:t>Who assigns the numbers?</a:t>
            </a:r>
          </a:p>
        </p:txBody>
      </p:sp>
      <p:sp>
        <p:nvSpPr>
          <p:cNvPr id="6" name="Rounded Rectangle 5"/>
          <p:cNvSpPr/>
          <p:nvPr/>
        </p:nvSpPr>
        <p:spPr>
          <a:xfrm>
            <a:off x="621792" y="1371600"/>
            <a:ext cx="1188720" cy="54864"/>
          </a:xfrm>
          <a:prstGeom prst="roundRect">
            <a:avLst/>
          </a:prstGeom>
          <a:solidFill>
            <a:srgbClr val="F5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go-wimmera-white.png"/>
          <p:cNvPicPr>
            <a:picLocks noChangeAspect="1"/>
          </p:cNvPicPr>
          <p:nvPr/>
        </p:nvPicPr>
        <p:blipFill>
          <a:blip r:embed="rId2"/>
          <a:stretch>
            <a:fillRect/>
          </a:stretch>
        </p:blipFill>
        <p:spPr>
          <a:xfrm>
            <a:off x="11155985" y="320040"/>
            <a:ext cx="624230" cy="457200"/>
          </a:xfrm>
          <a:prstGeom prst="rect">
            <a:avLst/>
          </a:prstGeom>
        </p:spPr>
      </p:pic>
      <p:sp>
        <p:nvSpPr>
          <p:cNvPr id="8" name="Rectangle 7"/>
          <p:cNvSpPr/>
          <p:nvPr/>
        </p:nvSpPr>
        <p:spPr>
          <a:xfrm>
            <a:off x="0" y="6355080"/>
            <a:ext cx="12191695" cy="5029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355080"/>
            <a:ext cx="12191695" cy="36576"/>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6355080"/>
            <a:ext cx="6476695" cy="502920"/>
          </a:xfrm>
          <a:prstGeom prst="rect">
            <a:avLst/>
          </a:prstGeom>
          <a:noFill/>
        </p:spPr>
        <p:txBody>
          <a:bodyPr wrap="none" anchor="ctr">
            <a:spAutoFit/>
          </a:bodyPr>
          <a:lstStyle/>
          <a:p>
            <a:pPr algn="r"/>
            <a:r>
              <a:rPr sz="1050" b="1">
                <a:solidFill>
                  <a:srgbClr val="2DD4BF"/>
                </a:solidFill>
                <a:latin typeface="Segoe UI"/>
              </a:rPr>
              <a:t>Dr Mohammad Arifur Rahman</a:t>
            </a:r>
            <a:r>
              <a:rPr sz="1000">
                <a:solidFill>
                  <a:srgbClr val="9FB3C8"/>
                </a:solidFill>
                <a:latin typeface="Segoe UI"/>
              </a:rPr>
              <a:t>   ·   Analyst Programmer  ·  Wimmera CMA, Victoria</a:t>
            </a:r>
          </a:p>
        </p:txBody>
      </p:sp>
      <p:sp>
        <p:nvSpPr>
          <p:cNvPr id="11" name="TextBox 10"/>
          <p:cNvSpPr txBox="1"/>
          <p:nvPr/>
        </p:nvSpPr>
        <p:spPr>
          <a:xfrm>
            <a:off x="822960" y="1691640"/>
            <a:ext cx="10607040" cy="365760"/>
          </a:xfrm>
          <a:prstGeom prst="rect">
            <a:avLst/>
          </a:prstGeom>
          <a:noFill/>
        </p:spPr>
        <p:txBody>
          <a:bodyPr wrap="square" anchor="t" lIns="0" rIns="0" tIns="0" bIns="0">
            <a:spAutoFit/>
          </a:bodyPr>
          <a:lstStyle/>
          <a:p>
            <a:pPr algn="l"/>
            <a:r>
              <a:rPr sz="1350" b="0" i="1">
                <a:solidFill>
                  <a:srgbClr val="9FB3C8"/>
                </a:solidFill>
                <a:latin typeface="Segoe UI"/>
              </a:rPr>
              <a:t>Reveal the true word. Nudge the numbers a little so next time the guess is better.</a:t>
            </a:r>
          </a:p>
        </p:txBody>
      </p:sp>
      <p:sp>
        <p:nvSpPr>
          <p:cNvPr id="12" name="Rounded Rectangle 11"/>
          <p:cNvSpPr/>
          <p:nvPr/>
        </p:nvSpPr>
        <p:spPr>
          <a:xfrm>
            <a:off x="822960" y="2331720"/>
            <a:ext cx="5120640" cy="1051560"/>
          </a:xfrm>
          <a:prstGeom prst="roundRect">
            <a:avLst>
              <a:gd name="adj" fmla="val 6000"/>
            </a:avLst>
          </a:prstGeom>
          <a:solidFill>
            <a:srgbClr val="142847"/>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487168"/>
            <a:ext cx="4572000" cy="457200"/>
          </a:xfrm>
          <a:prstGeom prst="rect">
            <a:avLst/>
          </a:prstGeom>
          <a:noFill/>
        </p:spPr>
        <p:txBody>
          <a:bodyPr wrap="square" anchor="t" lIns="0" rIns="0" tIns="0" bIns="0">
            <a:spAutoFit/>
          </a:bodyPr>
          <a:lstStyle/>
          <a:p>
            <a:pPr algn="l"/>
            <a:r>
              <a:rPr sz="1500" b="1" i="0">
                <a:solidFill>
                  <a:srgbClr val="FFFFFF"/>
                </a:solidFill>
                <a:latin typeface="Segoe UI"/>
              </a:rPr>
              <a:t>“Students must  ______  before the census date.”</a:t>
            </a:r>
          </a:p>
        </p:txBody>
      </p:sp>
      <p:sp>
        <p:nvSpPr>
          <p:cNvPr id="14" name="TextBox 13"/>
          <p:cNvSpPr txBox="1"/>
          <p:nvPr/>
        </p:nvSpPr>
        <p:spPr>
          <a:xfrm>
            <a:off x="1097280" y="2999232"/>
            <a:ext cx="4572000" cy="320040"/>
          </a:xfrm>
          <a:prstGeom prst="rect">
            <a:avLst/>
          </a:prstGeom>
          <a:noFill/>
        </p:spPr>
        <p:txBody>
          <a:bodyPr wrap="square" anchor="t" lIns="0" rIns="0" tIns="0" bIns="0">
            <a:spAutoFit/>
          </a:bodyPr>
          <a:lstStyle/>
          <a:p>
            <a:pPr algn="l"/>
            <a:r>
              <a:rPr sz="1050" b="0" i="1">
                <a:solidFill>
                  <a:srgbClr val="9FB3C8"/>
                </a:solidFill>
                <a:latin typeface="Segoe UI"/>
              </a:rPr>
              <a:t>hide one real word — let the computer guess it</a:t>
            </a:r>
          </a:p>
        </p:txBody>
      </p:sp>
      <p:sp>
        <p:nvSpPr>
          <p:cNvPr id="15" name="Rounded Rectangle 14"/>
          <p:cNvSpPr/>
          <p:nvPr/>
        </p:nvSpPr>
        <p:spPr>
          <a:xfrm>
            <a:off x="822960" y="3611880"/>
            <a:ext cx="5120640" cy="1828800"/>
          </a:xfrm>
          <a:prstGeom prst="roundRect">
            <a:avLst>
              <a:gd name="adj" fmla="val 6000"/>
            </a:avLst>
          </a:prstGeom>
          <a:solidFill>
            <a:srgbClr val="142847"/>
          </a:solidFill>
          <a:ln w="12700">
            <a:solidFill>
              <a:srgbClr val="253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749039"/>
            <a:ext cx="4572000" cy="320040"/>
          </a:xfrm>
          <a:prstGeom prst="rect">
            <a:avLst/>
          </a:prstGeom>
          <a:noFill/>
        </p:spPr>
        <p:txBody>
          <a:bodyPr wrap="square" anchor="t" lIns="0" rIns="0" tIns="0" bIns="0">
            <a:spAutoFit/>
          </a:bodyPr>
          <a:lstStyle/>
          <a:p>
            <a:pPr algn="l"/>
            <a:r>
              <a:rPr sz="1100" b="1" i="0">
                <a:solidFill>
                  <a:srgbClr val="9FB3C8"/>
                </a:solidFill>
                <a:latin typeface="Segoe UI"/>
              </a:rPr>
              <a:t>the computer's guess:</a:t>
            </a:r>
          </a:p>
        </p:txBody>
      </p:sp>
      <p:sp>
        <p:nvSpPr>
          <p:cNvPr id="17" name="TextBox 16"/>
          <p:cNvSpPr txBox="1"/>
          <p:nvPr/>
        </p:nvSpPr>
        <p:spPr>
          <a:xfrm>
            <a:off x="1097280" y="4160520"/>
            <a:ext cx="1188720" cy="320040"/>
          </a:xfrm>
          <a:prstGeom prst="rect">
            <a:avLst/>
          </a:prstGeom>
          <a:noFill/>
        </p:spPr>
        <p:txBody>
          <a:bodyPr wrap="square" anchor="t" lIns="0" rIns="0" tIns="0" bIns="0">
            <a:spAutoFit/>
          </a:bodyPr>
          <a:lstStyle/>
          <a:p>
            <a:pPr algn="l"/>
            <a:r>
              <a:rPr sz="1200" b="1" i="0">
                <a:solidFill>
                  <a:srgbClr val="FFFFFF"/>
                </a:solidFill>
                <a:latin typeface="Segoe UI"/>
              </a:rPr>
              <a:t>enrol</a:t>
            </a:r>
          </a:p>
        </p:txBody>
      </p:sp>
      <p:sp>
        <p:nvSpPr>
          <p:cNvPr id="18" name="Rounded Rectangle 17"/>
          <p:cNvSpPr/>
          <p:nvPr/>
        </p:nvSpPr>
        <p:spPr>
          <a:xfrm>
            <a:off x="2377440" y="4215383"/>
            <a:ext cx="777240" cy="201168"/>
          </a:xfrm>
          <a:prstGeom prst="roundRect">
            <a:avLst>
              <a:gd name="adj" fmla="val 50000"/>
            </a:avLst>
          </a:prstGeom>
          <a:solidFill>
            <a:srgbClr val="9FB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46120" y="4160520"/>
            <a:ext cx="822960" cy="320040"/>
          </a:xfrm>
          <a:prstGeom prst="rect">
            <a:avLst/>
          </a:prstGeom>
          <a:noFill/>
        </p:spPr>
        <p:txBody>
          <a:bodyPr wrap="square" anchor="t" lIns="0" rIns="0" tIns="0" bIns="0">
            <a:spAutoFit/>
          </a:bodyPr>
          <a:lstStyle/>
          <a:p>
            <a:pPr algn="l"/>
            <a:r>
              <a:rPr sz="1050" b="0" i="0">
                <a:solidFill>
                  <a:srgbClr val="9FB3C8"/>
                </a:solidFill>
                <a:latin typeface="Segoe UI"/>
              </a:rPr>
              <a:t>34%</a:t>
            </a:r>
          </a:p>
        </p:txBody>
      </p:sp>
      <p:sp>
        <p:nvSpPr>
          <p:cNvPr id="20" name="TextBox 19"/>
          <p:cNvSpPr txBox="1"/>
          <p:nvPr/>
        </p:nvSpPr>
        <p:spPr>
          <a:xfrm>
            <a:off x="1097280" y="4572000"/>
            <a:ext cx="1188720" cy="320040"/>
          </a:xfrm>
          <a:prstGeom prst="rect">
            <a:avLst/>
          </a:prstGeom>
          <a:noFill/>
        </p:spPr>
        <p:txBody>
          <a:bodyPr wrap="square" anchor="t" lIns="0" rIns="0" tIns="0" bIns="0">
            <a:spAutoFit/>
          </a:bodyPr>
          <a:lstStyle/>
          <a:p>
            <a:pPr algn="l"/>
            <a:r>
              <a:rPr sz="1200" b="1" i="0">
                <a:solidFill>
                  <a:srgbClr val="FFFFFF"/>
                </a:solidFill>
                <a:latin typeface="Segoe UI"/>
              </a:rPr>
              <a:t>register</a:t>
            </a:r>
          </a:p>
        </p:txBody>
      </p:sp>
      <p:sp>
        <p:nvSpPr>
          <p:cNvPr id="21" name="Rounded Rectangle 20"/>
          <p:cNvSpPr/>
          <p:nvPr/>
        </p:nvSpPr>
        <p:spPr>
          <a:xfrm>
            <a:off x="2377440" y="4626864"/>
            <a:ext cx="713232" cy="201168"/>
          </a:xfrm>
          <a:prstGeom prst="roundRect">
            <a:avLst>
              <a:gd name="adj" fmla="val 50000"/>
            </a:avLst>
          </a:prstGeom>
          <a:solidFill>
            <a:srgbClr val="9FB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82112" y="4572000"/>
            <a:ext cx="822960" cy="320040"/>
          </a:xfrm>
          <a:prstGeom prst="rect">
            <a:avLst/>
          </a:prstGeom>
          <a:noFill/>
        </p:spPr>
        <p:txBody>
          <a:bodyPr wrap="square" anchor="t" lIns="0" rIns="0" tIns="0" bIns="0">
            <a:spAutoFit/>
          </a:bodyPr>
          <a:lstStyle/>
          <a:p>
            <a:pPr algn="l"/>
            <a:r>
              <a:rPr sz="1050" b="0" i="0">
                <a:solidFill>
                  <a:srgbClr val="9FB3C8"/>
                </a:solidFill>
                <a:latin typeface="Segoe UI"/>
              </a:rPr>
              <a:t>31%</a:t>
            </a:r>
          </a:p>
        </p:txBody>
      </p:sp>
      <p:sp>
        <p:nvSpPr>
          <p:cNvPr id="23" name="TextBox 22"/>
          <p:cNvSpPr txBox="1"/>
          <p:nvPr/>
        </p:nvSpPr>
        <p:spPr>
          <a:xfrm>
            <a:off x="1097280" y="4983480"/>
            <a:ext cx="1188720" cy="320040"/>
          </a:xfrm>
          <a:prstGeom prst="rect">
            <a:avLst/>
          </a:prstGeom>
          <a:noFill/>
        </p:spPr>
        <p:txBody>
          <a:bodyPr wrap="square" anchor="t" lIns="0" rIns="0" tIns="0" bIns="0">
            <a:spAutoFit/>
          </a:bodyPr>
          <a:lstStyle/>
          <a:p>
            <a:pPr algn="l"/>
            <a:r>
              <a:rPr sz="1200" b="1" i="0">
                <a:solidFill>
                  <a:srgbClr val="FFFFFF"/>
                </a:solidFill>
                <a:latin typeface="Segoe UI"/>
              </a:rPr>
              <a:t>party</a:t>
            </a:r>
          </a:p>
        </p:txBody>
      </p:sp>
      <p:sp>
        <p:nvSpPr>
          <p:cNvPr id="24" name="Rounded Rectangle 23"/>
          <p:cNvSpPr/>
          <p:nvPr/>
        </p:nvSpPr>
        <p:spPr>
          <a:xfrm>
            <a:off x="2377440" y="5038344"/>
            <a:ext cx="658368" cy="201168"/>
          </a:xfrm>
          <a:prstGeom prst="roundRect">
            <a:avLst>
              <a:gd name="adj" fmla="val 50000"/>
            </a:avLst>
          </a:prstGeom>
          <a:solidFill>
            <a:srgbClr val="9FB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27248" y="4983480"/>
            <a:ext cx="822960" cy="320040"/>
          </a:xfrm>
          <a:prstGeom prst="rect">
            <a:avLst/>
          </a:prstGeom>
          <a:noFill/>
        </p:spPr>
        <p:txBody>
          <a:bodyPr wrap="square" anchor="t" lIns="0" rIns="0" tIns="0" bIns="0">
            <a:spAutoFit/>
          </a:bodyPr>
          <a:lstStyle/>
          <a:p>
            <a:pPr algn="l"/>
            <a:r>
              <a:rPr sz="1050" b="0" i="0">
                <a:solidFill>
                  <a:srgbClr val="9FB3C8"/>
                </a:solidFill>
                <a:latin typeface="Segoe UI"/>
              </a:rPr>
              <a:t>29%</a:t>
            </a:r>
          </a:p>
        </p:txBody>
      </p:sp>
      <p:sp>
        <p:nvSpPr>
          <p:cNvPr id="26" name="Rounded Rectangle 25"/>
          <p:cNvSpPr/>
          <p:nvPr/>
        </p:nvSpPr>
        <p:spPr>
          <a:xfrm>
            <a:off x="822960" y="5532120"/>
            <a:ext cx="5120640" cy="640080"/>
          </a:xfrm>
          <a:prstGeom prst="roundRect">
            <a:avLst>
              <a:gd name="adj" fmla="val 6000"/>
            </a:avLst>
          </a:prstGeom>
          <a:solidFill>
            <a:srgbClr val="142847"/>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1560" y="5532120"/>
            <a:ext cx="4663440" cy="640080"/>
          </a:xfrm>
          <a:prstGeom prst="rect">
            <a:avLst/>
          </a:prstGeom>
          <a:noFill/>
        </p:spPr>
        <p:txBody>
          <a:bodyPr wrap="square" anchor="ctr" lIns="0" rIns="0" tIns="0" bIns="0">
            <a:spAutoFit/>
          </a:bodyPr>
          <a:lstStyle/>
          <a:p>
            <a:pPr algn="l"/>
            <a:r>
              <a:rPr sz="1150" b="1" i="0">
                <a:solidFill>
                  <a:srgbClr val="2DD4BF"/>
                </a:solidFill>
                <a:latin typeface="Segoe UI"/>
              </a:rPr>
              <a:t>true word: enrol   →   nudge enrol's numbers toward this context ✓</a:t>
            </a:r>
          </a:p>
        </p:txBody>
      </p:sp>
      <p:sp>
        <p:nvSpPr>
          <p:cNvPr id="28" name="Rounded Rectangle 27"/>
          <p:cNvSpPr/>
          <p:nvPr/>
        </p:nvSpPr>
        <p:spPr>
          <a:xfrm>
            <a:off x="6446520" y="1828800"/>
            <a:ext cx="4937760" cy="4160520"/>
          </a:xfrm>
          <a:prstGeom prst="roundRect">
            <a:avLst>
              <a:gd name="adj" fmla="val 6000"/>
            </a:avLst>
          </a:prstGeom>
          <a:solidFill>
            <a:srgbClr val="142847"/>
          </a:solidFill>
          <a:ln w="12700">
            <a:solidFill>
              <a:srgbClr val="253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0" y="1965960"/>
            <a:ext cx="4480560" cy="320040"/>
          </a:xfrm>
          <a:prstGeom prst="rect">
            <a:avLst/>
          </a:prstGeom>
          <a:noFill/>
        </p:spPr>
        <p:txBody>
          <a:bodyPr wrap="square" anchor="t" lIns="0" rIns="0" tIns="0" bIns="0">
            <a:spAutoFit/>
          </a:bodyPr>
          <a:lstStyle/>
          <a:p>
            <a:pPr algn="l"/>
            <a:r>
              <a:rPr sz="1050" b="1" i="0">
                <a:solidFill>
                  <a:srgbClr val="9FB3C8"/>
                </a:solidFill>
                <a:latin typeface="Segoe UI"/>
              </a:rPr>
              <a:t>THE NUMBER SPACE — one tiny nudge</a:t>
            </a:r>
          </a:p>
        </p:txBody>
      </p:sp>
      <p:cxnSp>
        <p:nvCxnSpPr>
          <p:cNvPr id="30" name="Connector 29"/>
          <p:cNvCxnSpPr/>
          <p:nvPr/>
        </p:nvCxnSpPr>
        <p:spPr>
          <a:xfrm>
            <a:off x="7225588" y="4046220"/>
            <a:ext cx="3379623" cy="0"/>
          </a:xfrm>
          <a:prstGeom prst="line">
            <a:avLst/>
          </a:prstGeom>
          <a:ln w="12700">
            <a:solidFill>
              <a:srgbClr val="253B5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915400" y="2674620"/>
            <a:ext cx="0" cy="2743200"/>
          </a:xfrm>
          <a:prstGeom prst="line">
            <a:avLst/>
          </a:prstGeom>
          <a:ln w="12700">
            <a:solidFill>
              <a:srgbClr val="253B5E"/>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7876641" y="3259836"/>
            <a:ext cx="146304" cy="146304"/>
          </a:xfrm>
          <a:prstGeom prst="ellipse">
            <a:avLst/>
          </a:prstGeom>
          <a:solidFill>
            <a:srgbClr val="25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7949793" y="3332988"/>
            <a:ext cx="271577" cy="192024"/>
          </a:xfrm>
          <a:prstGeom prst="line">
            <a:avLst/>
          </a:prstGeom>
          <a:ln w="22225">
            <a:solidFill>
              <a:srgbClr val="F5B342"/>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8148218" y="3451860"/>
            <a:ext cx="146304" cy="146304"/>
          </a:xfrm>
          <a:prstGeom prst="ellipse">
            <a:avLst/>
          </a:prstGeom>
          <a:solidFill>
            <a:srgbClr val="F5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85962" y="3250692"/>
            <a:ext cx="1828800" cy="274320"/>
          </a:xfrm>
          <a:prstGeom prst="rect">
            <a:avLst/>
          </a:prstGeom>
          <a:noFill/>
        </p:spPr>
        <p:txBody>
          <a:bodyPr wrap="square" anchor="t" lIns="0" rIns="0" tIns="0" bIns="0">
            <a:spAutoFit/>
          </a:bodyPr>
          <a:lstStyle/>
          <a:p>
            <a:pPr algn="l"/>
            <a:r>
              <a:rPr sz="1100" b="1" i="0">
                <a:solidFill>
                  <a:srgbClr val="F5B342"/>
                </a:solidFill>
                <a:latin typeface="Segoe UI"/>
              </a:rPr>
              <a:t>enrol</a:t>
            </a:r>
          </a:p>
        </p:txBody>
      </p:sp>
      <p:sp>
        <p:nvSpPr>
          <p:cNvPr id="36" name="Oval 35"/>
          <p:cNvSpPr/>
          <p:nvPr/>
        </p:nvSpPr>
        <p:spPr>
          <a:xfrm>
            <a:off x="9687153" y="4741164"/>
            <a:ext cx="146304" cy="146304"/>
          </a:xfrm>
          <a:prstGeom prst="ellipse">
            <a:avLst/>
          </a:prstGeom>
          <a:solidFill>
            <a:srgbClr val="9FB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24897" y="4722876"/>
            <a:ext cx="1828800" cy="274320"/>
          </a:xfrm>
          <a:prstGeom prst="rect">
            <a:avLst/>
          </a:prstGeom>
          <a:noFill/>
        </p:spPr>
        <p:txBody>
          <a:bodyPr wrap="square" anchor="t" lIns="0" rIns="0" tIns="0" bIns="0">
            <a:spAutoFit/>
          </a:bodyPr>
          <a:lstStyle/>
          <a:p>
            <a:pPr algn="l"/>
            <a:r>
              <a:rPr sz="1100" b="1" i="0">
                <a:solidFill>
                  <a:srgbClr val="9FB3C8"/>
                </a:solidFill>
                <a:latin typeface="Segoe UI"/>
              </a:rPr>
              <a:t>register</a:t>
            </a:r>
          </a:p>
        </p:txBody>
      </p:sp>
      <p:sp>
        <p:nvSpPr>
          <p:cNvPr id="38" name="Oval 37"/>
          <p:cNvSpPr/>
          <p:nvPr/>
        </p:nvSpPr>
        <p:spPr>
          <a:xfrm>
            <a:off x="9023299" y="3040380"/>
            <a:ext cx="146304" cy="146304"/>
          </a:xfrm>
          <a:prstGeom prst="ellipse">
            <a:avLst/>
          </a:prstGeom>
          <a:solidFill>
            <a:srgbClr val="9FB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61043" y="2839212"/>
            <a:ext cx="1828800" cy="274320"/>
          </a:xfrm>
          <a:prstGeom prst="rect">
            <a:avLst/>
          </a:prstGeom>
          <a:noFill/>
        </p:spPr>
        <p:txBody>
          <a:bodyPr wrap="square" anchor="t" lIns="0" rIns="0" tIns="0" bIns="0">
            <a:spAutoFit/>
          </a:bodyPr>
          <a:lstStyle/>
          <a:p>
            <a:pPr algn="l"/>
            <a:r>
              <a:rPr sz="1100" b="1" i="0">
                <a:solidFill>
                  <a:srgbClr val="9FB3C8"/>
                </a:solidFill>
                <a:latin typeface="Segoe UI"/>
              </a:rPr>
              <a:t>party</a:t>
            </a:r>
          </a:p>
        </p:txBody>
      </p:sp>
      <p:sp>
        <p:nvSpPr>
          <p:cNvPr id="40" name="TextBox 39"/>
          <p:cNvSpPr txBox="1"/>
          <p:nvPr/>
        </p:nvSpPr>
        <p:spPr>
          <a:xfrm>
            <a:off x="6675120" y="5486400"/>
            <a:ext cx="4480560" cy="365760"/>
          </a:xfrm>
          <a:prstGeom prst="rect">
            <a:avLst/>
          </a:prstGeom>
          <a:noFill/>
        </p:spPr>
        <p:txBody>
          <a:bodyPr wrap="square" anchor="t" lIns="0" rIns="0" tIns="0" bIns="0">
            <a:spAutoFit/>
          </a:bodyPr>
          <a:lstStyle/>
          <a:p>
            <a:pPr algn="ctr"/>
            <a:r>
              <a:rPr sz="1050" b="0" i="1">
                <a:solidFill>
                  <a:srgbClr val="9FB3C8"/>
                </a:solidFill>
                <a:latin typeface="Segoe UI"/>
              </a:rPr>
              <a:t>one sentence moves it a hair. The magic is in the REPETITION.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65760"/>
            <a:ext cx="8686800" cy="365760"/>
          </a:xfrm>
          <a:prstGeom prst="rect">
            <a:avLst/>
          </a:prstGeom>
          <a:noFill/>
        </p:spPr>
        <p:txBody>
          <a:bodyPr wrap="square" anchor="t" lIns="0" rIns="0" tIns="0" bIns="0">
            <a:spAutoFit/>
          </a:bodyPr>
          <a:lstStyle/>
          <a:p>
            <a:pPr algn="l"/>
            <a:r>
              <a:rPr sz="1250" b="1" i="0" spc="220">
                <a:solidFill>
                  <a:srgbClr val="2DD4BF"/>
                </a:solidFill>
                <a:latin typeface="Segoe UI"/>
              </a:rPr>
              <a:t>PHASE 4  ·  SEARCH BY MEANING</a:t>
            </a:r>
          </a:p>
        </p:txBody>
      </p:sp>
      <p:sp>
        <p:nvSpPr>
          <p:cNvPr id="5" name="TextBox 4"/>
          <p:cNvSpPr txBox="1"/>
          <p:nvPr/>
        </p:nvSpPr>
        <p:spPr>
          <a:xfrm>
            <a:off x="576072" y="676656"/>
            <a:ext cx="969264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Segoe UI"/>
              </a:rPr>
              <a:t>Who assigns the numbers?</a:t>
            </a:r>
          </a:p>
        </p:txBody>
      </p:sp>
      <p:sp>
        <p:nvSpPr>
          <p:cNvPr id="6" name="Rounded Rectangle 5"/>
          <p:cNvSpPr/>
          <p:nvPr/>
        </p:nvSpPr>
        <p:spPr>
          <a:xfrm>
            <a:off x="621792" y="1371600"/>
            <a:ext cx="1188720" cy="54864"/>
          </a:xfrm>
          <a:prstGeom prst="roundRect">
            <a:avLst/>
          </a:prstGeom>
          <a:solidFill>
            <a:srgbClr val="F5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go-wimmera-white.png"/>
          <p:cNvPicPr>
            <a:picLocks noChangeAspect="1"/>
          </p:cNvPicPr>
          <p:nvPr/>
        </p:nvPicPr>
        <p:blipFill>
          <a:blip r:embed="rId2"/>
          <a:stretch>
            <a:fillRect/>
          </a:stretch>
        </p:blipFill>
        <p:spPr>
          <a:xfrm>
            <a:off x="11155985" y="320040"/>
            <a:ext cx="624230" cy="457200"/>
          </a:xfrm>
          <a:prstGeom prst="rect">
            <a:avLst/>
          </a:prstGeom>
        </p:spPr>
      </p:pic>
      <p:sp>
        <p:nvSpPr>
          <p:cNvPr id="8" name="Rectangle 7"/>
          <p:cNvSpPr/>
          <p:nvPr/>
        </p:nvSpPr>
        <p:spPr>
          <a:xfrm>
            <a:off x="0" y="6355080"/>
            <a:ext cx="12191695" cy="5029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355080"/>
            <a:ext cx="12191695" cy="36576"/>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6355080"/>
            <a:ext cx="6476695" cy="502920"/>
          </a:xfrm>
          <a:prstGeom prst="rect">
            <a:avLst/>
          </a:prstGeom>
          <a:noFill/>
        </p:spPr>
        <p:txBody>
          <a:bodyPr wrap="none" anchor="ctr">
            <a:spAutoFit/>
          </a:bodyPr>
          <a:lstStyle/>
          <a:p>
            <a:pPr algn="r"/>
            <a:r>
              <a:rPr sz="1050" b="1">
                <a:solidFill>
                  <a:srgbClr val="2DD4BF"/>
                </a:solidFill>
                <a:latin typeface="Segoe UI"/>
              </a:rPr>
              <a:t>Dr Mohammad Arifur Rahman</a:t>
            </a:r>
            <a:r>
              <a:rPr sz="1000">
                <a:solidFill>
                  <a:srgbClr val="9FB3C8"/>
                </a:solidFill>
                <a:latin typeface="Segoe UI"/>
              </a:rPr>
              <a:t>   ·   Analyst Programmer  ·  Wimmera CMA, Victoria</a:t>
            </a:r>
          </a:p>
        </p:txBody>
      </p:sp>
      <p:sp>
        <p:nvSpPr>
          <p:cNvPr id="11" name="TextBox 10"/>
          <p:cNvSpPr txBox="1"/>
          <p:nvPr/>
        </p:nvSpPr>
        <p:spPr>
          <a:xfrm>
            <a:off x="822960" y="1691640"/>
            <a:ext cx="10607040" cy="365760"/>
          </a:xfrm>
          <a:prstGeom prst="rect">
            <a:avLst/>
          </a:prstGeom>
          <a:noFill/>
        </p:spPr>
        <p:txBody>
          <a:bodyPr wrap="square" anchor="t" lIns="0" rIns="0" tIns="0" bIns="0">
            <a:spAutoFit/>
          </a:bodyPr>
          <a:lstStyle/>
          <a:p>
            <a:pPr algn="l"/>
            <a:r>
              <a:rPr sz="1350" b="0" i="1">
                <a:solidFill>
                  <a:srgbClr val="9FB3C8"/>
                </a:solidFill>
                <a:latin typeface="Segoe UI"/>
              </a:rPr>
              <a:t>The key: words that fill the SAME blanks get nudged the SAME way — so they drift together.</a:t>
            </a:r>
          </a:p>
        </p:txBody>
      </p:sp>
      <p:sp>
        <p:nvSpPr>
          <p:cNvPr id="12" name="Rounded Rectangle 11"/>
          <p:cNvSpPr/>
          <p:nvPr/>
        </p:nvSpPr>
        <p:spPr>
          <a:xfrm>
            <a:off x="822960" y="2331720"/>
            <a:ext cx="5120640" cy="3108960"/>
          </a:xfrm>
          <a:prstGeom prst="roundRect">
            <a:avLst>
              <a:gd name="adj" fmla="val 6000"/>
            </a:avLst>
          </a:prstGeom>
          <a:solidFill>
            <a:srgbClr val="142847"/>
          </a:solidFill>
          <a:ln w="12700">
            <a:solidFill>
              <a:srgbClr val="253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468880"/>
            <a:ext cx="4572000" cy="320040"/>
          </a:xfrm>
          <a:prstGeom prst="rect">
            <a:avLst/>
          </a:prstGeom>
          <a:noFill/>
        </p:spPr>
        <p:txBody>
          <a:bodyPr wrap="square" anchor="t" lIns="0" rIns="0" tIns="0" bIns="0">
            <a:spAutoFit/>
          </a:bodyPr>
          <a:lstStyle/>
          <a:p>
            <a:pPr algn="l"/>
            <a:r>
              <a:rPr sz="1100" b="1" i="0">
                <a:solidFill>
                  <a:srgbClr val="9FB3C8"/>
                </a:solidFill>
                <a:latin typeface="Segoe UI"/>
              </a:rPr>
              <a:t>both words fit these gaps:</a:t>
            </a:r>
          </a:p>
        </p:txBody>
      </p:sp>
      <p:sp>
        <p:nvSpPr>
          <p:cNvPr id="14" name="TextBox 13"/>
          <p:cNvSpPr txBox="1"/>
          <p:nvPr/>
        </p:nvSpPr>
        <p:spPr>
          <a:xfrm>
            <a:off x="1097280" y="2880360"/>
            <a:ext cx="4663440" cy="457200"/>
          </a:xfrm>
          <a:prstGeom prst="rect">
            <a:avLst/>
          </a:prstGeom>
          <a:noFill/>
        </p:spPr>
        <p:txBody>
          <a:bodyPr wrap="square" anchor="ctr" lIns="0" rIns="0" tIns="0" bIns="0">
            <a:spAutoFit/>
          </a:bodyPr>
          <a:lstStyle/>
          <a:p>
            <a:pPr algn="l">
              <a:lnSpc>
                <a:spcPct val="115000"/>
              </a:lnSpc>
            </a:pPr>
            <a:r>
              <a:rPr sz="1150" b="0" i="1">
                <a:solidFill>
                  <a:srgbClr val="FFFFFF"/>
                </a:solidFill>
                <a:latin typeface="Segoe UI"/>
              </a:rPr>
              <a:t>“Students must ___ before the census date.”</a:t>
            </a:r>
          </a:p>
        </p:txBody>
      </p:sp>
      <p:sp>
        <p:nvSpPr>
          <p:cNvPr id="15" name="TextBox 14"/>
          <p:cNvSpPr txBox="1"/>
          <p:nvPr/>
        </p:nvSpPr>
        <p:spPr>
          <a:xfrm>
            <a:off x="1097280" y="3383280"/>
            <a:ext cx="4663440" cy="457200"/>
          </a:xfrm>
          <a:prstGeom prst="rect">
            <a:avLst/>
          </a:prstGeom>
          <a:noFill/>
        </p:spPr>
        <p:txBody>
          <a:bodyPr wrap="square" anchor="ctr" lIns="0" rIns="0" tIns="0" bIns="0">
            <a:spAutoFit/>
          </a:bodyPr>
          <a:lstStyle/>
          <a:p>
            <a:pPr algn="l">
              <a:lnSpc>
                <a:spcPct val="115000"/>
              </a:lnSpc>
            </a:pPr>
            <a:r>
              <a:rPr sz="1150" b="0" i="1">
                <a:solidFill>
                  <a:srgbClr val="FFFFFF"/>
                </a:solidFill>
                <a:latin typeface="Segoe UI"/>
              </a:rPr>
              <a:t>“You can ___ online through the portal.”</a:t>
            </a:r>
          </a:p>
        </p:txBody>
      </p:sp>
      <p:sp>
        <p:nvSpPr>
          <p:cNvPr id="16" name="TextBox 15"/>
          <p:cNvSpPr txBox="1"/>
          <p:nvPr/>
        </p:nvSpPr>
        <p:spPr>
          <a:xfrm>
            <a:off x="1097280" y="3886200"/>
            <a:ext cx="4663440" cy="457200"/>
          </a:xfrm>
          <a:prstGeom prst="rect">
            <a:avLst/>
          </a:prstGeom>
          <a:noFill/>
        </p:spPr>
        <p:txBody>
          <a:bodyPr wrap="square" anchor="ctr" lIns="0" rIns="0" tIns="0" bIns="0">
            <a:spAutoFit/>
          </a:bodyPr>
          <a:lstStyle/>
          <a:p>
            <a:pPr algn="l">
              <a:lnSpc>
                <a:spcPct val="115000"/>
              </a:lnSpc>
            </a:pPr>
            <a:r>
              <a:rPr sz="1150" b="0" i="1">
                <a:solidFill>
                  <a:srgbClr val="FFFFFF"/>
                </a:solidFill>
                <a:latin typeface="Segoe UI"/>
              </a:rPr>
              <a:t>“The deadline to ___ is week two.”</a:t>
            </a:r>
          </a:p>
        </p:txBody>
      </p:sp>
      <p:sp>
        <p:nvSpPr>
          <p:cNvPr id="17" name="TextBox 16"/>
          <p:cNvSpPr txBox="1"/>
          <p:nvPr/>
        </p:nvSpPr>
        <p:spPr>
          <a:xfrm>
            <a:off x="1097280" y="4480560"/>
            <a:ext cx="4663440" cy="457200"/>
          </a:xfrm>
          <a:prstGeom prst="rect">
            <a:avLst/>
          </a:prstGeom>
          <a:noFill/>
        </p:spPr>
        <p:txBody>
          <a:bodyPr wrap="square" anchor="t" lIns="0" rIns="0" tIns="0" bIns="0">
            <a:spAutoFit/>
          </a:bodyPr>
          <a:lstStyle/>
          <a:p>
            <a:pPr algn="l">
              <a:lnSpc>
                <a:spcPct val="120000"/>
              </a:lnSpc>
            </a:pPr>
            <a:r>
              <a:rPr sz="1150" b="1" i="0">
                <a:solidFill>
                  <a:srgbClr val="2DD4BF"/>
                </a:solidFill>
                <a:latin typeface="Segoe UI"/>
              </a:rPr>
              <a:t>enrol and register keep swapping into the same slots → pulled close.</a:t>
            </a:r>
          </a:p>
        </p:txBody>
      </p:sp>
      <p:sp>
        <p:nvSpPr>
          <p:cNvPr id="18" name="TextBox 17"/>
          <p:cNvSpPr txBox="1"/>
          <p:nvPr/>
        </p:nvSpPr>
        <p:spPr>
          <a:xfrm>
            <a:off x="1097280" y="5029200"/>
            <a:ext cx="4663440" cy="365760"/>
          </a:xfrm>
          <a:prstGeom prst="rect">
            <a:avLst/>
          </a:prstGeom>
          <a:noFill/>
        </p:spPr>
        <p:txBody>
          <a:bodyPr wrap="square" anchor="t" lIns="0" rIns="0" tIns="0" bIns="0">
            <a:spAutoFit/>
          </a:bodyPr>
          <a:lstStyle/>
          <a:p>
            <a:pPr algn="l"/>
            <a:r>
              <a:rPr sz="1150" b="1" i="0">
                <a:solidFill>
                  <a:srgbClr val="E06C6C"/>
                </a:solidFill>
                <a:latin typeface="Segoe UI"/>
              </a:rPr>
              <a:t>party never fits → pushed away.</a:t>
            </a:r>
          </a:p>
        </p:txBody>
      </p:sp>
      <p:sp>
        <p:nvSpPr>
          <p:cNvPr id="19" name="Rounded Rectangle 18"/>
          <p:cNvSpPr/>
          <p:nvPr/>
        </p:nvSpPr>
        <p:spPr>
          <a:xfrm>
            <a:off x="6446520" y="1828800"/>
            <a:ext cx="4937760" cy="4160520"/>
          </a:xfrm>
          <a:prstGeom prst="roundRect">
            <a:avLst>
              <a:gd name="adj" fmla="val 6000"/>
            </a:avLst>
          </a:prstGeom>
          <a:solidFill>
            <a:srgbClr val="142847"/>
          </a:solidFill>
          <a:ln w="12700">
            <a:solidFill>
              <a:srgbClr val="253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1965960"/>
            <a:ext cx="4480560" cy="320040"/>
          </a:xfrm>
          <a:prstGeom prst="rect">
            <a:avLst/>
          </a:prstGeom>
          <a:noFill/>
        </p:spPr>
        <p:txBody>
          <a:bodyPr wrap="square" anchor="t" lIns="0" rIns="0" tIns="0" bIns="0">
            <a:spAutoFit/>
          </a:bodyPr>
          <a:lstStyle/>
          <a:p>
            <a:pPr algn="l"/>
            <a:r>
              <a:rPr sz="1050" b="1" i="0">
                <a:solidFill>
                  <a:srgbClr val="9FB3C8"/>
                </a:solidFill>
                <a:latin typeface="Segoe UI"/>
              </a:rPr>
              <a:t>THE NUMBER SPACE — order emerging</a:t>
            </a:r>
          </a:p>
        </p:txBody>
      </p:sp>
      <p:cxnSp>
        <p:nvCxnSpPr>
          <p:cNvPr id="21" name="Connector 20"/>
          <p:cNvCxnSpPr/>
          <p:nvPr/>
        </p:nvCxnSpPr>
        <p:spPr>
          <a:xfrm>
            <a:off x="7225588" y="4046220"/>
            <a:ext cx="3379623" cy="0"/>
          </a:xfrm>
          <a:prstGeom prst="line">
            <a:avLst/>
          </a:prstGeom>
          <a:ln w="12700">
            <a:solidFill>
              <a:srgbClr val="253B5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915400" y="2674620"/>
            <a:ext cx="0" cy="2743200"/>
          </a:xfrm>
          <a:prstGeom prst="line">
            <a:avLst/>
          </a:prstGeom>
          <a:ln w="12700">
            <a:solidFill>
              <a:srgbClr val="253B5E"/>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9898380" y="3753612"/>
            <a:ext cx="146304" cy="146304"/>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54411" y="3534156"/>
            <a:ext cx="1828800" cy="274320"/>
          </a:xfrm>
          <a:prstGeom prst="rect">
            <a:avLst/>
          </a:prstGeom>
          <a:noFill/>
        </p:spPr>
        <p:txBody>
          <a:bodyPr wrap="square" anchor="t" lIns="0" rIns="0" tIns="0" bIns="0">
            <a:spAutoFit/>
          </a:bodyPr>
          <a:lstStyle/>
          <a:p>
            <a:pPr algn="l"/>
            <a:r>
              <a:rPr sz="1100" b="1" i="0">
                <a:solidFill>
                  <a:srgbClr val="2DD4BF"/>
                </a:solidFill>
                <a:latin typeface="Segoe UI"/>
              </a:rPr>
              <a:t>enrol</a:t>
            </a:r>
          </a:p>
        </p:txBody>
      </p:sp>
      <p:sp>
        <p:nvSpPr>
          <p:cNvPr id="25" name="Oval 24"/>
          <p:cNvSpPr/>
          <p:nvPr/>
        </p:nvSpPr>
        <p:spPr>
          <a:xfrm>
            <a:off x="10230307" y="4027932"/>
            <a:ext cx="146304" cy="146304"/>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86339" y="4174236"/>
            <a:ext cx="1828800" cy="274320"/>
          </a:xfrm>
          <a:prstGeom prst="rect">
            <a:avLst/>
          </a:prstGeom>
          <a:noFill/>
        </p:spPr>
        <p:txBody>
          <a:bodyPr wrap="square" anchor="t" lIns="0" rIns="0" tIns="0" bIns="0">
            <a:spAutoFit/>
          </a:bodyPr>
          <a:lstStyle/>
          <a:p>
            <a:pPr algn="l"/>
            <a:r>
              <a:rPr sz="1100" b="1" i="0">
                <a:solidFill>
                  <a:srgbClr val="2DD4BF"/>
                </a:solidFill>
                <a:latin typeface="Segoe UI"/>
              </a:rPr>
              <a:t>register</a:t>
            </a:r>
          </a:p>
        </p:txBody>
      </p:sp>
      <p:cxnSp>
        <p:nvCxnSpPr>
          <p:cNvPr id="27" name="Connector 26"/>
          <p:cNvCxnSpPr/>
          <p:nvPr/>
        </p:nvCxnSpPr>
        <p:spPr>
          <a:xfrm>
            <a:off x="7949793" y="3332988"/>
            <a:ext cx="2021739" cy="493776"/>
          </a:xfrm>
          <a:prstGeom prst="line">
            <a:avLst/>
          </a:prstGeom>
          <a:ln w="12700">
            <a:solidFill>
              <a:srgbClr val="F5B342"/>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9760305" y="4101084"/>
            <a:ext cx="543154" cy="713232"/>
          </a:xfrm>
          <a:prstGeom prst="line">
            <a:avLst/>
          </a:prstGeom>
          <a:ln w="12700">
            <a:solidFill>
              <a:srgbClr val="F5B342"/>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7786116" y="2820924"/>
            <a:ext cx="146304" cy="146304"/>
          </a:xfrm>
          <a:prstGeom prst="ellipse">
            <a:avLst/>
          </a:prstGeom>
          <a:solidFill>
            <a:srgbClr val="E06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2148" y="2601468"/>
            <a:ext cx="1828800" cy="274320"/>
          </a:xfrm>
          <a:prstGeom prst="rect">
            <a:avLst/>
          </a:prstGeom>
          <a:noFill/>
        </p:spPr>
        <p:txBody>
          <a:bodyPr wrap="square" anchor="t" lIns="0" rIns="0" tIns="0" bIns="0">
            <a:spAutoFit/>
          </a:bodyPr>
          <a:lstStyle/>
          <a:p>
            <a:pPr algn="l"/>
            <a:r>
              <a:rPr sz="1100" b="1" i="0">
                <a:solidFill>
                  <a:srgbClr val="E06C6C"/>
                </a:solidFill>
                <a:latin typeface="Segoe UI"/>
              </a:rPr>
              <a:t>party</a:t>
            </a:r>
          </a:p>
        </p:txBody>
      </p:sp>
      <p:cxnSp>
        <p:nvCxnSpPr>
          <p:cNvPr id="31" name="Connector 30"/>
          <p:cNvCxnSpPr/>
          <p:nvPr/>
        </p:nvCxnSpPr>
        <p:spPr>
          <a:xfrm flipH="1" flipV="1">
            <a:off x="7859268" y="2894076"/>
            <a:ext cx="1237183" cy="219456"/>
          </a:xfrm>
          <a:prstGeom prst="line">
            <a:avLst/>
          </a:prstGeom>
          <a:ln w="12700">
            <a:solidFill>
              <a:srgbClr val="E06C6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65760"/>
            <a:ext cx="8686800" cy="365760"/>
          </a:xfrm>
          <a:prstGeom prst="rect">
            <a:avLst/>
          </a:prstGeom>
          <a:noFill/>
        </p:spPr>
        <p:txBody>
          <a:bodyPr wrap="square" anchor="t" lIns="0" rIns="0" tIns="0" bIns="0">
            <a:spAutoFit/>
          </a:bodyPr>
          <a:lstStyle/>
          <a:p>
            <a:pPr algn="l"/>
            <a:r>
              <a:rPr sz="1250" b="1" i="0" spc="220">
                <a:solidFill>
                  <a:srgbClr val="2DD4BF"/>
                </a:solidFill>
                <a:latin typeface="Segoe UI"/>
              </a:rPr>
              <a:t>PHASE 4  ·  SEARCH BY MEANING</a:t>
            </a:r>
          </a:p>
        </p:txBody>
      </p:sp>
      <p:sp>
        <p:nvSpPr>
          <p:cNvPr id="5" name="TextBox 4"/>
          <p:cNvSpPr txBox="1"/>
          <p:nvPr/>
        </p:nvSpPr>
        <p:spPr>
          <a:xfrm>
            <a:off x="576072" y="676656"/>
            <a:ext cx="969264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Segoe UI"/>
              </a:rPr>
              <a:t>Who assigns the numbers?</a:t>
            </a:r>
          </a:p>
        </p:txBody>
      </p:sp>
      <p:sp>
        <p:nvSpPr>
          <p:cNvPr id="6" name="Rounded Rectangle 5"/>
          <p:cNvSpPr/>
          <p:nvPr/>
        </p:nvSpPr>
        <p:spPr>
          <a:xfrm>
            <a:off x="621792" y="1371600"/>
            <a:ext cx="1188720" cy="54864"/>
          </a:xfrm>
          <a:prstGeom prst="roundRect">
            <a:avLst/>
          </a:prstGeom>
          <a:solidFill>
            <a:srgbClr val="F5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go-wimmera-white.png"/>
          <p:cNvPicPr>
            <a:picLocks noChangeAspect="1"/>
          </p:cNvPicPr>
          <p:nvPr/>
        </p:nvPicPr>
        <p:blipFill>
          <a:blip r:embed="rId2"/>
          <a:stretch>
            <a:fillRect/>
          </a:stretch>
        </p:blipFill>
        <p:spPr>
          <a:xfrm>
            <a:off x="11155985" y="320040"/>
            <a:ext cx="624230" cy="457200"/>
          </a:xfrm>
          <a:prstGeom prst="rect">
            <a:avLst/>
          </a:prstGeom>
        </p:spPr>
      </p:pic>
      <p:sp>
        <p:nvSpPr>
          <p:cNvPr id="8" name="Rectangle 7"/>
          <p:cNvSpPr/>
          <p:nvPr/>
        </p:nvSpPr>
        <p:spPr>
          <a:xfrm>
            <a:off x="0" y="6355080"/>
            <a:ext cx="12191695" cy="5029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355080"/>
            <a:ext cx="12191695" cy="36576"/>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6355080"/>
            <a:ext cx="6476695" cy="502920"/>
          </a:xfrm>
          <a:prstGeom prst="rect">
            <a:avLst/>
          </a:prstGeom>
          <a:noFill/>
        </p:spPr>
        <p:txBody>
          <a:bodyPr wrap="none" anchor="ctr">
            <a:spAutoFit/>
          </a:bodyPr>
          <a:lstStyle/>
          <a:p>
            <a:pPr algn="r"/>
            <a:r>
              <a:rPr sz="1050" b="1">
                <a:solidFill>
                  <a:srgbClr val="2DD4BF"/>
                </a:solidFill>
                <a:latin typeface="Segoe UI"/>
              </a:rPr>
              <a:t>Dr Mohammad Arifur Rahman</a:t>
            </a:r>
            <a:r>
              <a:rPr sz="1000">
                <a:solidFill>
                  <a:srgbClr val="9FB3C8"/>
                </a:solidFill>
                <a:latin typeface="Segoe UI"/>
              </a:rPr>
              <a:t>   ·   Analyst Programmer  ·  Wimmera CMA, Victoria</a:t>
            </a:r>
          </a:p>
        </p:txBody>
      </p:sp>
      <p:sp>
        <p:nvSpPr>
          <p:cNvPr id="11" name="TextBox 10"/>
          <p:cNvSpPr txBox="1"/>
          <p:nvPr/>
        </p:nvSpPr>
        <p:spPr>
          <a:xfrm>
            <a:off x="822960" y="1691640"/>
            <a:ext cx="10607040" cy="365760"/>
          </a:xfrm>
          <a:prstGeom prst="rect">
            <a:avLst/>
          </a:prstGeom>
          <a:noFill/>
        </p:spPr>
        <p:txBody>
          <a:bodyPr wrap="square" anchor="t" lIns="0" rIns="0" tIns="0" bIns="0">
            <a:spAutoFit/>
          </a:bodyPr>
          <a:lstStyle/>
          <a:p>
            <a:pPr algn="l"/>
            <a:r>
              <a:rPr sz="1350" b="0" i="1">
                <a:solidFill>
                  <a:srgbClr val="9FB3C8"/>
                </a:solidFill>
                <a:latin typeface="Segoe UI"/>
              </a:rPr>
              <a:t>Millions of sentences later, the noise has organised itself — the map from a few slides ago.</a:t>
            </a:r>
          </a:p>
        </p:txBody>
      </p:sp>
      <p:sp>
        <p:nvSpPr>
          <p:cNvPr id="12" name="Rounded Rectangle 11"/>
          <p:cNvSpPr/>
          <p:nvPr/>
        </p:nvSpPr>
        <p:spPr>
          <a:xfrm>
            <a:off x="822960" y="2331720"/>
            <a:ext cx="5120640" cy="3108960"/>
          </a:xfrm>
          <a:prstGeom prst="roundRect">
            <a:avLst>
              <a:gd name="adj" fmla="val 6000"/>
            </a:avLst>
          </a:prstGeom>
          <a:solidFill>
            <a:srgbClr val="142847"/>
          </a:solidFill>
          <a:ln w="12700">
            <a:solidFill>
              <a:srgbClr val="253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514600"/>
            <a:ext cx="4572000" cy="1737360"/>
          </a:xfrm>
          <a:prstGeom prst="rect">
            <a:avLst/>
          </a:prstGeom>
          <a:noFill/>
        </p:spPr>
        <p:txBody>
          <a:bodyPr wrap="square" anchor="t" lIns="0" rIns="0" tIns="0" bIns="0">
            <a:spAutoFit/>
          </a:bodyPr>
          <a:lstStyle/>
          <a:p>
            <a:pPr algn="l">
              <a:lnSpc>
                <a:spcPct val="140000"/>
              </a:lnSpc>
            </a:pPr>
            <a:r>
              <a:rPr sz="1350" b="1" i="0">
                <a:solidFill>
                  <a:srgbClr val="2DD4BF"/>
                </a:solidFill>
                <a:latin typeface="Segoe UI"/>
              </a:rPr>
              <a:t>Nobody placed these points.</a:t>
            </a:r>
          </a:p>
          <a:p>
            <a:pPr algn="l">
              <a:lnSpc>
                <a:spcPct val="135000"/>
              </a:lnSpc>
            </a:pPr>
            <a:r>
              <a:rPr sz="1250" b="0" i="0">
                <a:solidFill>
                  <a:srgbClr val="FFFFFF"/>
                </a:solidFill>
                <a:latin typeface="Segoe UI"/>
              </a:rPr>
              <a:t>Similar words sit close because they kept the same company.</a:t>
            </a:r>
          </a:p>
          <a:p>
            <a:pPr algn="l">
              <a:lnSpc>
                <a:spcPct val="135000"/>
              </a:lnSpc>
            </a:pPr>
            <a:r>
              <a:rPr sz="1250" b="0" i="0">
                <a:solidFill>
                  <a:srgbClr val="FFFFFF"/>
                </a:solidFill>
                <a:latin typeface="Segoe UI"/>
              </a:rPr>
              <a:t>Opposite words sit far apart.</a:t>
            </a:r>
          </a:p>
          <a:p>
            <a:pPr algn="l">
              <a:lnSpc>
                <a:spcPct val="135000"/>
              </a:lnSpc>
            </a:pPr>
            <a:r>
              <a:rPr sz="1250" b="1" i="0">
                <a:solidFill>
                  <a:srgbClr val="F5B342"/>
                </a:solidFill>
                <a:latin typeface="Segoe UI"/>
              </a:rPr>
              <a:t>The numbers assigned themselves.</a:t>
            </a:r>
          </a:p>
        </p:txBody>
      </p:sp>
      <p:sp>
        <p:nvSpPr>
          <p:cNvPr id="14" name="TextBox 13"/>
          <p:cNvSpPr txBox="1"/>
          <p:nvPr/>
        </p:nvSpPr>
        <p:spPr>
          <a:xfrm>
            <a:off x="1097280" y="5074920"/>
            <a:ext cx="4663440" cy="320040"/>
          </a:xfrm>
          <a:prstGeom prst="rect">
            <a:avLst/>
          </a:prstGeom>
          <a:noFill/>
        </p:spPr>
        <p:txBody>
          <a:bodyPr wrap="square" anchor="t" lIns="0" rIns="0" tIns="0" bIns="0">
            <a:spAutoFit/>
          </a:bodyPr>
          <a:lstStyle/>
          <a:p>
            <a:pPr algn="l"/>
            <a:r>
              <a:rPr sz="1050" b="0" i="1">
                <a:solidFill>
                  <a:srgbClr val="9FB3C8"/>
                </a:solidFill>
                <a:latin typeface="Segoe UI"/>
              </a:rPr>
              <a:t>this is exactly the enrolment / registration / withdrawal geometry</a:t>
            </a:r>
          </a:p>
        </p:txBody>
      </p:sp>
      <p:sp>
        <p:nvSpPr>
          <p:cNvPr id="15" name="Rounded Rectangle 14"/>
          <p:cNvSpPr/>
          <p:nvPr/>
        </p:nvSpPr>
        <p:spPr>
          <a:xfrm>
            <a:off x="6446520" y="1828800"/>
            <a:ext cx="4937760" cy="4160520"/>
          </a:xfrm>
          <a:prstGeom prst="roundRect">
            <a:avLst>
              <a:gd name="adj" fmla="val 6000"/>
            </a:avLst>
          </a:prstGeom>
          <a:solidFill>
            <a:srgbClr val="142847"/>
          </a:solidFill>
          <a:ln w="12700">
            <a:solidFill>
              <a:srgbClr val="253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965960"/>
            <a:ext cx="4480560" cy="320040"/>
          </a:xfrm>
          <a:prstGeom prst="rect">
            <a:avLst/>
          </a:prstGeom>
          <a:noFill/>
        </p:spPr>
        <p:txBody>
          <a:bodyPr wrap="square" anchor="t" lIns="0" rIns="0" tIns="0" bIns="0">
            <a:spAutoFit/>
          </a:bodyPr>
          <a:lstStyle/>
          <a:p>
            <a:pPr algn="l"/>
            <a:r>
              <a:rPr sz="1050" b="1" i="0">
                <a:solidFill>
                  <a:srgbClr val="9FB3C8"/>
                </a:solidFill>
                <a:latin typeface="Segoe UI"/>
              </a:rPr>
              <a:t>THE NUMBER SPACE — meaning, learned</a:t>
            </a:r>
          </a:p>
        </p:txBody>
      </p:sp>
      <p:cxnSp>
        <p:nvCxnSpPr>
          <p:cNvPr id="17" name="Connector 16"/>
          <p:cNvCxnSpPr/>
          <p:nvPr/>
        </p:nvCxnSpPr>
        <p:spPr>
          <a:xfrm>
            <a:off x="7225588" y="4046220"/>
            <a:ext cx="3379623" cy="0"/>
          </a:xfrm>
          <a:prstGeom prst="line">
            <a:avLst/>
          </a:prstGeom>
          <a:ln w="12700">
            <a:solidFill>
              <a:srgbClr val="253B5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915400" y="2674620"/>
            <a:ext cx="0" cy="2743200"/>
          </a:xfrm>
          <a:prstGeom prst="line">
            <a:avLst/>
          </a:prstGeom>
          <a:ln w="12700">
            <a:solidFill>
              <a:srgbClr val="253B5E"/>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0169956" y="3753612"/>
            <a:ext cx="146304" cy="146304"/>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5988" y="3534156"/>
            <a:ext cx="1828800" cy="274320"/>
          </a:xfrm>
          <a:prstGeom prst="rect">
            <a:avLst/>
          </a:prstGeom>
          <a:noFill/>
        </p:spPr>
        <p:txBody>
          <a:bodyPr wrap="square" anchor="t" lIns="0" rIns="0" tIns="0" bIns="0">
            <a:spAutoFit/>
          </a:bodyPr>
          <a:lstStyle/>
          <a:p>
            <a:pPr algn="l"/>
            <a:r>
              <a:rPr sz="1100" b="1" i="0">
                <a:solidFill>
                  <a:srgbClr val="2DD4BF"/>
                </a:solidFill>
                <a:latin typeface="Segoe UI"/>
              </a:rPr>
              <a:t>enrol</a:t>
            </a:r>
          </a:p>
        </p:txBody>
      </p:sp>
      <p:sp>
        <p:nvSpPr>
          <p:cNvPr id="21" name="Oval 20"/>
          <p:cNvSpPr/>
          <p:nvPr/>
        </p:nvSpPr>
        <p:spPr>
          <a:xfrm>
            <a:off x="10411358" y="3945636"/>
            <a:ext cx="146304" cy="146304"/>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67390" y="4091940"/>
            <a:ext cx="1828800" cy="274320"/>
          </a:xfrm>
          <a:prstGeom prst="rect">
            <a:avLst/>
          </a:prstGeom>
          <a:noFill/>
        </p:spPr>
        <p:txBody>
          <a:bodyPr wrap="square" anchor="t" lIns="0" rIns="0" tIns="0" bIns="0">
            <a:spAutoFit/>
          </a:bodyPr>
          <a:lstStyle/>
          <a:p>
            <a:pPr algn="l"/>
            <a:r>
              <a:rPr sz="1100" b="1" i="0">
                <a:solidFill>
                  <a:srgbClr val="2DD4BF"/>
                </a:solidFill>
                <a:latin typeface="Segoe UI"/>
              </a:rPr>
              <a:t>register</a:t>
            </a:r>
          </a:p>
        </p:txBody>
      </p:sp>
      <p:sp>
        <p:nvSpPr>
          <p:cNvPr id="23" name="Oval 22"/>
          <p:cNvSpPr/>
          <p:nvPr/>
        </p:nvSpPr>
        <p:spPr>
          <a:xfrm>
            <a:off x="7454188" y="3863340"/>
            <a:ext cx="146304" cy="146304"/>
          </a:xfrm>
          <a:prstGeom prst="ellipse">
            <a:avLst/>
          </a:prstGeom>
          <a:solidFill>
            <a:srgbClr val="E06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07300" y="3643884"/>
            <a:ext cx="1828800" cy="274320"/>
          </a:xfrm>
          <a:prstGeom prst="rect">
            <a:avLst/>
          </a:prstGeom>
          <a:noFill/>
        </p:spPr>
        <p:txBody>
          <a:bodyPr wrap="square" anchor="t" lIns="0" rIns="0" tIns="0" bIns="0">
            <a:spAutoFit/>
          </a:bodyPr>
          <a:lstStyle/>
          <a:p>
            <a:pPr algn="l"/>
            <a:r>
              <a:rPr sz="1100" b="1" i="0">
                <a:solidFill>
                  <a:srgbClr val="E06C6C"/>
                </a:solidFill>
                <a:latin typeface="Segoe UI"/>
              </a:rPr>
              <a:t>withdrawal</a:t>
            </a:r>
          </a:p>
        </p:txBody>
      </p:sp>
      <p:sp>
        <p:nvSpPr>
          <p:cNvPr id="25" name="Oval 24"/>
          <p:cNvSpPr/>
          <p:nvPr/>
        </p:nvSpPr>
        <p:spPr>
          <a:xfrm>
            <a:off x="7876641" y="2766060"/>
            <a:ext cx="146304" cy="146304"/>
          </a:xfrm>
          <a:prstGeom prst="ellipse">
            <a:avLst/>
          </a:prstGeom>
          <a:solidFill>
            <a:srgbClr val="9FB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32673" y="2546604"/>
            <a:ext cx="1828800" cy="274320"/>
          </a:xfrm>
          <a:prstGeom prst="rect">
            <a:avLst/>
          </a:prstGeom>
          <a:noFill/>
        </p:spPr>
        <p:txBody>
          <a:bodyPr wrap="square" anchor="t" lIns="0" rIns="0" tIns="0" bIns="0">
            <a:spAutoFit/>
          </a:bodyPr>
          <a:lstStyle/>
          <a:p>
            <a:pPr algn="l"/>
            <a:r>
              <a:rPr sz="1100" b="1" i="0">
                <a:solidFill>
                  <a:srgbClr val="9FB3C8"/>
                </a:solidFill>
                <a:latin typeface="Segoe UI"/>
              </a:rPr>
              <a:t>party</a:t>
            </a:r>
          </a:p>
        </p:txBody>
      </p:sp>
      <p:sp>
        <p:nvSpPr>
          <p:cNvPr id="27" name="Oval 26"/>
          <p:cNvSpPr/>
          <p:nvPr/>
        </p:nvSpPr>
        <p:spPr>
          <a:xfrm>
            <a:off x="9586569" y="3433572"/>
            <a:ext cx="1554480" cy="1005840"/>
          </a:xfrm>
          <a:prstGeom prst="ellipse">
            <a:avLst/>
          </a:prstGeom>
          <a:noFill/>
          <a:ln w="222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86569" y="4439412"/>
            <a:ext cx="1554480" cy="274320"/>
          </a:xfrm>
          <a:prstGeom prst="rect">
            <a:avLst/>
          </a:prstGeom>
          <a:noFill/>
        </p:spPr>
        <p:txBody>
          <a:bodyPr wrap="square" anchor="t" lIns="0" rIns="0" tIns="0" bIns="0">
            <a:spAutoFit/>
          </a:bodyPr>
          <a:lstStyle/>
          <a:p>
            <a:pPr algn="ctr"/>
            <a:r>
              <a:rPr sz="950" b="1" i="0">
                <a:solidFill>
                  <a:srgbClr val="2DD4BF"/>
                </a:solidFill>
                <a:latin typeface="Segoe UI"/>
              </a:rPr>
              <a:t>similar — close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65760"/>
            <a:ext cx="8686800" cy="365760"/>
          </a:xfrm>
          <a:prstGeom prst="rect">
            <a:avLst/>
          </a:prstGeom>
          <a:noFill/>
        </p:spPr>
        <p:txBody>
          <a:bodyPr wrap="square" anchor="t" lIns="0" rIns="0" tIns="0" bIns="0">
            <a:spAutoFit/>
          </a:bodyPr>
          <a:lstStyle/>
          <a:p>
            <a:pPr algn="l"/>
            <a:r>
              <a:rPr sz="1250" b="1" i="0" spc="220">
                <a:solidFill>
                  <a:srgbClr val="2DD4BF"/>
                </a:solidFill>
                <a:latin typeface="Segoe UI"/>
              </a:rPr>
              <a:t>PHASE 4  ·  SEARCH BY MEANING</a:t>
            </a:r>
          </a:p>
        </p:txBody>
      </p:sp>
      <p:sp>
        <p:nvSpPr>
          <p:cNvPr id="5" name="TextBox 4"/>
          <p:cNvSpPr txBox="1"/>
          <p:nvPr/>
        </p:nvSpPr>
        <p:spPr>
          <a:xfrm>
            <a:off x="576072" y="676656"/>
            <a:ext cx="969264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Segoe UI"/>
              </a:rPr>
              <a:t>Who assigns the numbers?</a:t>
            </a:r>
          </a:p>
        </p:txBody>
      </p:sp>
      <p:sp>
        <p:nvSpPr>
          <p:cNvPr id="6" name="Rounded Rectangle 5"/>
          <p:cNvSpPr/>
          <p:nvPr/>
        </p:nvSpPr>
        <p:spPr>
          <a:xfrm>
            <a:off x="621792" y="1371600"/>
            <a:ext cx="1188720" cy="54864"/>
          </a:xfrm>
          <a:prstGeom prst="roundRect">
            <a:avLst/>
          </a:prstGeom>
          <a:solidFill>
            <a:srgbClr val="F5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go-wimmera-white.png"/>
          <p:cNvPicPr>
            <a:picLocks noChangeAspect="1"/>
          </p:cNvPicPr>
          <p:nvPr/>
        </p:nvPicPr>
        <p:blipFill>
          <a:blip r:embed="rId2"/>
          <a:stretch>
            <a:fillRect/>
          </a:stretch>
        </p:blipFill>
        <p:spPr>
          <a:xfrm>
            <a:off x="11155985" y="320040"/>
            <a:ext cx="624230" cy="457200"/>
          </a:xfrm>
          <a:prstGeom prst="rect">
            <a:avLst/>
          </a:prstGeom>
        </p:spPr>
      </p:pic>
      <p:sp>
        <p:nvSpPr>
          <p:cNvPr id="8" name="Rectangle 7"/>
          <p:cNvSpPr/>
          <p:nvPr/>
        </p:nvSpPr>
        <p:spPr>
          <a:xfrm>
            <a:off x="0" y="6355080"/>
            <a:ext cx="12191695" cy="502920"/>
          </a:xfrm>
          <a:prstGeom prst="rect">
            <a:avLst/>
          </a:prstGeom>
          <a:solidFill>
            <a:srgbClr val="0F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355080"/>
            <a:ext cx="12191695" cy="36576"/>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6355080"/>
            <a:ext cx="6476695" cy="502920"/>
          </a:xfrm>
          <a:prstGeom prst="rect">
            <a:avLst/>
          </a:prstGeom>
          <a:noFill/>
        </p:spPr>
        <p:txBody>
          <a:bodyPr wrap="none" anchor="ctr">
            <a:spAutoFit/>
          </a:bodyPr>
          <a:lstStyle/>
          <a:p>
            <a:pPr algn="r"/>
            <a:r>
              <a:rPr sz="1050" b="1">
                <a:solidFill>
                  <a:srgbClr val="2DD4BF"/>
                </a:solidFill>
                <a:latin typeface="Segoe UI"/>
              </a:rPr>
              <a:t>Dr Mohammad Arifur Rahman</a:t>
            </a:r>
            <a:r>
              <a:rPr sz="1000">
                <a:solidFill>
                  <a:srgbClr val="9FB3C8"/>
                </a:solidFill>
                <a:latin typeface="Segoe UI"/>
              </a:rPr>
              <a:t>   ·   Analyst Programmer  ·  Wimmera CMA, Victoria</a:t>
            </a:r>
          </a:p>
        </p:txBody>
      </p:sp>
      <p:sp>
        <p:nvSpPr>
          <p:cNvPr id="11" name="TextBox 10"/>
          <p:cNvSpPr txBox="1"/>
          <p:nvPr/>
        </p:nvSpPr>
        <p:spPr>
          <a:xfrm>
            <a:off x="822960" y="1691640"/>
            <a:ext cx="10607040" cy="365760"/>
          </a:xfrm>
          <a:prstGeom prst="rect">
            <a:avLst/>
          </a:prstGeom>
          <a:noFill/>
        </p:spPr>
        <p:txBody>
          <a:bodyPr wrap="square" anchor="t" lIns="0" rIns="0" tIns="0" bIns="0">
            <a:spAutoFit/>
          </a:bodyPr>
          <a:lstStyle/>
          <a:p>
            <a:pPr algn="l"/>
            <a:r>
              <a:rPr sz="1350" b="0" i="1">
                <a:solidFill>
                  <a:srgbClr val="9FB3C8"/>
                </a:solidFill>
                <a:latin typeface="Segoe UI"/>
              </a:rPr>
              <a:t>The numbers were learned from data, not designed by hand.</a:t>
            </a:r>
          </a:p>
        </p:txBody>
      </p:sp>
      <p:sp>
        <p:nvSpPr>
          <p:cNvPr id="12" name="Rounded Rectangle 11"/>
          <p:cNvSpPr/>
          <p:nvPr/>
        </p:nvSpPr>
        <p:spPr>
          <a:xfrm>
            <a:off x="822960" y="2331720"/>
            <a:ext cx="10561320" cy="914400"/>
          </a:xfrm>
          <a:prstGeom prst="roundRect">
            <a:avLst>
              <a:gd name="adj" fmla="val 6000"/>
            </a:avLst>
          </a:prstGeom>
          <a:solidFill>
            <a:srgbClr val="142847"/>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331720"/>
            <a:ext cx="10195560" cy="914400"/>
          </a:xfrm>
          <a:prstGeom prst="rect">
            <a:avLst/>
          </a:prstGeom>
          <a:noFill/>
        </p:spPr>
        <p:txBody>
          <a:bodyPr wrap="square" anchor="ctr" lIns="0" rIns="0" tIns="0" bIns="0">
            <a:spAutoFit/>
          </a:bodyPr>
          <a:lstStyle/>
          <a:p>
            <a:pPr>
              <a:lnSpc>
                <a:spcPct val="112000"/>
              </a:lnSpc>
            </a:pPr>
            <a:r>
              <a:rPr sz="1250" b="1">
                <a:solidFill>
                  <a:srgbClr val="2DD4BF"/>
                </a:solidFill>
                <a:latin typeface="Segoe UI"/>
              </a:rPr>
              <a:t>Representation learning</a:t>
            </a:r>
            <a:r>
              <a:rPr sz="1050">
                <a:solidFill>
                  <a:srgbClr val="9FB3C8"/>
                </a:solidFill>
                <a:latin typeface="Segoe UI"/>
              </a:rPr>
              <a:t>  —  learning the number-form of things from raw data, instead of hand-designing it.</a:t>
            </a:r>
          </a:p>
        </p:txBody>
      </p:sp>
      <p:sp>
        <p:nvSpPr>
          <p:cNvPr id="14" name="Rounded Rectangle 13"/>
          <p:cNvSpPr/>
          <p:nvPr/>
        </p:nvSpPr>
        <p:spPr>
          <a:xfrm>
            <a:off x="822960" y="3566160"/>
            <a:ext cx="5120640" cy="2377440"/>
          </a:xfrm>
          <a:prstGeom prst="roundRect">
            <a:avLst>
              <a:gd name="adj" fmla="val 6000"/>
            </a:avLst>
          </a:prstGeom>
          <a:solidFill>
            <a:srgbClr val="142847"/>
          </a:solidFill>
          <a:ln w="12700">
            <a:solidFill>
              <a:srgbClr val="253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749039"/>
            <a:ext cx="4572000" cy="2011680"/>
          </a:xfrm>
          <a:prstGeom prst="rect">
            <a:avLst/>
          </a:prstGeom>
          <a:noFill/>
        </p:spPr>
        <p:txBody>
          <a:bodyPr wrap="square" anchor="t" lIns="0" rIns="0" tIns="0" bIns="0">
            <a:spAutoFit/>
          </a:bodyPr>
          <a:lstStyle/>
          <a:p>
            <a:pPr algn="l">
              <a:lnSpc>
                <a:spcPct val="135000"/>
              </a:lnSpc>
            </a:pPr>
            <a:r>
              <a:rPr sz="1350" b="1" i="1">
                <a:solidFill>
                  <a:srgbClr val="FFFFFF"/>
                </a:solidFill>
                <a:latin typeface="Segoe UI"/>
              </a:rPr>
              <a:t>“Know a word by the company it keeps.”</a:t>
            </a:r>
          </a:p>
          <a:p>
            <a:pPr algn="l">
              <a:lnSpc>
                <a:spcPct val="100000"/>
              </a:lnSpc>
            </a:pPr>
            <a:r>
              <a:rPr sz="800" b="0" i="0">
                <a:solidFill>
                  <a:srgbClr val="9FB3C8"/>
                </a:solidFill>
                <a:latin typeface="Segoe UI"/>
              </a:rPr>
              <a:t/>
            </a:r>
          </a:p>
          <a:p>
            <a:pPr algn="l">
              <a:lnSpc>
                <a:spcPct val="130000"/>
              </a:lnSpc>
            </a:pPr>
            <a:r>
              <a:rPr sz="1200" b="0" i="0">
                <a:solidFill>
                  <a:srgbClr val="9FB3C8"/>
                </a:solidFill>
                <a:latin typeface="Segoe UI"/>
              </a:rPr>
              <a:t>Fill the same blanks → similar numbers.</a:t>
            </a:r>
          </a:p>
          <a:p>
            <a:pPr algn="l">
              <a:lnSpc>
                <a:spcPct val="130000"/>
              </a:lnSpc>
            </a:pPr>
            <a:r>
              <a:rPr sz="1200" b="0" i="0">
                <a:solidFill>
                  <a:srgbClr val="9FB3C8"/>
                </a:solidFill>
                <a:latin typeface="Segoe UI"/>
              </a:rPr>
              <a:t>Never share a blank → far apart.</a:t>
            </a:r>
          </a:p>
          <a:p>
            <a:pPr algn="l">
              <a:lnSpc>
                <a:spcPct val="130000"/>
              </a:lnSpc>
            </a:pPr>
            <a:r>
              <a:rPr sz="1200" b="1" i="0">
                <a:solidFill>
                  <a:srgbClr val="2DD4BF"/>
                </a:solidFill>
                <a:latin typeface="Segoe UI"/>
              </a:rPr>
              <a:t>No human ever labelled a single meaning.</a:t>
            </a:r>
          </a:p>
        </p:txBody>
      </p:sp>
      <p:sp>
        <p:nvSpPr>
          <p:cNvPr id="16" name="Rounded Rectangle 15"/>
          <p:cNvSpPr/>
          <p:nvPr/>
        </p:nvSpPr>
        <p:spPr>
          <a:xfrm>
            <a:off x="6263640" y="3566160"/>
            <a:ext cx="5120640" cy="2377440"/>
          </a:xfrm>
          <a:prstGeom prst="roundRect">
            <a:avLst>
              <a:gd name="adj" fmla="val 6000"/>
            </a:avLst>
          </a:prstGeom>
          <a:solidFill>
            <a:srgbClr val="142847"/>
          </a:solidFill>
          <a:ln w="12700">
            <a:solidFill>
              <a:srgbClr val="F5B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60" y="3794760"/>
            <a:ext cx="4572000" cy="365760"/>
          </a:xfrm>
          <a:prstGeom prst="rect">
            <a:avLst/>
          </a:prstGeom>
          <a:noFill/>
        </p:spPr>
        <p:txBody>
          <a:bodyPr wrap="square" anchor="t" lIns="0" rIns="0" tIns="0" bIns="0">
            <a:spAutoFit/>
          </a:bodyPr>
          <a:lstStyle/>
          <a:p>
            <a:pPr algn="l"/>
            <a:r>
              <a:rPr sz="1100" b="1" i="0">
                <a:solidFill>
                  <a:srgbClr val="F5B342"/>
                </a:solidFill>
                <a:latin typeface="Segoe UI"/>
              </a:rPr>
              <a:t>a famous look-it-up-later party trick:</a:t>
            </a:r>
          </a:p>
        </p:txBody>
      </p:sp>
      <p:sp>
        <p:nvSpPr>
          <p:cNvPr id="18" name="TextBox 17"/>
          <p:cNvSpPr txBox="1"/>
          <p:nvPr/>
        </p:nvSpPr>
        <p:spPr>
          <a:xfrm>
            <a:off x="6537960" y="4343400"/>
            <a:ext cx="4572000" cy="731520"/>
          </a:xfrm>
          <a:prstGeom prst="rect">
            <a:avLst/>
          </a:prstGeom>
          <a:noFill/>
        </p:spPr>
        <p:txBody>
          <a:bodyPr wrap="square" anchor="t" lIns="0" rIns="0" tIns="0" bIns="0">
            <a:spAutoFit/>
          </a:bodyPr>
          <a:lstStyle/>
          <a:p>
            <a:pPr algn="l"/>
            <a:r>
              <a:rPr sz="2000" b="1" i="0">
                <a:solidFill>
                  <a:srgbClr val="FFFFFF"/>
                </a:solidFill>
                <a:latin typeface="Consolas"/>
              </a:rPr>
              <a:t>king − man + woman  ≈  queen</a:t>
            </a:r>
          </a:p>
        </p:txBody>
      </p:sp>
      <p:sp>
        <p:nvSpPr>
          <p:cNvPr id="19" name="TextBox 18"/>
          <p:cNvSpPr txBox="1"/>
          <p:nvPr/>
        </p:nvSpPr>
        <p:spPr>
          <a:xfrm>
            <a:off x="6537960" y="5212080"/>
            <a:ext cx="4572000" cy="640080"/>
          </a:xfrm>
          <a:prstGeom prst="rect">
            <a:avLst/>
          </a:prstGeom>
          <a:noFill/>
        </p:spPr>
        <p:txBody>
          <a:bodyPr wrap="square" anchor="t" lIns="0" rIns="0" tIns="0" bIns="0">
            <a:spAutoFit/>
          </a:bodyPr>
          <a:lstStyle/>
          <a:p>
            <a:pPr algn="l">
              <a:lnSpc>
                <a:spcPct val="125000"/>
              </a:lnSpc>
            </a:pPr>
            <a:r>
              <a:rPr sz="1150" b="0" i="1">
                <a:solidFill>
                  <a:srgbClr val="9FB3C8"/>
                </a:solidFill>
                <a:latin typeface="Segoe UI"/>
              </a:rPr>
              <a:t>the arithmetic works because meaning became geometry — the whole point of embeddings.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